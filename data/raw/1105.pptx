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62" r:id="rId6"/>
    <p:sldId id="259" r:id="rId7"/>
    <p:sldId id="260" r:id="rId8"/>
    <p:sldId id="261"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67" autoAdjust="0"/>
    <p:restoredTop sz="94660"/>
  </p:normalViewPr>
  <p:slideViewPr>
    <p:cSldViewPr snapToGrid="0">
      <p:cViewPr varScale="1">
        <p:scale>
          <a:sx n="67" d="100"/>
          <a:sy n="67" d="100"/>
        </p:scale>
        <p:origin x="72"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7AC7B-115A-4610-8DFF-441F4B3040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37E4AB-3C66-490E-97A7-06465CDD2C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9AFA1C-3F12-4193-A597-6D317A514FEF}"/>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5" name="Footer Placeholder 4">
            <a:extLst>
              <a:ext uri="{FF2B5EF4-FFF2-40B4-BE49-F238E27FC236}">
                <a16:creationId xmlns:a16="http://schemas.microsoft.com/office/drawing/2014/main" id="{39773B5B-9506-426C-8BF4-76B9B0B076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D015DF-8D9E-4FFD-8747-9872093F2080}"/>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2184045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F0B34-0503-4674-A774-0D6FB19876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B618F0-BAB1-48CB-B4CB-55B517CDCE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BD1296-25A2-4D20-B978-C3C3E8F2D44E}"/>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5" name="Footer Placeholder 4">
            <a:extLst>
              <a:ext uri="{FF2B5EF4-FFF2-40B4-BE49-F238E27FC236}">
                <a16:creationId xmlns:a16="http://schemas.microsoft.com/office/drawing/2014/main" id="{3D62E41B-86DB-43D6-9886-BCE2166AFC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482E0-AF6F-4889-BA05-0FC9179227CB}"/>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3045712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60113-AEC7-46F2-AEB7-1E62A78977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BCC3F2-458E-4E85-97E5-A2D53847A8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036E46-B8EE-43EB-8CDE-A0BD3DFE188F}"/>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5" name="Footer Placeholder 4">
            <a:extLst>
              <a:ext uri="{FF2B5EF4-FFF2-40B4-BE49-F238E27FC236}">
                <a16:creationId xmlns:a16="http://schemas.microsoft.com/office/drawing/2014/main" id="{A548A2C5-D0B8-4740-B90B-B0E36249AE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61219A-32AA-4159-B1DC-8FAA8C700110}"/>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4204593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4C38B-8C31-4899-9A43-3A74EE7E52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1FA68A-C631-4E36-B04F-F58150111C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EEE9EA-A49B-4D6A-BE17-4779992CF3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24DC48-B913-4951-A3F6-C773C8054558}"/>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6" name="Footer Placeholder 5">
            <a:extLst>
              <a:ext uri="{FF2B5EF4-FFF2-40B4-BE49-F238E27FC236}">
                <a16:creationId xmlns:a16="http://schemas.microsoft.com/office/drawing/2014/main" id="{73A6F7D8-EAD0-4B54-AA8F-B4011B3BA2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2611AD-61D5-4857-8323-18A5BF88608A}"/>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3617250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9F94E-863A-4444-9F5B-AFCFD6CFA6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35BF8D-46AB-4E73-9C93-85E2B4B7DE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DBA751-BF60-4CFD-BDB5-FB164CC41C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382B95-0867-43D4-97F6-BC74CAECD0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6766FD-B9F1-4702-B1A9-1A170DA990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A27E10-30F1-4048-AA3D-7F5E717A01D7}"/>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8" name="Footer Placeholder 7">
            <a:extLst>
              <a:ext uri="{FF2B5EF4-FFF2-40B4-BE49-F238E27FC236}">
                <a16:creationId xmlns:a16="http://schemas.microsoft.com/office/drawing/2014/main" id="{A730FA3A-2DF5-414E-B86C-560745860E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C7945C-4C98-47DD-B06A-91F08A1D180E}"/>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2250370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5307-CE34-4B41-8DB0-D99680C5E7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F4C182-4B2D-4DD5-B47E-B24AC9831B6F}"/>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4" name="Footer Placeholder 3">
            <a:extLst>
              <a:ext uri="{FF2B5EF4-FFF2-40B4-BE49-F238E27FC236}">
                <a16:creationId xmlns:a16="http://schemas.microsoft.com/office/drawing/2014/main" id="{2A17DC83-F50C-4626-ADD9-0B8339DEBE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D7C8E1-AA7F-4F2C-AB6E-4C4B15A7E7C4}"/>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189030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0B867-111E-4090-9EE8-3C2E64D279C8}"/>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3" name="Footer Placeholder 2">
            <a:extLst>
              <a:ext uri="{FF2B5EF4-FFF2-40B4-BE49-F238E27FC236}">
                <a16:creationId xmlns:a16="http://schemas.microsoft.com/office/drawing/2014/main" id="{D3C4001A-5928-444E-A63F-BA28035C22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0BB23A-4E91-403C-9DFE-05F852DD6CF0}"/>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1102586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8CCE4-EC48-43C3-9057-926FFA3B6A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E46DA5-85EF-4CFC-8867-C0CB9BD38B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46C59B-920C-43CB-850B-AA585B1C64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3A9F07-F4B1-4061-93C6-7F440AD342A8}"/>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6" name="Footer Placeholder 5">
            <a:extLst>
              <a:ext uri="{FF2B5EF4-FFF2-40B4-BE49-F238E27FC236}">
                <a16:creationId xmlns:a16="http://schemas.microsoft.com/office/drawing/2014/main" id="{DECF661C-9458-41DD-BA6A-C1CEAEC5CF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94EEB9-79A4-4D17-ACF2-688D77E39E2D}"/>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359037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3ECD-8802-47EF-A112-43610F583F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64DB8A-1DF2-4084-A829-8B0F68D89B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558BDD35-33C7-49B7-ABC1-907386E34A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FCF4D5-C19A-49C0-B170-E1384E74A691}"/>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6" name="Footer Placeholder 5">
            <a:extLst>
              <a:ext uri="{FF2B5EF4-FFF2-40B4-BE49-F238E27FC236}">
                <a16:creationId xmlns:a16="http://schemas.microsoft.com/office/drawing/2014/main" id="{25F475B5-5537-4C7F-BCE9-63485B9A7F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8E000C-23AC-4FC1-B59D-8CF503C52DBF}"/>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581267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F9CB8-EE73-4C71-A362-4C26336CEC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395886-DC27-4CC1-8156-79AAC5F827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64C88-24E4-4001-B2A5-15BD8225487E}"/>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5" name="Footer Placeholder 4">
            <a:extLst>
              <a:ext uri="{FF2B5EF4-FFF2-40B4-BE49-F238E27FC236}">
                <a16:creationId xmlns:a16="http://schemas.microsoft.com/office/drawing/2014/main" id="{7A83BE32-E378-487F-8BF0-42346FF03B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A6DEB-F883-4BEE-A25D-C7B8B6186DEB}"/>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3289365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56AB69-5928-490D-AB10-89DF35D893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498B42-006D-44D5-A6F4-6983F67441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0410DC-376B-4844-BD46-9714E4FB8582}"/>
              </a:ext>
            </a:extLst>
          </p:cNvPr>
          <p:cNvSpPr>
            <a:spLocks noGrp="1"/>
          </p:cNvSpPr>
          <p:nvPr>
            <p:ph type="dt" sz="half" idx="10"/>
          </p:nvPr>
        </p:nvSpPr>
        <p:spPr/>
        <p:txBody>
          <a:bodyPr/>
          <a:lstStyle/>
          <a:p>
            <a:fld id="{60ACE8E1-BFAC-4EA0-BB30-9F08E7167D2A}" type="datetimeFigureOut">
              <a:rPr lang="en-US" smtClean="0"/>
              <a:t>3/30/2020</a:t>
            </a:fld>
            <a:endParaRPr lang="en-US"/>
          </a:p>
        </p:txBody>
      </p:sp>
      <p:sp>
        <p:nvSpPr>
          <p:cNvPr id="5" name="Footer Placeholder 4">
            <a:extLst>
              <a:ext uri="{FF2B5EF4-FFF2-40B4-BE49-F238E27FC236}">
                <a16:creationId xmlns:a16="http://schemas.microsoft.com/office/drawing/2014/main" id="{8A4783DB-1972-43F6-A777-0A5C0E6613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65E944-ACDC-474B-ABD2-6A578F8C2FBA}"/>
              </a:ext>
            </a:extLst>
          </p:cNvPr>
          <p:cNvSpPr>
            <a:spLocks noGrp="1"/>
          </p:cNvSpPr>
          <p:nvPr>
            <p:ph type="sldNum" sz="quarter" idx="12"/>
          </p:nvPr>
        </p:nvSpPr>
        <p:spPr/>
        <p:txBody>
          <a:bodyPr/>
          <a:lstStyle/>
          <a:p>
            <a:fld id="{C76E56A9-727E-4CD9-A17E-F43672003794}" type="slidenum">
              <a:rPr lang="en-US" smtClean="0"/>
              <a:t>‹#›</a:t>
            </a:fld>
            <a:endParaRPr lang="en-US"/>
          </a:p>
        </p:txBody>
      </p:sp>
    </p:spTree>
    <p:extLst>
      <p:ext uri="{BB962C8B-B14F-4D97-AF65-F5344CB8AC3E}">
        <p14:creationId xmlns:p14="http://schemas.microsoft.com/office/powerpoint/2010/main" val="2810326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7FB4EC-FD81-483B-B957-AE97389EB0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602598-EF53-44C5-A1A6-4A18F9F36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4B68E6-F23D-46DB-912C-CB7A98B586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ACE8E1-BFAC-4EA0-BB30-9F08E7167D2A}" type="datetimeFigureOut">
              <a:rPr lang="en-US" smtClean="0"/>
              <a:t>3/30/2020</a:t>
            </a:fld>
            <a:endParaRPr lang="en-US"/>
          </a:p>
        </p:txBody>
      </p:sp>
      <p:sp>
        <p:nvSpPr>
          <p:cNvPr id="5" name="Footer Placeholder 4">
            <a:extLst>
              <a:ext uri="{FF2B5EF4-FFF2-40B4-BE49-F238E27FC236}">
                <a16:creationId xmlns:a16="http://schemas.microsoft.com/office/drawing/2014/main" id="{BFF808B9-C574-40E4-8BE1-FEEC23DA29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A5A4AF-387A-45AE-A7FA-8BD4A12E00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6E56A9-727E-4CD9-A17E-F43672003794}" type="slidenum">
              <a:rPr lang="en-US" smtClean="0"/>
              <a:t>‹#›</a:t>
            </a:fld>
            <a:endParaRPr lang="en-US"/>
          </a:p>
        </p:txBody>
      </p:sp>
    </p:spTree>
    <p:extLst>
      <p:ext uri="{BB962C8B-B14F-4D97-AF65-F5344CB8AC3E}">
        <p14:creationId xmlns:p14="http://schemas.microsoft.com/office/powerpoint/2010/main" val="3836313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britishmuseum.org/collection/galleries/egyptian-sculpture#&amp;gid=1&amp;pid=3"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research.britishmuseum.org/research/collection_online/collection_object_details/collection_image_gallery.aspx?partid=1&amp;assetid=398727001&amp;objectid=6311" TargetMode="Externa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britishmuseum.org/collection/galleries/egyptian-sculpture#&amp;gid=1&amp;pid=2"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artsandculture.google.com/streetview/british-museum/AwEp68JO4NECkQ?sv_lng=-0.1272956987031648&amp;sv_lat=51.51921726998366&amp;sv_h=259.54304445788244&amp;sv_p=2.939128950808467&amp;sv_pid=ObNdlduSG3c4MruJlaObcg&amp;sv_z=0.8825186401771719"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britishmuseum.org/collection/galleries/egyptian-sculpture#&amp;gid=1&amp;pid=2"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artsandculture.google.com/exhibit/the-pharaoh-erased-from-history/9QISgLrWPLdZIg"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britishmuseum.org/collection/galleries/egyptian-sculpture#&amp;gid=1&amp;pid=4" TargetMode="External"/><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britishmuseum.org/collection/galleries/egyptian-sculpture#&amp;gid=1&amp;pid=1"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13DBFF2-0B88-4748-B162-E9C8C3DB9E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611" r="1" b="1"/>
          <a:stretch/>
        </p:blipFill>
        <p:spPr bwMode="auto">
          <a:xfrm>
            <a:off x="20" y="10"/>
            <a:ext cx="4637226" cy="6857990"/>
          </a:xfrm>
          <a:prstGeom prst="rect">
            <a:avLst/>
          </a:prstGeom>
          <a:noFill/>
          <a:extLst>
            <a:ext uri="{909E8E84-426E-40DD-AFC4-6F175D3DCCD1}">
              <a14:hiddenFill xmlns:a14="http://schemas.microsoft.com/office/drawing/2010/main">
                <a:solidFill>
                  <a:srgbClr val="FFFFFF"/>
                </a:solidFill>
              </a14:hiddenFill>
            </a:ext>
          </a:extLst>
        </p:spPr>
      </p:pic>
      <p:sp>
        <p:nvSpPr>
          <p:cNvPr id="1028" name="Rectangle 70">
            <a:extLst>
              <a:ext uri="{FF2B5EF4-FFF2-40B4-BE49-F238E27FC236}">
                <a16:creationId xmlns:a16="http://schemas.microsoft.com/office/drawing/2014/main" id="{B9951BD9-0868-4CDB-ACD6-9C4209B5E4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4637247" y="0"/>
            <a:ext cx="7554754"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89C70DA-F266-4A50-B4B9-07D4FF6D8853}"/>
              </a:ext>
            </a:extLst>
          </p:cNvPr>
          <p:cNvSpPr>
            <a:spLocks noGrp="1"/>
          </p:cNvSpPr>
          <p:nvPr>
            <p:ph type="subTitle" idx="1"/>
          </p:nvPr>
        </p:nvSpPr>
        <p:spPr>
          <a:xfrm>
            <a:off x="4637266" y="6182743"/>
            <a:ext cx="7554734" cy="675247"/>
          </a:xfrm>
        </p:spPr>
        <p:txBody>
          <a:bodyPr>
            <a:normAutofit/>
          </a:bodyPr>
          <a:lstStyle/>
          <a:p>
            <a:pPr algn="l"/>
            <a:r>
              <a:rPr lang="en-US" sz="1600" dirty="0">
                <a:solidFill>
                  <a:schemeClr val="bg1"/>
                </a:solidFill>
                <a:hlinkClick r:id="rId3"/>
              </a:rPr>
              <a:t>https://www.britishmuseum.org/collection/galleries/egyptian-sculpture#&amp;gid=1&amp;pid=3</a:t>
            </a:r>
            <a:endParaRPr lang="en-US" sz="1600" dirty="0">
              <a:solidFill>
                <a:schemeClr val="bg1"/>
              </a:solidFill>
            </a:endParaRPr>
          </a:p>
        </p:txBody>
      </p:sp>
      <p:sp>
        <p:nvSpPr>
          <p:cNvPr id="4" name="Rectangle: Rounded Corners 3">
            <a:extLst>
              <a:ext uri="{FF2B5EF4-FFF2-40B4-BE49-F238E27FC236}">
                <a16:creationId xmlns:a16="http://schemas.microsoft.com/office/drawing/2014/main" id="{2E7DB2DB-D602-417F-BE47-DF8C426AEC7A}"/>
              </a:ext>
            </a:extLst>
          </p:cNvPr>
          <p:cNvSpPr/>
          <p:nvPr/>
        </p:nvSpPr>
        <p:spPr>
          <a:xfrm>
            <a:off x="5254502" y="1523774"/>
            <a:ext cx="6286002" cy="1736646"/>
          </a:xfrm>
          <a:prstGeom prst="roundRect">
            <a:avLst/>
          </a:prstGeom>
          <a:solidFill>
            <a:schemeClr val="bg1"/>
          </a:solidFill>
        </p:spPr>
        <p:txBody>
          <a:bodyPr wrap="square">
            <a:spAutoFit/>
          </a:bodyPr>
          <a:lstStyle/>
          <a:p>
            <a:r>
              <a:rPr lang="en-US" sz="2000" dirty="0"/>
              <a:t>Possibly the King whose dreams Yosef interpreted </a:t>
            </a:r>
          </a:p>
          <a:p>
            <a:r>
              <a:rPr lang="en-US" sz="1600" dirty="0" err="1"/>
              <a:t>Beraishis</a:t>
            </a:r>
            <a:r>
              <a:rPr lang="en-US" sz="1600" dirty="0"/>
              <a:t> Chap 41</a:t>
            </a:r>
          </a:p>
          <a:p>
            <a:r>
              <a:rPr lang="en-US" sz="1200" dirty="0"/>
              <a:t>And Pharaoh said to Joseph, "I have dreamed a dream, and there is no interpreter for it, but I have heard it said of you [that] you understand a dream, to interpret it."	 	</a:t>
            </a:r>
            <a:endParaRPr lang="he-IL" sz="1200" dirty="0"/>
          </a:p>
          <a:p>
            <a:r>
              <a:rPr lang="he-IL" sz="1200" dirty="0"/>
              <a:t>16</a:t>
            </a:r>
            <a:r>
              <a:rPr lang="en-US" sz="1200" dirty="0"/>
              <a:t>And Joseph replied to Pharaoh, saying, "Not I; God will give an answer [that will bring] peace to Pharaoh.“</a:t>
            </a:r>
          </a:p>
          <a:p>
            <a:r>
              <a:rPr lang="en-US" sz="1200" b="1" dirty="0"/>
              <a:t>41</a:t>
            </a:r>
            <a:r>
              <a:rPr lang="en-US" sz="1200" dirty="0"/>
              <a:t>So Pharaoh said to Joseph, "Look, I have appointed you over the entire land of Egypt</a:t>
            </a:r>
          </a:p>
        </p:txBody>
      </p:sp>
      <p:sp>
        <p:nvSpPr>
          <p:cNvPr id="6" name="Rectangle: Rounded Corners 5">
            <a:extLst>
              <a:ext uri="{FF2B5EF4-FFF2-40B4-BE49-F238E27FC236}">
                <a16:creationId xmlns:a16="http://schemas.microsoft.com/office/drawing/2014/main" id="{6D892E17-EC35-45D6-9C7C-1B2A7A38BCA8}"/>
              </a:ext>
            </a:extLst>
          </p:cNvPr>
          <p:cNvSpPr/>
          <p:nvPr/>
        </p:nvSpPr>
        <p:spPr>
          <a:xfrm>
            <a:off x="-1446663" y="1523774"/>
            <a:ext cx="81887"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1BBFE02-0878-487C-B67D-51B0D1B5D8F7}"/>
              </a:ext>
            </a:extLst>
          </p:cNvPr>
          <p:cNvSpPr/>
          <p:nvPr/>
        </p:nvSpPr>
        <p:spPr>
          <a:xfrm>
            <a:off x="5254502" y="3544047"/>
            <a:ext cx="6286002" cy="2281476"/>
          </a:xfrm>
          <a:prstGeom prst="roundRect">
            <a:avLst/>
          </a:prstGeom>
          <a:solidFill>
            <a:schemeClr val="accent4">
              <a:lumMod val="20000"/>
              <a:lumOff val="80000"/>
            </a:schemeClr>
          </a:solidFill>
        </p:spPr>
        <p:txBody>
          <a:bodyPr wrap="square">
            <a:spAutoFit/>
          </a:bodyPr>
          <a:lstStyle/>
          <a:p>
            <a:r>
              <a:rPr lang="en-US" sz="1600" dirty="0"/>
              <a:t>King Amenhotep III commissioned numerous statues of himself, especially for his temples in Thebes, then Egypt's capital. His peaceful reign was a time of opulence and outstanding artistic refinement, often displayed on a grand and ambitious scale. The complete sculpture showed him striding. This and a slightly smaller colossus flanked a doorway in the temple of Mut in Karnak. The head of the second statue is also in the British Museum, but the bodies remain in Karnak.</a:t>
            </a:r>
          </a:p>
        </p:txBody>
      </p:sp>
      <p:sp>
        <p:nvSpPr>
          <p:cNvPr id="8" name="Rectangle: Rounded Corners 7">
            <a:extLst>
              <a:ext uri="{FF2B5EF4-FFF2-40B4-BE49-F238E27FC236}">
                <a16:creationId xmlns:a16="http://schemas.microsoft.com/office/drawing/2014/main" id="{A923A7F5-82BD-44F1-B70D-211E0A06A7CC}"/>
              </a:ext>
            </a:extLst>
          </p:cNvPr>
          <p:cNvSpPr/>
          <p:nvPr/>
        </p:nvSpPr>
        <p:spPr>
          <a:xfrm>
            <a:off x="5265914" y="317848"/>
            <a:ext cx="6274590" cy="987504"/>
          </a:xfrm>
          <a:prstGeom prst="roundRect">
            <a:avLst/>
          </a:prstGeom>
          <a:solidFill>
            <a:schemeClr val="bg2">
              <a:lumMod val="90000"/>
            </a:schemeClr>
          </a:solidFill>
        </p:spPr>
        <p:txBody>
          <a:bodyPr wrap="square">
            <a:spAutoFit/>
          </a:bodyPr>
          <a:lstStyle/>
          <a:p>
            <a:r>
              <a:rPr lang="en-US" sz="3600" dirty="0"/>
              <a:t>King </a:t>
            </a:r>
            <a:r>
              <a:rPr lang="en-US" sz="3600" dirty="0" err="1"/>
              <a:t>Amenhetop</a:t>
            </a:r>
            <a:r>
              <a:rPr lang="en-US" sz="3600" dirty="0"/>
              <a:t> II</a:t>
            </a:r>
          </a:p>
          <a:p>
            <a:r>
              <a:rPr lang="en-US" sz="1600" dirty="0"/>
              <a:t>Colossal granite head, from Karnak (Thebes), Egypt, about 1370 BC.</a:t>
            </a:r>
          </a:p>
        </p:txBody>
      </p:sp>
    </p:spTree>
    <p:extLst>
      <p:ext uri="{BB962C8B-B14F-4D97-AF65-F5344CB8AC3E}">
        <p14:creationId xmlns:p14="http://schemas.microsoft.com/office/powerpoint/2010/main" val="2138350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670DBD5-770C-4383-9F54-5B86E86BD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0277" y="0"/>
            <a:ext cx="9771446" cy="6858000"/>
          </a:xfrm>
          <a:custGeom>
            <a:avLst/>
            <a:gdLst>
              <a:gd name="connsiteX0" fmla="*/ 1422188 w 9771446"/>
              <a:gd name="connsiteY0" fmla="*/ 0 h 6858000"/>
              <a:gd name="connsiteX1" fmla="*/ 8349258 w 9771446"/>
              <a:gd name="connsiteY1" fmla="*/ 0 h 6858000"/>
              <a:gd name="connsiteX2" fmla="*/ 8502224 w 9771446"/>
              <a:gd name="connsiteY2" fmla="*/ 159673 h 6858000"/>
              <a:gd name="connsiteX3" fmla="*/ 9771446 w 9771446"/>
              <a:gd name="connsiteY3" fmla="*/ 3429001 h 6858000"/>
              <a:gd name="connsiteX4" fmla="*/ 8502224 w 9771446"/>
              <a:gd name="connsiteY4" fmla="*/ 6698330 h 6858000"/>
              <a:gd name="connsiteX5" fmla="*/ 8349260 w 9771446"/>
              <a:gd name="connsiteY5" fmla="*/ 6858000 h 6858000"/>
              <a:gd name="connsiteX6" fmla="*/ 1422186 w 9771446"/>
              <a:gd name="connsiteY6" fmla="*/ 6858000 h 6858000"/>
              <a:gd name="connsiteX7" fmla="*/ 1269223 w 9771446"/>
              <a:gd name="connsiteY7" fmla="*/ 6698330 h 6858000"/>
              <a:gd name="connsiteX8" fmla="*/ 0 w 9771446"/>
              <a:gd name="connsiteY8" fmla="*/ 3429001 h 6858000"/>
              <a:gd name="connsiteX9" fmla="*/ 1269223 w 9771446"/>
              <a:gd name="connsiteY9" fmla="*/ 159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71446" h="6858000">
                <a:moveTo>
                  <a:pt x="1422188" y="0"/>
                </a:moveTo>
                <a:lnTo>
                  <a:pt x="8349258" y="0"/>
                </a:lnTo>
                <a:lnTo>
                  <a:pt x="8502224" y="159673"/>
                </a:lnTo>
                <a:cubicBezTo>
                  <a:pt x="9290813" y="1023162"/>
                  <a:pt x="9771446" y="2170221"/>
                  <a:pt x="9771446" y="3429001"/>
                </a:cubicBezTo>
                <a:cubicBezTo>
                  <a:pt x="9771446" y="4687781"/>
                  <a:pt x="9290813" y="5834840"/>
                  <a:pt x="8502224" y="6698330"/>
                </a:cubicBezTo>
                <a:lnTo>
                  <a:pt x="8349260" y="6858000"/>
                </a:lnTo>
                <a:lnTo>
                  <a:pt x="1422186" y="6858000"/>
                </a:lnTo>
                <a:lnTo>
                  <a:pt x="1269223" y="6698330"/>
                </a:lnTo>
                <a:cubicBezTo>
                  <a:pt x="480633" y="5834840"/>
                  <a:pt x="0" y="4687781"/>
                  <a:pt x="0" y="3429001"/>
                </a:cubicBezTo>
                <a:cubicBezTo>
                  <a:pt x="0" y="2170221"/>
                  <a:pt x="480633" y="1023162"/>
                  <a:pt x="1269223" y="159673"/>
                </a:cubicBezTo>
                <a:close/>
              </a:path>
            </a:pathLst>
          </a:custGeom>
          <a:solidFill>
            <a:schemeClr val="bg1">
              <a:lumMod val="85000"/>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a:extLst>
              <a:ext uri="{FF2B5EF4-FFF2-40B4-BE49-F238E27FC236}">
                <a16:creationId xmlns:a16="http://schemas.microsoft.com/office/drawing/2014/main" id="{4904D36F-BB1A-4AD7-8CD3-A4BE4005BA85}"/>
              </a:ext>
            </a:extLst>
          </p:cNvPr>
          <p:cNvPicPr>
            <a:picLocks noGrp="1" noChangeAspect="1"/>
          </p:cNvPicPr>
          <p:nvPr>
            <p:ph idx="1"/>
          </p:nvPr>
        </p:nvPicPr>
        <p:blipFill rotWithShape="1">
          <a:blip r:embed="rId2"/>
          <a:srcRect t="29370" b="13137"/>
          <a:stretch/>
        </p:blipFill>
        <p:spPr>
          <a:xfrm>
            <a:off x="1460597" y="10"/>
            <a:ext cx="9270806" cy="6857990"/>
          </a:xfrm>
          <a:custGeom>
            <a:avLst/>
            <a:gdLst/>
            <a:ahLst/>
            <a:cxnLst/>
            <a:rect l="l" t="t" r="r" b="b"/>
            <a:pathLst>
              <a:path w="9270806" h="6858000">
                <a:moveTo>
                  <a:pt x="1503712" y="0"/>
                </a:moveTo>
                <a:lnTo>
                  <a:pt x="7767094" y="0"/>
                </a:lnTo>
                <a:lnTo>
                  <a:pt x="7913128" y="139721"/>
                </a:lnTo>
                <a:cubicBezTo>
                  <a:pt x="8751971" y="981521"/>
                  <a:pt x="9270806" y="2144457"/>
                  <a:pt x="9270806" y="3429000"/>
                </a:cubicBezTo>
                <a:cubicBezTo>
                  <a:pt x="9270806" y="4713544"/>
                  <a:pt x="8751971" y="5876479"/>
                  <a:pt x="7913128" y="6718279"/>
                </a:cubicBezTo>
                <a:lnTo>
                  <a:pt x="7767094" y="6858000"/>
                </a:lnTo>
                <a:lnTo>
                  <a:pt x="1503712" y="6858000"/>
                </a:lnTo>
                <a:lnTo>
                  <a:pt x="1357679" y="6718279"/>
                </a:lnTo>
                <a:cubicBezTo>
                  <a:pt x="518835" y="5876479"/>
                  <a:pt x="0" y="4713544"/>
                  <a:pt x="0" y="3429000"/>
                </a:cubicBezTo>
                <a:cubicBezTo>
                  <a:pt x="0" y="2144457"/>
                  <a:pt x="518835" y="981521"/>
                  <a:pt x="1357679" y="139721"/>
                </a:cubicBezTo>
                <a:close/>
              </a:path>
            </a:pathLst>
          </a:custGeom>
        </p:spPr>
      </p:pic>
      <p:sp>
        <p:nvSpPr>
          <p:cNvPr id="3" name="TextBox 2">
            <a:extLst>
              <a:ext uri="{FF2B5EF4-FFF2-40B4-BE49-F238E27FC236}">
                <a16:creationId xmlns:a16="http://schemas.microsoft.com/office/drawing/2014/main" id="{4F5DCEA0-1A36-43C2-B743-334D6055299C}"/>
              </a:ext>
            </a:extLst>
          </p:cNvPr>
          <p:cNvSpPr txBox="1"/>
          <p:nvPr/>
        </p:nvSpPr>
        <p:spPr>
          <a:xfrm>
            <a:off x="1943100" y="6157913"/>
            <a:ext cx="8545416" cy="584775"/>
          </a:xfrm>
          <a:prstGeom prst="rect">
            <a:avLst/>
          </a:prstGeom>
          <a:noFill/>
        </p:spPr>
        <p:txBody>
          <a:bodyPr wrap="none" rtlCol="0">
            <a:spAutoFit/>
          </a:bodyPr>
          <a:lstStyle/>
          <a:p>
            <a:r>
              <a:rPr lang="en-US" sz="3200" dirty="0"/>
              <a:t>King </a:t>
            </a:r>
            <a:r>
              <a:rPr lang="en-US" sz="3200" dirty="0" err="1"/>
              <a:t>Amenhetops</a:t>
            </a:r>
            <a:r>
              <a:rPr lang="en-US" sz="3200" dirty="0"/>
              <a:t> Arm, as viewed in Google Street</a:t>
            </a:r>
          </a:p>
        </p:txBody>
      </p:sp>
    </p:spTree>
    <p:extLst>
      <p:ext uri="{BB962C8B-B14F-4D97-AF65-F5344CB8AC3E}">
        <p14:creationId xmlns:p14="http://schemas.microsoft.com/office/powerpoint/2010/main" val="3519380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70">
            <a:extLst>
              <a:ext uri="{FF2B5EF4-FFF2-40B4-BE49-F238E27FC236}">
                <a16:creationId xmlns:a16="http://schemas.microsoft.com/office/drawing/2014/main" id="{B9951BD9-0868-4CDB-ACD6-9C4209B5E4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4637247" y="0"/>
            <a:ext cx="7554754"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89C70DA-F266-4A50-B4B9-07D4FF6D8853}"/>
              </a:ext>
            </a:extLst>
          </p:cNvPr>
          <p:cNvSpPr>
            <a:spLocks noGrp="1"/>
          </p:cNvSpPr>
          <p:nvPr>
            <p:ph type="subTitle" idx="1"/>
          </p:nvPr>
        </p:nvSpPr>
        <p:spPr>
          <a:xfrm>
            <a:off x="4864658" y="6182743"/>
            <a:ext cx="7327342" cy="675247"/>
          </a:xfrm>
        </p:spPr>
        <p:txBody>
          <a:bodyPr>
            <a:normAutofit/>
          </a:bodyPr>
          <a:lstStyle/>
          <a:p>
            <a:pPr algn="l"/>
            <a:r>
              <a:rPr lang="en-US" sz="1600" dirty="0">
                <a:hlinkClick r:id="rId2"/>
              </a:rPr>
              <a:t>https://research.britishmuseum.org/research/collection_online/collection_object_details/collection_image_gallery.aspx?partid=1&amp;assetid=398727001&amp;objectid=6311</a:t>
            </a:r>
            <a:endParaRPr lang="en-US" sz="1600" dirty="0">
              <a:solidFill>
                <a:schemeClr val="bg1"/>
              </a:solidFill>
            </a:endParaRPr>
          </a:p>
        </p:txBody>
      </p:sp>
      <p:sp>
        <p:nvSpPr>
          <p:cNvPr id="4" name="Rectangle: Rounded Corners 3">
            <a:extLst>
              <a:ext uri="{FF2B5EF4-FFF2-40B4-BE49-F238E27FC236}">
                <a16:creationId xmlns:a16="http://schemas.microsoft.com/office/drawing/2014/main" id="{2E7DB2DB-D602-417F-BE47-DF8C426AEC7A}"/>
              </a:ext>
            </a:extLst>
          </p:cNvPr>
          <p:cNvSpPr/>
          <p:nvPr/>
        </p:nvSpPr>
        <p:spPr>
          <a:xfrm>
            <a:off x="5254502" y="1523774"/>
            <a:ext cx="6286002" cy="2281476"/>
          </a:xfrm>
          <a:prstGeom prst="roundRect">
            <a:avLst/>
          </a:prstGeom>
          <a:solidFill>
            <a:schemeClr val="bg1"/>
          </a:solidFill>
        </p:spPr>
        <p:txBody>
          <a:bodyPr wrap="square">
            <a:spAutoFit/>
          </a:bodyPr>
          <a:lstStyle/>
          <a:p>
            <a:r>
              <a:rPr lang="en-US" sz="2000" dirty="0"/>
              <a:t>Possible peer of Moshe</a:t>
            </a:r>
          </a:p>
          <a:p>
            <a:endParaRPr lang="en-US" sz="2000" dirty="0"/>
          </a:p>
          <a:p>
            <a:r>
              <a:rPr lang="en-US" sz="1600" dirty="0"/>
              <a:t>Exodus Chapter Two</a:t>
            </a:r>
          </a:p>
          <a:p>
            <a:r>
              <a:rPr lang="en-US" sz="1200" dirty="0"/>
              <a:t>The child grew up, and she brought him to Pharaoh's daughter, and he became like her son. She named him Moses, and she said, "For I drew him from the water.“</a:t>
            </a:r>
          </a:p>
          <a:p>
            <a:r>
              <a:rPr lang="en-US" sz="1200" dirty="0"/>
              <a:t>After Moshe was famously saved, Princess </a:t>
            </a:r>
            <a:r>
              <a:rPr lang="en-US" sz="1200" dirty="0" err="1"/>
              <a:t>Batya</a:t>
            </a:r>
            <a:r>
              <a:rPr lang="en-US" sz="1200" dirty="0"/>
              <a:t> adopted him and Moshe grew up in the Egyptian palace.</a:t>
            </a:r>
          </a:p>
          <a:p>
            <a:r>
              <a:rPr lang="en-US" sz="1200" dirty="0"/>
              <a:t>Despite his luxurious life he would physically help his fellow Jews in their labor and would support their moral with words of encouragement.</a:t>
            </a:r>
          </a:p>
        </p:txBody>
      </p:sp>
      <p:sp>
        <p:nvSpPr>
          <p:cNvPr id="6" name="Rectangle: Rounded Corners 5">
            <a:extLst>
              <a:ext uri="{FF2B5EF4-FFF2-40B4-BE49-F238E27FC236}">
                <a16:creationId xmlns:a16="http://schemas.microsoft.com/office/drawing/2014/main" id="{6D892E17-EC35-45D6-9C7C-1B2A7A38BCA8}"/>
              </a:ext>
            </a:extLst>
          </p:cNvPr>
          <p:cNvSpPr/>
          <p:nvPr/>
        </p:nvSpPr>
        <p:spPr>
          <a:xfrm>
            <a:off x="-1446663" y="1523774"/>
            <a:ext cx="81887"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1BBFE02-0878-487C-B67D-51B0D1B5D8F7}"/>
              </a:ext>
            </a:extLst>
          </p:cNvPr>
          <p:cNvSpPr/>
          <p:nvPr/>
        </p:nvSpPr>
        <p:spPr>
          <a:xfrm>
            <a:off x="5254502" y="4139630"/>
            <a:ext cx="6286002" cy="1940957"/>
          </a:xfrm>
          <a:prstGeom prst="roundRect">
            <a:avLst/>
          </a:prstGeom>
          <a:solidFill>
            <a:schemeClr val="accent4">
              <a:lumMod val="20000"/>
              <a:lumOff val="80000"/>
            </a:schemeClr>
          </a:solidFill>
        </p:spPr>
        <p:txBody>
          <a:bodyPr wrap="square">
            <a:spAutoFit/>
          </a:bodyPr>
          <a:lstStyle/>
          <a:p>
            <a:r>
              <a:rPr lang="en-US" dirty="0"/>
              <a:t>Sandstone conglomerate statue of </a:t>
            </a:r>
            <a:r>
              <a:rPr lang="en-US" dirty="0" err="1"/>
              <a:t>Khaemwaset</a:t>
            </a:r>
            <a:r>
              <a:rPr lang="en-US" dirty="0"/>
              <a:t>: depicted wearing a short wig and kilt and standing with left foot advanced and holding two standards: the right (now damaged) was probably surmounted by a representation of the Osirian triad and is inscribed with the </a:t>
            </a:r>
            <a:r>
              <a:rPr lang="en-US" dirty="0" err="1"/>
              <a:t>prenomen</a:t>
            </a:r>
            <a:r>
              <a:rPr lang="en-US" dirty="0"/>
              <a:t> and epithets of Ramses II …</a:t>
            </a:r>
            <a:endParaRPr lang="en-US" sz="1600" dirty="0"/>
          </a:p>
        </p:txBody>
      </p:sp>
      <p:sp>
        <p:nvSpPr>
          <p:cNvPr id="8" name="Rectangle: Rounded Corners 7">
            <a:extLst>
              <a:ext uri="{FF2B5EF4-FFF2-40B4-BE49-F238E27FC236}">
                <a16:creationId xmlns:a16="http://schemas.microsoft.com/office/drawing/2014/main" id="{A923A7F5-82BD-44F1-B70D-211E0A06A7CC}"/>
              </a:ext>
            </a:extLst>
          </p:cNvPr>
          <p:cNvSpPr/>
          <p:nvPr/>
        </p:nvSpPr>
        <p:spPr>
          <a:xfrm>
            <a:off x="5265914" y="317848"/>
            <a:ext cx="6274590" cy="1021556"/>
          </a:xfrm>
          <a:prstGeom prst="roundRect">
            <a:avLst/>
          </a:prstGeom>
          <a:solidFill>
            <a:schemeClr val="bg2">
              <a:lumMod val="90000"/>
            </a:schemeClr>
          </a:solidFill>
        </p:spPr>
        <p:txBody>
          <a:bodyPr wrap="square">
            <a:spAutoFit/>
          </a:bodyPr>
          <a:lstStyle/>
          <a:p>
            <a:r>
              <a:rPr lang="en-US" sz="3600" dirty="0"/>
              <a:t>Prince </a:t>
            </a:r>
            <a:r>
              <a:rPr lang="en-US" sz="3600" dirty="0" err="1"/>
              <a:t>Khaemwaset</a:t>
            </a:r>
            <a:endParaRPr lang="en-US" sz="3600" dirty="0"/>
          </a:p>
          <a:p>
            <a:r>
              <a:rPr lang="en-US" sz="1600" dirty="0"/>
              <a:t>Inscriptions of prayers and epithets to</a:t>
            </a:r>
            <a:r>
              <a:rPr lang="en-US" dirty="0"/>
              <a:t> Ramses II</a:t>
            </a:r>
            <a:endParaRPr lang="en-US" sz="1600" dirty="0"/>
          </a:p>
        </p:txBody>
      </p:sp>
      <p:pic>
        <p:nvPicPr>
          <p:cNvPr id="2052" name="Picture 4" descr="COMPASS Title: Sandstone conglomerate statue of Khaemwaset">
            <a:extLst>
              <a:ext uri="{FF2B5EF4-FFF2-40B4-BE49-F238E27FC236}">
                <a16:creationId xmlns:a16="http://schemas.microsoft.com/office/drawing/2014/main" id="{BDD02609-C057-4627-BDFE-947A529BBB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9" y="-7394"/>
            <a:ext cx="31115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Sandstone conglomerate statue of Khaemwaset: depicted wearing a short wig and kilt and standing with left foot advanced and holding two standards: the right (now damaged) was probably surmounted by a representation of the Osirian triad and is inscribed with the prenomen and epithets of Ramses II; the left is surmounted by the fetish of Abydos and inscribed with the nomen and epithets of Ramses II. The inscription around the base contains a prayer to Atum and that around the feet of the figure describes describing the setting up of this monument in Tawer, probably at Abydos. There are two vertical registers of hieroglyphs on the dorsal pillar, continued on both the right and left sides, contain a prayer to Osiris.">
            <a:extLst>
              <a:ext uri="{FF2B5EF4-FFF2-40B4-BE49-F238E27FC236}">
                <a16:creationId xmlns:a16="http://schemas.microsoft.com/office/drawing/2014/main" id="{7A2F44BD-76FE-4A10-8C14-66E2E88A778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299" r="14732"/>
          <a:stretch/>
        </p:blipFill>
        <p:spPr bwMode="auto">
          <a:xfrm>
            <a:off x="2534413" y="7394"/>
            <a:ext cx="233024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7696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70">
            <a:extLst>
              <a:ext uri="{FF2B5EF4-FFF2-40B4-BE49-F238E27FC236}">
                <a16:creationId xmlns:a16="http://schemas.microsoft.com/office/drawing/2014/main" id="{B9951BD9-0868-4CDB-ACD6-9C4209B5E4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4637247" y="0"/>
            <a:ext cx="7554754"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89C70DA-F266-4A50-B4B9-07D4FF6D8853}"/>
              </a:ext>
            </a:extLst>
          </p:cNvPr>
          <p:cNvSpPr>
            <a:spLocks noGrp="1"/>
          </p:cNvSpPr>
          <p:nvPr>
            <p:ph type="subTitle" idx="1"/>
          </p:nvPr>
        </p:nvSpPr>
        <p:spPr>
          <a:xfrm>
            <a:off x="4864658" y="6182743"/>
            <a:ext cx="7327342" cy="675247"/>
          </a:xfrm>
        </p:spPr>
        <p:txBody>
          <a:bodyPr>
            <a:normAutofit/>
          </a:bodyPr>
          <a:lstStyle/>
          <a:p>
            <a:pPr algn="l"/>
            <a:r>
              <a:rPr lang="en-US" sz="1600" dirty="0">
                <a:hlinkClick r:id="rId2"/>
              </a:rPr>
              <a:t>https://www.britishmuseum.org/collection/galleries/egyptian-sculpture#&amp;gid=1&amp;pid=2</a:t>
            </a:r>
            <a:endParaRPr lang="en-US" sz="1600" dirty="0">
              <a:solidFill>
                <a:schemeClr val="bg1"/>
              </a:solidFill>
            </a:endParaRPr>
          </a:p>
        </p:txBody>
      </p:sp>
      <p:sp>
        <p:nvSpPr>
          <p:cNvPr id="4" name="Rectangle: Rounded Corners 3">
            <a:extLst>
              <a:ext uri="{FF2B5EF4-FFF2-40B4-BE49-F238E27FC236}">
                <a16:creationId xmlns:a16="http://schemas.microsoft.com/office/drawing/2014/main" id="{2E7DB2DB-D602-417F-BE47-DF8C426AEC7A}"/>
              </a:ext>
            </a:extLst>
          </p:cNvPr>
          <p:cNvSpPr/>
          <p:nvPr/>
        </p:nvSpPr>
        <p:spPr>
          <a:xfrm>
            <a:off x="5254502" y="1523774"/>
            <a:ext cx="6286002" cy="1055608"/>
          </a:xfrm>
          <a:prstGeom prst="roundRect">
            <a:avLst/>
          </a:prstGeom>
          <a:solidFill>
            <a:schemeClr val="bg1"/>
          </a:solidFill>
        </p:spPr>
        <p:txBody>
          <a:bodyPr wrap="square">
            <a:spAutoFit/>
          </a:bodyPr>
          <a:lstStyle/>
          <a:p>
            <a:r>
              <a:rPr lang="en-US" sz="1600" dirty="0"/>
              <a:t>King </a:t>
            </a:r>
            <a:r>
              <a:rPr lang="en-US" sz="1600" dirty="0" err="1"/>
              <a:t>Pharoah</a:t>
            </a:r>
            <a:r>
              <a:rPr lang="en-US" sz="1600" dirty="0"/>
              <a:t> who commissioned the Jews to intense slave labor. </a:t>
            </a:r>
          </a:p>
          <a:p>
            <a:r>
              <a:rPr lang="en-US" sz="1600" dirty="0"/>
              <a:t>Exodus Chapter One</a:t>
            </a:r>
          </a:p>
          <a:p>
            <a:r>
              <a:rPr lang="en-US" sz="1200" dirty="0"/>
              <a:t>11: So they appointed over them tax collectors to afflict them with their burdens, and they built store cities for Pharaoh, namely </a:t>
            </a:r>
            <a:r>
              <a:rPr lang="en-US" sz="1200" dirty="0" err="1"/>
              <a:t>Pithom</a:t>
            </a:r>
            <a:r>
              <a:rPr lang="en-US" sz="1200" dirty="0"/>
              <a:t> and </a:t>
            </a:r>
            <a:r>
              <a:rPr lang="en-US" sz="1200" dirty="0" err="1"/>
              <a:t>Raamses</a:t>
            </a:r>
            <a:r>
              <a:rPr lang="en-US" sz="1200" dirty="0"/>
              <a:t>.</a:t>
            </a:r>
          </a:p>
        </p:txBody>
      </p:sp>
      <p:sp>
        <p:nvSpPr>
          <p:cNvPr id="6" name="Rectangle: Rounded Corners 5">
            <a:extLst>
              <a:ext uri="{FF2B5EF4-FFF2-40B4-BE49-F238E27FC236}">
                <a16:creationId xmlns:a16="http://schemas.microsoft.com/office/drawing/2014/main" id="{6D892E17-EC35-45D6-9C7C-1B2A7A38BCA8}"/>
              </a:ext>
            </a:extLst>
          </p:cNvPr>
          <p:cNvSpPr/>
          <p:nvPr/>
        </p:nvSpPr>
        <p:spPr>
          <a:xfrm>
            <a:off x="-1446663" y="1523774"/>
            <a:ext cx="81887"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1BBFE02-0878-487C-B67D-51B0D1B5D8F7}"/>
              </a:ext>
            </a:extLst>
          </p:cNvPr>
          <p:cNvSpPr/>
          <p:nvPr/>
        </p:nvSpPr>
        <p:spPr>
          <a:xfrm>
            <a:off x="5254502" y="2922752"/>
            <a:ext cx="6286002" cy="3166824"/>
          </a:xfrm>
          <a:prstGeom prst="roundRect">
            <a:avLst/>
          </a:prstGeom>
          <a:solidFill>
            <a:schemeClr val="accent4">
              <a:lumMod val="20000"/>
              <a:lumOff val="80000"/>
            </a:schemeClr>
          </a:solidFill>
        </p:spPr>
        <p:txBody>
          <a:bodyPr wrap="square">
            <a:spAutoFit/>
          </a:bodyPr>
          <a:lstStyle/>
          <a:p>
            <a:r>
              <a:rPr lang="en-US" dirty="0"/>
              <a:t>The largest Egyptian sculpture in the British Museum is an image of Ramesses II, whose prosperous pair that flanked a gate in the king's mortuary temple (the '</a:t>
            </a:r>
            <a:r>
              <a:rPr lang="en-US" dirty="0" err="1"/>
              <a:t>Ramesseum</a:t>
            </a:r>
            <a:r>
              <a:rPr lang="en-US" dirty="0"/>
              <a:t>'). The statue was carved from one block, quarried at Aswan almost 124 miles (200km) further south. Roughly shaped and weighing some 20 </a:t>
            </a:r>
            <a:r>
              <a:rPr lang="en-US" dirty="0" err="1"/>
              <a:t>tonnes</a:t>
            </a:r>
            <a:r>
              <a:rPr lang="en-US" dirty="0"/>
              <a:t>, it was transported on sleds over land and on a purpose-built boat down the river Nile. Once erected, the statue's finer sculpting was completed. Like all Egyptian statues, it was originally painted. Traces of the pigments remain.</a:t>
            </a:r>
            <a:endParaRPr lang="en-US" sz="1600" dirty="0"/>
          </a:p>
        </p:txBody>
      </p:sp>
      <p:sp>
        <p:nvSpPr>
          <p:cNvPr id="8" name="Rectangle: Rounded Corners 7">
            <a:extLst>
              <a:ext uri="{FF2B5EF4-FFF2-40B4-BE49-F238E27FC236}">
                <a16:creationId xmlns:a16="http://schemas.microsoft.com/office/drawing/2014/main" id="{A923A7F5-82BD-44F1-B70D-211E0A06A7CC}"/>
              </a:ext>
            </a:extLst>
          </p:cNvPr>
          <p:cNvSpPr/>
          <p:nvPr/>
        </p:nvSpPr>
        <p:spPr>
          <a:xfrm>
            <a:off x="5265914" y="317848"/>
            <a:ext cx="6274590" cy="1021556"/>
          </a:xfrm>
          <a:prstGeom prst="roundRect">
            <a:avLst/>
          </a:prstGeom>
          <a:solidFill>
            <a:schemeClr val="bg2">
              <a:lumMod val="90000"/>
            </a:schemeClr>
          </a:solidFill>
        </p:spPr>
        <p:txBody>
          <a:bodyPr wrap="square">
            <a:spAutoFit/>
          </a:bodyPr>
          <a:lstStyle/>
          <a:p>
            <a:r>
              <a:rPr lang="en-US" sz="3600" dirty="0"/>
              <a:t>Ramesses II</a:t>
            </a:r>
          </a:p>
          <a:p>
            <a:r>
              <a:rPr lang="en-US" sz="1600" dirty="0"/>
              <a:t>Ruler of Rulers, r</a:t>
            </a:r>
            <a:r>
              <a:rPr lang="en-US" dirty="0"/>
              <a:t>eigned through most of the 13th century BC</a:t>
            </a:r>
            <a:endParaRPr lang="en-US" sz="1600" dirty="0"/>
          </a:p>
        </p:txBody>
      </p:sp>
      <p:pic>
        <p:nvPicPr>
          <p:cNvPr id="3074" name="Picture 2">
            <a:extLst>
              <a:ext uri="{FF2B5EF4-FFF2-40B4-BE49-F238E27FC236}">
                <a16:creationId xmlns:a16="http://schemas.microsoft.com/office/drawing/2014/main" id="{18A545D1-7BC0-4473-9900-18C5469B4E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18" y="0"/>
            <a:ext cx="47704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8916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6A1641F-C4D8-44C8-A448-B182F1184E0F}"/>
              </a:ext>
            </a:extLst>
          </p:cNvPr>
          <p:cNvPicPr>
            <a:picLocks noGrp="1" noChangeAspect="1"/>
          </p:cNvPicPr>
          <p:nvPr>
            <p:ph idx="1"/>
          </p:nvPr>
        </p:nvPicPr>
        <p:blipFill rotWithShape="1">
          <a:blip r:embed="rId2"/>
          <a:srcRect b="7025"/>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2A4E63-F3DC-4AC6-9075-2B3E42327038}"/>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1400" dirty="0">
                <a:solidFill>
                  <a:schemeClr val="tx1">
                    <a:lumMod val="85000"/>
                    <a:lumOff val="15000"/>
                  </a:schemeClr>
                </a:solidFill>
              </a:rPr>
              <a:t>Two Egyptian heads, as seen in the British Museum, street view</a:t>
            </a:r>
            <a:br>
              <a:rPr lang="en-US" sz="1400" dirty="0">
                <a:solidFill>
                  <a:schemeClr val="tx1">
                    <a:lumMod val="85000"/>
                    <a:lumOff val="15000"/>
                  </a:schemeClr>
                </a:solidFill>
              </a:rPr>
            </a:br>
            <a:r>
              <a:rPr lang="en-US" sz="1100" dirty="0">
                <a:solidFill>
                  <a:schemeClr val="tx1">
                    <a:lumMod val="85000"/>
                    <a:lumOff val="15000"/>
                  </a:schemeClr>
                </a:solidFill>
                <a:hlinkClick r:id="rId3"/>
              </a:rPr>
              <a:t>https://artsandculture.google.com/streetview/british-museum/AwEp68JO4NECkQ?sv_lng=-0.1272956987031648&amp;sv_lat=51.51921726998366&amp;sv_h=259.54304445788244&amp;sv_p=2.939128950808467&amp;sv_pid=ObNdlduSG3c4MruJlaObcg&amp;sv_z=0.8825186401771719</a:t>
            </a:r>
            <a:endParaRPr lang="en-US" sz="1100" dirty="0">
              <a:solidFill>
                <a:schemeClr val="tx1">
                  <a:lumMod val="85000"/>
                  <a:lumOff val="15000"/>
                </a:schemeClr>
              </a:solidFill>
            </a:endParaRP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988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70">
            <a:extLst>
              <a:ext uri="{FF2B5EF4-FFF2-40B4-BE49-F238E27FC236}">
                <a16:creationId xmlns:a16="http://schemas.microsoft.com/office/drawing/2014/main" id="{B9951BD9-0868-4CDB-ACD6-9C4209B5E4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4637247" y="0"/>
            <a:ext cx="7554754"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89C70DA-F266-4A50-B4B9-07D4FF6D8853}"/>
              </a:ext>
            </a:extLst>
          </p:cNvPr>
          <p:cNvSpPr>
            <a:spLocks noGrp="1"/>
          </p:cNvSpPr>
          <p:nvPr>
            <p:ph type="subTitle" idx="1"/>
          </p:nvPr>
        </p:nvSpPr>
        <p:spPr>
          <a:xfrm>
            <a:off x="5290499" y="6493549"/>
            <a:ext cx="7768130" cy="675247"/>
          </a:xfrm>
        </p:spPr>
        <p:txBody>
          <a:bodyPr>
            <a:normAutofit/>
          </a:bodyPr>
          <a:lstStyle/>
          <a:p>
            <a:pPr algn="l"/>
            <a:r>
              <a:rPr lang="en-US" sz="1200" dirty="0">
                <a:hlinkClick r:id="rId2"/>
              </a:rPr>
              <a:t>https://www.britishmuseum.org/collection/galleries/egyptian-sculpture#&amp;gid=1&amp;pid=2</a:t>
            </a:r>
            <a:endParaRPr lang="en-US" sz="1200" dirty="0">
              <a:solidFill>
                <a:schemeClr val="bg1"/>
              </a:solidFill>
            </a:endParaRPr>
          </a:p>
        </p:txBody>
      </p:sp>
      <p:sp>
        <p:nvSpPr>
          <p:cNvPr id="4" name="Rectangle: Rounded Corners 3">
            <a:extLst>
              <a:ext uri="{FF2B5EF4-FFF2-40B4-BE49-F238E27FC236}">
                <a16:creationId xmlns:a16="http://schemas.microsoft.com/office/drawing/2014/main" id="{2E7DB2DB-D602-417F-BE47-DF8C426AEC7A}"/>
              </a:ext>
            </a:extLst>
          </p:cNvPr>
          <p:cNvSpPr/>
          <p:nvPr/>
        </p:nvSpPr>
        <p:spPr>
          <a:xfrm>
            <a:off x="5254502" y="1523774"/>
            <a:ext cx="6286002" cy="1872853"/>
          </a:xfrm>
          <a:prstGeom prst="roundRect">
            <a:avLst/>
          </a:prstGeom>
          <a:solidFill>
            <a:schemeClr val="bg1"/>
          </a:solidFill>
        </p:spPr>
        <p:txBody>
          <a:bodyPr wrap="square">
            <a:spAutoFit/>
          </a:bodyPr>
          <a:lstStyle/>
          <a:p>
            <a:r>
              <a:rPr lang="en-US" dirty="0"/>
              <a:t>Exodus Chapter Fourteen</a:t>
            </a:r>
          </a:p>
          <a:p>
            <a:pPr fontAlgn="t"/>
            <a:r>
              <a:rPr lang="en-US" sz="1400" dirty="0"/>
              <a:t>And the waters returned and covered the chariots and the horsemen, the entire force of Pharaoh coming after them into the sea; not even one of them survived.</a:t>
            </a:r>
          </a:p>
          <a:p>
            <a:pPr fontAlgn="t"/>
            <a:r>
              <a:rPr lang="en-US" sz="1400" b="1" dirty="0"/>
              <a:t>29</a:t>
            </a:r>
            <a:r>
              <a:rPr lang="en-US" sz="1400" dirty="0"/>
              <a:t>But the children of Israel went on dry land in the midst of the sea, and the water was to them like a wall from their right and from their left.</a:t>
            </a:r>
          </a:p>
          <a:p>
            <a:pPr fontAlgn="t"/>
            <a:r>
              <a:rPr lang="en-US" sz="1400" b="1" dirty="0"/>
              <a:t>30</a:t>
            </a:r>
            <a:r>
              <a:rPr lang="en-US" sz="1400" dirty="0"/>
              <a:t>On that day the Lord saved Israel from the hand[s] of the Egyptians, and Israel saw the Egyptians dying on the seashore.</a:t>
            </a:r>
          </a:p>
        </p:txBody>
      </p:sp>
      <p:sp>
        <p:nvSpPr>
          <p:cNvPr id="6" name="Rectangle: Rounded Corners 5">
            <a:extLst>
              <a:ext uri="{FF2B5EF4-FFF2-40B4-BE49-F238E27FC236}">
                <a16:creationId xmlns:a16="http://schemas.microsoft.com/office/drawing/2014/main" id="{6D892E17-EC35-45D6-9C7C-1B2A7A38BCA8}"/>
              </a:ext>
            </a:extLst>
          </p:cNvPr>
          <p:cNvSpPr/>
          <p:nvPr/>
        </p:nvSpPr>
        <p:spPr>
          <a:xfrm>
            <a:off x="-1446663" y="1523774"/>
            <a:ext cx="81887"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1BBFE02-0878-487C-B67D-51B0D1B5D8F7}"/>
              </a:ext>
            </a:extLst>
          </p:cNvPr>
          <p:cNvSpPr/>
          <p:nvPr/>
        </p:nvSpPr>
        <p:spPr>
          <a:xfrm>
            <a:off x="5254502" y="3667243"/>
            <a:ext cx="6286002" cy="2826306"/>
          </a:xfrm>
          <a:prstGeom prst="roundRect">
            <a:avLst/>
          </a:prstGeom>
          <a:solidFill>
            <a:schemeClr val="accent4">
              <a:lumMod val="20000"/>
              <a:lumOff val="80000"/>
            </a:schemeClr>
          </a:solidFill>
        </p:spPr>
        <p:txBody>
          <a:bodyPr wrap="square">
            <a:spAutoFit/>
          </a:bodyPr>
          <a:lstStyle/>
          <a:p>
            <a:r>
              <a:rPr lang="en-US" sz="1600" dirty="0"/>
              <a:t>Typical of a sculptor’s </a:t>
            </a:r>
            <a:r>
              <a:rPr lang="en-US" sz="1600" dirty="0" err="1"/>
              <a:t>modelis</a:t>
            </a:r>
            <a:r>
              <a:rPr lang="en-US" sz="1600" dirty="0"/>
              <a:t> the limestone bust of the king, on which the facial features have been marked in </a:t>
            </a:r>
            <a:r>
              <a:rPr lang="en-US" sz="1600" dirty="0" err="1"/>
              <a:t>colour</a:t>
            </a:r>
            <a:r>
              <a:rPr lang="en-US" sz="1600" dirty="0"/>
              <a:t>. These finds indicate that the workshop stopped activity quite suddenly. </a:t>
            </a:r>
          </a:p>
          <a:p>
            <a:r>
              <a:rPr lang="en-US" sz="1600" dirty="0"/>
              <a:t>Around 1350 BC, Pharaoh Amenhotep IV decided that all the gods of Ancient Egypt were a lie, except for one: the sun God Aten. He build a new capital for him in the desert 200 miles south of Cairo, and changed his name to Pharaoh Akhenaten (“Of great use to Aten”). His rule must have been strong, his fame widespread and his power seemingly unquestioned. And yet just fifty years after his death, his name had been deleted from the royal lists, his buildings razed ...</a:t>
            </a:r>
            <a:endParaRPr lang="en-US" sz="1400" dirty="0"/>
          </a:p>
        </p:txBody>
      </p:sp>
      <p:sp>
        <p:nvSpPr>
          <p:cNvPr id="8" name="Rectangle: Rounded Corners 7">
            <a:extLst>
              <a:ext uri="{FF2B5EF4-FFF2-40B4-BE49-F238E27FC236}">
                <a16:creationId xmlns:a16="http://schemas.microsoft.com/office/drawing/2014/main" id="{A923A7F5-82BD-44F1-B70D-211E0A06A7CC}"/>
              </a:ext>
            </a:extLst>
          </p:cNvPr>
          <p:cNvSpPr/>
          <p:nvPr/>
        </p:nvSpPr>
        <p:spPr>
          <a:xfrm>
            <a:off x="5265914" y="317848"/>
            <a:ext cx="6274590" cy="987504"/>
          </a:xfrm>
          <a:prstGeom prst="roundRect">
            <a:avLst/>
          </a:prstGeom>
          <a:solidFill>
            <a:schemeClr val="bg2">
              <a:lumMod val="90000"/>
            </a:schemeClr>
          </a:solidFill>
        </p:spPr>
        <p:txBody>
          <a:bodyPr wrap="square">
            <a:spAutoFit/>
          </a:bodyPr>
          <a:lstStyle/>
          <a:p>
            <a:r>
              <a:rPr lang="en-US" sz="3600" dirty="0"/>
              <a:t>Pharaoh Akhenaten</a:t>
            </a:r>
          </a:p>
          <a:p>
            <a:r>
              <a:rPr lang="en-US" sz="1600" dirty="0"/>
              <a:t>The </a:t>
            </a:r>
            <a:r>
              <a:rPr lang="en-US" sz="1600" dirty="0" err="1"/>
              <a:t>Pharoah</a:t>
            </a:r>
            <a:r>
              <a:rPr lang="en-US" sz="1600" dirty="0"/>
              <a:t> erased from history –my own inference, not proven</a:t>
            </a:r>
          </a:p>
        </p:txBody>
      </p:sp>
      <p:pic>
        <p:nvPicPr>
          <p:cNvPr id="2" name="Picture 1">
            <a:extLst>
              <a:ext uri="{FF2B5EF4-FFF2-40B4-BE49-F238E27FC236}">
                <a16:creationId xmlns:a16="http://schemas.microsoft.com/office/drawing/2014/main" id="{8416A70C-CB55-4DE5-9624-DF84C93F7F2A}"/>
              </a:ext>
            </a:extLst>
          </p:cNvPr>
          <p:cNvPicPr>
            <a:picLocks noChangeAspect="1"/>
          </p:cNvPicPr>
          <p:nvPr/>
        </p:nvPicPr>
        <p:blipFill>
          <a:blip r:embed="rId3"/>
          <a:stretch>
            <a:fillRect/>
          </a:stretch>
        </p:blipFill>
        <p:spPr>
          <a:xfrm>
            <a:off x="-32415" y="-33003"/>
            <a:ext cx="4018165" cy="6874737"/>
          </a:xfrm>
          <a:prstGeom prst="rect">
            <a:avLst/>
          </a:prstGeom>
        </p:spPr>
      </p:pic>
    </p:spTree>
    <p:extLst>
      <p:ext uri="{BB962C8B-B14F-4D97-AF65-F5344CB8AC3E}">
        <p14:creationId xmlns:p14="http://schemas.microsoft.com/office/powerpoint/2010/main" val="228415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21769DD4-CCD7-4EAC-8604-6E94E497217A}"/>
              </a:ext>
            </a:extLst>
          </p:cNvPr>
          <p:cNvPicPr>
            <a:picLocks noGrp="1" noChangeAspect="1"/>
          </p:cNvPicPr>
          <p:nvPr>
            <p:ph idx="1"/>
          </p:nvPr>
        </p:nvPicPr>
        <p:blipFill rotWithShape="1">
          <a:blip r:embed="rId2"/>
          <a:srcRect t="5542" r="9089" b="10337"/>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15E3CA2-BF3A-44C2-B8F2-A769422E7E80}"/>
              </a:ext>
            </a:extLst>
          </p:cNvPr>
          <p:cNvSpPr>
            <a:spLocks noGrp="1"/>
          </p:cNvSpPr>
          <p:nvPr>
            <p:ph type="title"/>
          </p:nvPr>
        </p:nvSpPr>
        <p:spPr>
          <a:xfrm>
            <a:off x="477981" y="1122363"/>
            <a:ext cx="4023360" cy="3204134"/>
          </a:xfrm>
        </p:spPr>
        <p:txBody>
          <a:bodyPr vert="horz" lIns="91440" tIns="45720" rIns="91440" bIns="45720" rtlCol="0" anchor="b">
            <a:noAutofit/>
          </a:bodyPr>
          <a:lstStyle/>
          <a:p>
            <a:r>
              <a:rPr lang="en-US" sz="2000" dirty="0"/>
              <a:t>…and this house altarpiece, which shows Akhenaten and Queen Nefertiti with their three eldest daughters under the sun disc Aten. His rule must have been strong, his fame widespread and his power seemingly unquestioned. And yet just fifty years after his death, his name had been deleted from the royal lists, his buildings razed…</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2290A8A5-8843-4DD4-B56C-08B7685A3170}"/>
              </a:ext>
            </a:extLst>
          </p:cNvPr>
          <p:cNvSpPr/>
          <p:nvPr/>
        </p:nvSpPr>
        <p:spPr>
          <a:xfrm>
            <a:off x="475488" y="4676872"/>
            <a:ext cx="3977640" cy="430887"/>
          </a:xfrm>
          <a:prstGeom prst="rect">
            <a:avLst/>
          </a:prstGeom>
        </p:spPr>
        <p:txBody>
          <a:bodyPr wrap="square">
            <a:spAutoFit/>
          </a:bodyPr>
          <a:lstStyle/>
          <a:p>
            <a:r>
              <a:rPr lang="en-US" sz="1050" dirty="0">
                <a:hlinkClick r:id="rId3"/>
              </a:rPr>
              <a:t>https://artsandculture.google.com/exhibit/the-pharaoh-erased-from-history/9QISgLrWPLdZIg</a:t>
            </a:r>
            <a:endParaRPr lang="en-US" sz="1050" dirty="0"/>
          </a:p>
        </p:txBody>
      </p:sp>
    </p:spTree>
    <p:extLst>
      <p:ext uri="{BB962C8B-B14F-4D97-AF65-F5344CB8AC3E}">
        <p14:creationId xmlns:p14="http://schemas.microsoft.com/office/powerpoint/2010/main" val="1822220987"/>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1B8A6D1A-8468-4CC1-8B75-878921F8B5F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5434" b="14690"/>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Rectangle 7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C24CC5-4FE0-4126-931B-4E7726166C6D}"/>
              </a:ext>
            </a:extLst>
          </p:cNvPr>
          <p:cNvSpPr>
            <a:spLocks noGrp="1"/>
          </p:cNvSpPr>
          <p:nvPr>
            <p:ph type="title"/>
          </p:nvPr>
        </p:nvSpPr>
        <p:spPr>
          <a:xfrm>
            <a:off x="523875" y="5317240"/>
            <a:ext cx="11210925" cy="744836"/>
          </a:xfrm>
        </p:spPr>
        <p:txBody>
          <a:bodyPr vert="horz" lIns="91440" tIns="45720" rIns="91440" bIns="45720" rtlCol="0" anchor="ctr">
            <a:normAutofit fontScale="90000"/>
          </a:bodyPr>
          <a:lstStyle/>
          <a:p>
            <a:pPr algn="ctr"/>
            <a:r>
              <a:rPr lang="en-US" sz="3600" dirty="0">
                <a:solidFill>
                  <a:schemeClr val="tx1">
                    <a:lumMod val="85000"/>
                    <a:lumOff val="15000"/>
                  </a:schemeClr>
                </a:solidFill>
              </a:rPr>
              <a:t>List of Kings. Abydos, Egypt circa 1270 BCE</a:t>
            </a:r>
            <a:br>
              <a:rPr lang="en-US" sz="3600" dirty="0">
                <a:solidFill>
                  <a:schemeClr val="tx1">
                    <a:lumMod val="85000"/>
                    <a:lumOff val="15000"/>
                  </a:schemeClr>
                </a:solidFill>
              </a:rPr>
            </a:br>
            <a:r>
              <a:rPr lang="en-US" sz="1600" dirty="0">
                <a:hlinkClick r:id="rId3"/>
              </a:rPr>
              <a:t>https://www.britishmuseum.org/collection/galleries/egyptian-sculpture#&amp;gid=1&amp;pid=4</a:t>
            </a:r>
            <a:endParaRPr lang="en-US" sz="1600" dirty="0">
              <a:solidFill>
                <a:schemeClr val="tx1">
                  <a:lumMod val="85000"/>
                  <a:lumOff val="15000"/>
                </a:schemeClr>
              </a:solidFill>
            </a:endParaRPr>
          </a:p>
        </p:txBody>
      </p:sp>
      <p:cxnSp>
        <p:nvCxnSpPr>
          <p:cNvPr id="73" name="Straight Connector 7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355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25D7EC7-2EEE-4401-A7E1-80B50508D2BE}"/>
              </a:ext>
            </a:extLst>
          </p:cNvPr>
          <p:cNvPicPr>
            <a:picLocks noGrp="1" noChangeAspect="1"/>
          </p:cNvPicPr>
          <p:nvPr>
            <p:ph idx="1"/>
          </p:nvPr>
        </p:nvPicPr>
        <p:blipFill rotWithShape="1">
          <a:blip r:embed="rId2"/>
          <a:srcRect t="14773"/>
          <a:stretch/>
        </p:blipFill>
        <p:spPr>
          <a:xfrm>
            <a:off x="20" y="10"/>
            <a:ext cx="12191980" cy="6857990"/>
          </a:xfrm>
          <a:prstGeom prst="rect">
            <a:avLst/>
          </a:prstGeom>
        </p:spPr>
      </p:pic>
    </p:spTree>
    <p:extLst>
      <p:ext uri="{BB962C8B-B14F-4D97-AF65-F5344CB8AC3E}">
        <p14:creationId xmlns:p14="http://schemas.microsoft.com/office/powerpoint/2010/main" val="1435092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7CA0DAA6-33B8-4A25-810D-2F4D816FB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972594"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851081-D4AF-4721-8CAD-D69A1F3B8F9E}"/>
              </a:ext>
            </a:extLst>
          </p:cNvPr>
          <p:cNvSpPr>
            <a:spLocks noGrp="1"/>
          </p:cNvSpPr>
          <p:nvPr>
            <p:ph type="title"/>
          </p:nvPr>
        </p:nvSpPr>
        <p:spPr>
          <a:xfrm>
            <a:off x="651307" y="640081"/>
            <a:ext cx="3377183" cy="1441937"/>
          </a:xfrm>
          <a:noFill/>
        </p:spPr>
        <p:txBody>
          <a:bodyPr vert="horz" lIns="91440" tIns="45720" rIns="91440" bIns="45720" rtlCol="0" anchor="b">
            <a:normAutofit/>
          </a:bodyPr>
          <a:lstStyle/>
          <a:p>
            <a:r>
              <a:rPr lang="en-US" dirty="0">
                <a:solidFill>
                  <a:schemeClr val="bg1"/>
                </a:solidFill>
              </a:rPr>
              <a:t>The Rosetta Stone</a:t>
            </a:r>
          </a:p>
        </p:txBody>
      </p:sp>
      <p:pic>
        <p:nvPicPr>
          <p:cNvPr id="1026" name="Picture 2">
            <a:extLst>
              <a:ext uri="{FF2B5EF4-FFF2-40B4-BE49-F238E27FC236}">
                <a16:creationId xmlns:a16="http://schemas.microsoft.com/office/drawing/2014/main" id="{CC28CF3D-AE90-4B33-A53C-7EBCE2AF6B9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1969" r="2" b="14117"/>
          <a:stretch/>
        </p:blipFill>
        <p:spPr bwMode="auto">
          <a:xfrm>
            <a:off x="4654297" y="10"/>
            <a:ext cx="7537704"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235240A-40B8-49FC-89EF-854604DE5DA3}"/>
              </a:ext>
            </a:extLst>
          </p:cNvPr>
          <p:cNvSpPr/>
          <p:nvPr/>
        </p:nvSpPr>
        <p:spPr>
          <a:xfrm>
            <a:off x="47333" y="5894753"/>
            <a:ext cx="4355855" cy="646331"/>
          </a:xfrm>
          <a:prstGeom prst="rect">
            <a:avLst/>
          </a:prstGeom>
        </p:spPr>
        <p:txBody>
          <a:bodyPr wrap="square">
            <a:spAutoFit/>
          </a:bodyPr>
          <a:lstStyle/>
          <a:p>
            <a:r>
              <a:rPr lang="en-US" dirty="0">
                <a:hlinkClick r:id="rId3"/>
              </a:rPr>
              <a:t>https://www.britishmuseum.org/collection/galleries/egyptian-sculpture#&amp;gid=1&amp;pid=1</a:t>
            </a:r>
            <a:endParaRPr lang="en-US" dirty="0"/>
          </a:p>
        </p:txBody>
      </p:sp>
    </p:spTree>
    <p:extLst>
      <p:ext uri="{BB962C8B-B14F-4D97-AF65-F5344CB8AC3E}">
        <p14:creationId xmlns:p14="http://schemas.microsoft.com/office/powerpoint/2010/main" val="384532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Egyptian Sculptures - Pesach</Template>
  <TotalTime>4</TotalTime>
  <Words>1057</Words>
  <Application>Microsoft Office PowerPoint</Application>
  <PresentationFormat>Widescreen</PresentationFormat>
  <Paragraphs>42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Two Egyptian heads, as seen in the British Museum, street view https://artsandculture.google.com/streetview/british-museum/AwEp68JO4NECkQ?sv_lng=-0.1272956987031648&amp;sv_lat=51.51921726998366&amp;sv_h=259.54304445788244&amp;sv_p=2.939128950808467&amp;sv_pid=ObNdlduSG3c4MruJlaObcg&amp;sv_z=0.8825186401771719</vt:lpstr>
      <vt:lpstr>PowerPoint Presentation</vt:lpstr>
      <vt:lpstr>…and this house altarpiece, which shows Akhenaten and Queen Nefertiti with their three eldest daughters under the sun disc Aten. His rule must have been strong, his fame widespread and his power seemingly unquestioned. And yet just fifty years after his death, his name had been deleted from the royal lists, his buildings razed…</vt:lpstr>
      <vt:lpstr>List of Kings. Abydos, Egypt circa 1270 BCE https://www.britishmuseum.org/collection/galleries/egyptian-sculpture#&amp;gid=1&amp;pid=4</vt:lpstr>
      <vt:lpstr>PowerPoint Presentation</vt:lpstr>
      <vt:lpstr>The Rosetta Stone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esthe</dc:creator>
  <cp:lastModifiedBy>esthe</cp:lastModifiedBy>
  <cp:revision>1</cp:revision>
  <dcterms:created xsi:type="dcterms:W3CDTF">2020-03-31T04:15:44Z</dcterms:created>
  <dcterms:modified xsi:type="dcterms:W3CDTF">2020-03-31T04:20:20Z</dcterms:modified>
</cp:coreProperties>
</file>