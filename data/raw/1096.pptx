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8" r:id="rId2"/>
    <p:sldId id="265" r:id="rId3"/>
    <p:sldId id="263" r:id="rId4"/>
    <p:sldId id="264" r:id="rId5"/>
    <p:sldId id="259" r:id="rId6"/>
    <p:sldId id="260" r:id="rId7"/>
    <p:sldId id="261" r:id="rId8"/>
    <p:sldId id="262" r:id="rId9"/>
    <p:sldId id="266" r:id="rId10"/>
    <p:sldId id="267" r:id="rId11"/>
    <p:sldId id="268" r:id="rId12"/>
    <p:sldId id="269" r:id="rId13"/>
    <p:sldId id="271" r:id="rId14"/>
    <p:sldId id="272" r:id="rId15"/>
    <p:sldId id="273" r:id="rId16"/>
    <p:sldId id="274" r:id="rId17"/>
    <p:sldId id="270" r:id="rId18"/>
    <p:sldId id="275" r:id="rId19"/>
    <p:sldId id="276" r:id="rId20"/>
    <p:sldId id="27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1" d="100"/>
          <a:sy n="111" d="100"/>
        </p:scale>
        <p:origin x="51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C7A648-335B-4677-ACAF-42D82D34E99D}" type="datetimeFigureOut">
              <a:rPr lang="en-US" smtClean="0"/>
              <a:t>4/3/2019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F685CF-6777-4420-87C4-368FE8AE501C}" type="slidenum">
              <a:rPr lang="en-US" smtClean="0"/>
              <a:t>‹#›</a:t>
            </a:fld>
            <a:endParaRPr lang="en-US"/>
          </a:p>
        </p:txBody>
      </p:sp>
    </p:spTree>
    <p:extLst>
      <p:ext uri="{BB962C8B-B14F-4D97-AF65-F5344CB8AC3E}">
        <p14:creationId xmlns:p14="http://schemas.microsoft.com/office/powerpoint/2010/main" val="1369621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56244DD-9908-4705-BA43-7E0B24E9AB70}" type="slidenum">
              <a:rPr lang="en-US" smtClean="0"/>
              <a:t>1</a:t>
            </a:fld>
            <a:endParaRPr lang="en-US"/>
          </a:p>
        </p:txBody>
      </p:sp>
    </p:spTree>
    <p:extLst>
      <p:ext uri="{BB962C8B-B14F-4D97-AF65-F5344CB8AC3E}">
        <p14:creationId xmlns:p14="http://schemas.microsoft.com/office/powerpoint/2010/main" val="41571696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6664B-9EA8-4E41-9D50-2F791C4332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916AC21-C82F-4201-AA4C-0E2E6FEBD0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0BCBF54-B8E2-431B-83BD-8E9CAE606BF1}"/>
              </a:ext>
            </a:extLst>
          </p:cNvPr>
          <p:cNvSpPr>
            <a:spLocks noGrp="1"/>
          </p:cNvSpPr>
          <p:nvPr>
            <p:ph type="dt" sz="half" idx="10"/>
          </p:nvPr>
        </p:nvSpPr>
        <p:spPr/>
        <p:txBody>
          <a:bodyPr/>
          <a:lstStyle/>
          <a:p>
            <a:fld id="{29C5C53B-BC7F-4EF7-8C53-9E56C7F194CD}" type="datetimeFigureOut">
              <a:rPr lang="en-US" smtClean="0"/>
              <a:t>4/3/2019</a:t>
            </a:fld>
            <a:endParaRPr lang="en-US"/>
          </a:p>
        </p:txBody>
      </p:sp>
      <p:sp>
        <p:nvSpPr>
          <p:cNvPr id="5" name="Footer Placeholder 4">
            <a:extLst>
              <a:ext uri="{FF2B5EF4-FFF2-40B4-BE49-F238E27FC236}">
                <a16:creationId xmlns:a16="http://schemas.microsoft.com/office/drawing/2014/main" id="{CAF9DB1E-7852-4337-B090-8131A962A1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F2576C-26D6-4F2C-BDBE-D133507C11DC}"/>
              </a:ext>
            </a:extLst>
          </p:cNvPr>
          <p:cNvSpPr>
            <a:spLocks noGrp="1"/>
          </p:cNvSpPr>
          <p:nvPr>
            <p:ph type="sldNum" sz="quarter" idx="12"/>
          </p:nvPr>
        </p:nvSpPr>
        <p:spPr/>
        <p:txBody>
          <a:bodyPr/>
          <a:lstStyle/>
          <a:p>
            <a:fld id="{28DD685A-CEA3-476C-A058-4865FC28B144}" type="slidenum">
              <a:rPr lang="en-US" smtClean="0"/>
              <a:t>‹#›</a:t>
            </a:fld>
            <a:endParaRPr lang="en-US"/>
          </a:p>
        </p:txBody>
      </p:sp>
    </p:spTree>
    <p:extLst>
      <p:ext uri="{BB962C8B-B14F-4D97-AF65-F5344CB8AC3E}">
        <p14:creationId xmlns:p14="http://schemas.microsoft.com/office/powerpoint/2010/main" val="1470918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41C0D-1CA5-49D8-B525-4D798BB152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401272-911E-47D8-96CB-26F66CC5B33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D7324B-E991-4671-A10D-6506D4811A7B}"/>
              </a:ext>
            </a:extLst>
          </p:cNvPr>
          <p:cNvSpPr>
            <a:spLocks noGrp="1"/>
          </p:cNvSpPr>
          <p:nvPr>
            <p:ph type="dt" sz="half" idx="10"/>
          </p:nvPr>
        </p:nvSpPr>
        <p:spPr/>
        <p:txBody>
          <a:bodyPr/>
          <a:lstStyle/>
          <a:p>
            <a:fld id="{29C5C53B-BC7F-4EF7-8C53-9E56C7F194CD}" type="datetimeFigureOut">
              <a:rPr lang="en-US" smtClean="0"/>
              <a:t>4/3/2019</a:t>
            </a:fld>
            <a:endParaRPr lang="en-US"/>
          </a:p>
        </p:txBody>
      </p:sp>
      <p:sp>
        <p:nvSpPr>
          <p:cNvPr id="5" name="Footer Placeholder 4">
            <a:extLst>
              <a:ext uri="{FF2B5EF4-FFF2-40B4-BE49-F238E27FC236}">
                <a16:creationId xmlns:a16="http://schemas.microsoft.com/office/drawing/2014/main" id="{98651E56-BD61-422B-A823-EBA6A091AE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D6693C-0170-49DB-B5C4-2DC3D7C734ED}"/>
              </a:ext>
            </a:extLst>
          </p:cNvPr>
          <p:cNvSpPr>
            <a:spLocks noGrp="1"/>
          </p:cNvSpPr>
          <p:nvPr>
            <p:ph type="sldNum" sz="quarter" idx="12"/>
          </p:nvPr>
        </p:nvSpPr>
        <p:spPr/>
        <p:txBody>
          <a:bodyPr/>
          <a:lstStyle/>
          <a:p>
            <a:fld id="{28DD685A-CEA3-476C-A058-4865FC28B144}" type="slidenum">
              <a:rPr lang="en-US" smtClean="0"/>
              <a:t>‹#›</a:t>
            </a:fld>
            <a:endParaRPr lang="en-US"/>
          </a:p>
        </p:txBody>
      </p:sp>
    </p:spTree>
    <p:extLst>
      <p:ext uri="{BB962C8B-B14F-4D97-AF65-F5344CB8AC3E}">
        <p14:creationId xmlns:p14="http://schemas.microsoft.com/office/powerpoint/2010/main" val="1053500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6D9D7-B701-4804-8143-820F5349CD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05E9CF0-4C23-4AB9-AAF8-70AD2D63BBF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F4508F3-B8EE-4419-BD36-A9626FDFA552}"/>
              </a:ext>
            </a:extLst>
          </p:cNvPr>
          <p:cNvSpPr>
            <a:spLocks noGrp="1"/>
          </p:cNvSpPr>
          <p:nvPr>
            <p:ph type="dt" sz="half" idx="10"/>
          </p:nvPr>
        </p:nvSpPr>
        <p:spPr/>
        <p:txBody>
          <a:bodyPr/>
          <a:lstStyle/>
          <a:p>
            <a:fld id="{29C5C53B-BC7F-4EF7-8C53-9E56C7F194CD}" type="datetimeFigureOut">
              <a:rPr lang="en-US" smtClean="0"/>
              <a:t>4/3/2019</a:t>
            </a:fld>
            <a:endParaRPr lang="en-US"/>
          </a:p>
        </p:txBody>
      </p:sp>
      <p:sp>
        <p:nvSpPr>
          <p:cNvPr id="5" name="Footer Placeholder 4">
            <a:extLst>
              <a:ext uri="{FF2B5EF4-FFF2-40B4-BE49-F238E27FC236}">
                <a16:creationId xmlns:a16="http://schemas.microsoft.com/office/drawing/2014/main" id="{0C441E0E-E996-4F92-80DF-F17018F208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7E84A3-1AA1-424D-B4EC-0E5C500D6F52}"/>
              </a:ext>
            </a:extLst>
          </p:cNvPr>
          <p:cNvSpPr>
            <a:spLocks noGrp="1"/>
          </p:cNvSpPr>
          <p:nvPr>
            <p:ph type="sldNum" sz="quarter" idx="12"/>
          </p:nvPr>
        </p:nvSpPr>
        <p:spPr/>
        <p:txBody>
          <a:bodyPr/>
          <a:lstStyle/>
          <a:p>
            <a:fld id="{28DD685A-CEA3-476C-A058-4865FC28B144}" type="slidenum">
              <a:rPr lang="en-US" smtClean="0"/>
              <a:t>‹#›</a:t>
            </a:fld>
            <a:endParaRPr lang="en-US"/>
          </a:p>
        </p:txBody>
      </p:sp>
    </p:spTree>
    <p:extLst>
      <p:ext uri="{BB962C8B-B14F-4D97-AF65-F5344CB8AC3E}">
        <p14:creationId xmlns:p14="http://schemas.microsoft.com/office/powerpoint/2010/main" val="4016693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8043A-84A3-4D37-940D-E2DFB05E72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7A9341-2EFB-477D-98B7-28996852F40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7AE476E-CB5E-4348-9BF7-726B5CA16FC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21C8F6-19B1-48E6-9E00-F4173E6E379B}"/>
              </a:ext>
            </a:extLst>
          </p:cNvPr>
          <p:cNvSpPr>
            <a:spLocks noGrp="1"/>
          </p:cNvSpPr>
          <p:nvPr>
            <p:ph type="dt" sz="half" idx="10"/>
          </p:nvPr>
        </p:nvSpPr>
        <p:spPr/>
        <p:txBody>
          <a:bodyPr/>
          <a:lstStyle/>
          <a:p>
            <a:fld id="{29C5C53B-BC7F-4EF7-8C53-9E56C7F194CD}" type="datetimeFigureOut">
              <a:rPr lang="en-US" smtClean="0"/>
              <a:t>4/3/2019</a:t>
            </a:fld>
            <a:endParaRPr lang="en-US"/>
          </a:p>
        </p:txBody>
      </p:sp>
      <p:sp>
        <p:nvSpPr>
          <p:cNvPr id="6" name="Footer Placeholder 5">
            <a:extLst>
              <a:ext uri="{FF2B5EF4-FFF2-40B4-BE49-F238E27FC236}">
                <a16:creationId xmlns:a16="http://schemas.microsoft.com/office/drawing/2014/main" id="{FF609BA8-F2D0-41EF-B104-F3F98F8AF1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45E630-5531-4EBF-A0D1-8569489482E6}"/>
              </a:ext>
            </a:extLst>
          </p:cNvPr>
          <p:cNvSpPr>
            <a:spLocks noGrp="1"/>
          </p:cNvSpPr>
          <p:nvPr>
            <p:ph type="sldNum" sz="quarter" idx="12"/>
          </p:nvPr>
        </p:nvSpPr>
        <p:spPr/>
        <p:txBody>
          <a:bodyPr/>
          <a:lstStyle/>
          <a:p>
            <a:fld id="{28DD685A-CEA3-476C-A058-4865FC28B144}" type="slidenum">
              <a:rPr lang="en-US" smtClean="0"/>
              <a:t>‹#›</a:t>
            </a:fld>
            <a:endParaRPr lang="en-US"/>
          </a:p>
        </p:txBody>
      </p:sp>
    </p:spTree>
    <p:extLst>
      <p:ext uri="{BB962C8B-B14F-4D97-AF65-F5344CB8AC3E}">
        <p14:creationId xmlns:p14="http://schemas.microsoft.com/office/powerpoint/2010/main" val="578870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B3E28-DBCF-4494-8155-31785E40D6B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F2FF33-C9B0-40AD-A77F-9DE70461DE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2BA7F5A-4C76-43D8-A1F4-C820964B346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BBA85A3-3DE0-4887-B51B-9EB765F92E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FF7A8F0-940D-4B97-A1CB-F7EB7CE4996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6C0873F-18AA-417A-8DBC-48D530B7A9F8}"/>
              </a:ext>
            </a:extLst>
          </p:cNvPr>
          <p:cNvSpPr>
            <a:spLocks noGrp="1"/>
          </p:cNvSpPr>
          <p:nvPr>
            <p:ph type="dt" sz="half" idx="10"/>
          </p:nvPr>
        </p:nvSpPr>
        <p:spPr/>
        <p:txBody>
          <a:bodyPr/>
          <a:lstStyle/>
          <a:p>
            <a:fld id="{29C5C53B-BC7F-4EF7-8C53-9E56C7F194CD}" type="datetimeFigureOut">
              <a:rPr lang="en-US" smtClean="0"/>
              <a:t>4/3/2019</a:t>
            </a:fld>
            <a:endParaRPr lang="en-US"/>
          </a:p>
        </p:txBody>
      </p:sp>
      <p:sp>
        <p:nvSpPr>
          <p:cNvPr id="8" name="Footer Placeholder 7">
            <a:extLst>
              <a:ext uri="{FF2B5EF4-FFF2-40B4-BE49-F238E27FC236}">
                <a16:creationId xmlns:a16="http://schemas.microsoft.com/office/drawing/2014/main" id="{901296FB-DB4C-4125-B6F5-72CD6E7BAFF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4D74EA7-8D48-4AA4-A078-1D3EC6F1326A}"/>
              </a:ext>
            </a:extLst>
          </p:cNvPr>
          <p:cNvSpPr>
            <a:spLocks noGrp="1"/>
          </p:cNvSpPr>
          <p:nvPr>
            <p:ph type="sldNum" sz="quarter" idx="12"/>
          </p:nvPr>
        </p:nvSpPr>
        <p:spPr/>
        <p:txBody>
          <a:bodyPr/>
          <a:lstStyle/>
          <a:p>
            <a:fld id="{28DD685A-CEA3-476C-A058-4865FC28B144}" type="slidenum">
              <a:rPr lang="en-US" smtClean="0"/>
              <a:t>‹#›</a:t>
            </a:fld>
            <a:endParaRPr lang="en-US"/>
          </a:p>
        </p:txBody>
      </p:sp>
    </p:spTree>
    <p:extLst>
      <p:ext uri="{BB962C8B-B14F-4D97-AF65-F5344CB8AC3E}">
        <p14:creationId xmlns:p14="http://schemas.microsoft.com/office/powerpoint/2010/main" val="16056465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E95DA-E67D-43F2-83BE-06B0AB235A6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0DF3088-EF5E-42C7-AC82-7A3BCACCB31E}"/>
              </a:ext>
            </a:extLst>
          </p:cNvPr>
          <p:cNvSpPr>
            <a:spLocks noGrp="1"/>
          </p:cNvSpPr>
          <p:nvPr>
            <p:ph type="dt" sz="half" idx="10"/>
          </p:nvPr>
        </p:nvSpPr>
        <p:spPr/>
        <p:txBody>
          <a:bodyPr/>
          <a:lstStyle/>
          <a:p>
            <a:fld id="{29C5C53B-BC7F-4EF7-8C53-9E56C7F194CD}" type="datetimeFigureOut">
              <a:rPr lang="en-US" smtClean="0"/>
              <a:t>4/3/2019</a:t>
            </a:fld>
            <a:endParaRPr lang="en-US"/>
          </a:p>
        </p:txBody>
      </p:sp>
      <p:sp>
        <p:nvSpPr>
          <p:cNvPr id="4" name="Footer Placeholder 3">
            <a:extLst>
              <a:ext uri="{FF2B5EF4-FFF2-40B4-BE49-F238E27FC236}">
                <a16:creationId xmlns:a16="http://schemas.microsoft.com/office/drawing/2014/main" id="{5A11BBEE-3CC5-4418-8425-010CA97EB01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06D3B1-0F7A-4C76-B8A4-3C574E319B34}"/>
              </a:ext>
            </a:extLst>
          </p:cNvPr>
          <p:cNvSpPr>
            <a:spLocks noGrp="1"/>
          </p:cNvSpPr>
          <p:nvPr>
            <p:ph type="sldNum" sz="quarter" idx="12"/>
          </p:nvPr>
        </p:nvSpPr>
        <p:spPr/>
        <p:txBody>
          <a:bodyPr/>
          <a:lstStyle/>
          <a:p>
            <a:fld id="{28DD685A-CEA3-476C-A058-4865FC28B144}" type="slidenum">
              <a:rPr lang="en-US" smtClean="0"/>
              <a:t>‹#›</a:t>
            </a:fld>
            <a:endParaRPr lang="en-US"/>
          </a:p>
        </p:txBody>
      </p:sp>
    </p:spTree>
    <p:extLst>
      <p:ext uri="{BB962C8B-B14F-4D97-AF65-F5344CB8AC3E}">
        <p14:creationId xmlns:p14="http://schemas.microsoft.com/office/powerpoint/2010/main" val="8375971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C8EA46-67EC-45AB-92E9-9E605D40D423}"/>
              </a:ext>
            </a:extLst>
          </p:cNvPr>
          <p:cNvSpPr>
            <a:spLocks noGrp="1"/>
          </p:cNvSpPr>
          <p:nvPr>
            <p:ph type="dt" sz="half" idx="10"/>
          </p:nvPr>
        </p:nvSpPr>
        <p:spPr/>
        <p:txBody>
          <a:bodyPr/>
          <a:lstStyle/>
          <a:p>
            <a:fld id="{29C5C53B-BC7F-4EF7-8C53-9E56C7F194CD}" type="datetimeFigureOut">
              <a:rPr lang="en-US" smtClean="0"/>
              <a:t>4/3/2019</a:t>
            </a:fld>
            <a:endParaRPr lang="en-US"/>
          </a:p>
        </p:txBody>
      </p:sp>
      <p:sp>
        <p:nvSpPr>
          <p:cNvPr id="3" name="Footer Placeholder 2">
            <a:extLst>
              <a:ext uri="{FF2B5EF4-FFF2-40B4-BE49-F238E27FC236}">
                <a16:creationId xmlns:a16="http://schemas.microsoft.com/office/drawing/2014/main" id="{D14FA7F1-A92D-4F1F-9127-C8269DEABDA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54B3479-9F8F-4F70-9621-624382B8F082}"/>
              </a:ext>
            </a:extLst>
          </p:cNvPr>
          <p:cNvSpPr>
            <a:spLocks noGrp="1"/>
          </p:cNvSpPr>
          <p:nvPr>
            <p:ph type="sldNum" sz="quarter" idx="12"/>
          </p:nvPr>
        </p:nvSpPr>
        <p:spPr/>
        <p:txBody>
          <a:bodyPr/>
          <a:lstStyle/>
          <a:p>
            <a:fld id="{28DD685A-CEA3-476C-A058-4865FC28B144}" type="slidenum">
              <a:rPr lang="en-US" smtClean="0"/>
              <a:t>‹#›</a:t>
            </a:fld>
            <a:endParaRPr lang="en-US"/>
          </a:p>
        </p:txBody>
      </p:sp>
    </p:spTree>
    <p:extLst>
      <p:ext uri="{BB962C8B-B14F-4D97-AF65-F5344CB8AC3E}">
        <p14:creationId xmlns:p14="http://schemas.microsoft.com/office/powerpoint/2010/main" val="28794822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DB648-AAB3-4108-9067-4654C4CD12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DB7A125-68E9-425C-8F6F-A8BA473203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6FE49FE-4326-4853-A33C-51A55E51FB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1E5D5D3-C4CE-4B02-A4D4-A0C003E24901}"/>
              </a:ext>
            </a:extLst>
          </p:cNvPr>
          <p:cNvSpPr>
            <a:spLocks noGrp="1"/>
          </p:cNvSpPr>
          <p:nvPr>
            <p:ph type="dt" sz="half" idx="10"/>
          </p:nvPr>
        </p:nvSpPr>
        <p:spPr/>
        <p:txBody>
          <a:bodyPr/>
          <a:lstStyle/>
          <a:p>
            <a:fld id="{29C5C53B-BC7F-4EF7-8C53-9E56C7F194CD}" type="datetimeFigureOut">
              <a:rPr lang="en-US" smtClean="0"/>
              <a:t>4/3/2019</a:t>
            </a:fld>
            <a:endParaRPr lang="en-US"/>
          </a:p>
        </p:txBody>
      </p:sp>
      <p:sp>
        <p:nvSpPr>
          <p:cNvPr id="6" name="Footer Placeholder 5">
            <a:extLst>
              <a:ext uri="{FF2B5EF4-FFF2-40B4-BE49-F238E27FC236}">
                <a16:creationId xmlns:a16="http://schemas.microsoft.com/office/drawing/2014/main" id="{78C293F8-614E-4808-819D-F38C575E7C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81F4F2-63C2-42C5-B42D-2D43572E3E56}"/>
              </a:ext>
            </a:extLst>
          </p:cNvPr>
          <p:cNvSpPr>
            <a:spLocks noGrp="1"/>
          </p:cNvSpPr>
          <p:nvPr>
            <p:ph type="sldNum" sz="quarter" idx="12"/>
          </p:nvPr>
        </p:nvSpPr>
        <p:spPr/>
        <p:txBody>
          <a:bodyPr/>
          <a:lstStyle/>
          <a:p>
            <a:fld id="{28DD685A-CEA3-476C-A058-4865FC28B144}" type="slidenum">
              <a:rPr lang="en-US" smtClean="0"/>
              <a:t>‹#›</a:t>
            </a:fld>
            <a:endParaRPr lang="en-US"/>
          </a:p>
        </p:txBody>
      </p:sp>
    </p:spTree>
    <p:extLst>
      <p:ext uri="{BB962C8B-B14F-4D97-AF65-F5344CB8AC3E}">
        <p14:creationId xmlns:p14="http://schemas.microsoft.com/office/powerpoint/2010/main" val="2694884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03698-CB79-48A5-8FCA-7C43554CFB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F8495A2-6753-4FB4-91AD-91C3034C3F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BE0EA9C-FA53-4234-9621-2D171AE4FC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619212B-4EB5-4060-9688-30D08E6E0F5E}"/>
              </a:ext>
            </a:extLst>
          </p:cNvPr>
          <p:cNvSpPr>
            <a:spLocks noGrp="1"/>
          </p:cNvSpPr>
          <p:nvPr>
            <p:ph type="dt" sz="half" idx="10"/>
          </p:nvPr>
        </p:nvSpPr>
        <p:spPr/>
        <p:txBody>
          <a:bodyPr/>
          <a:lstStyle/>
          <a:p>
            <a:fld id="{29C5C53B-BC7F-4EF7-8C53-9E56C7F194CD}" type="datetimeFigureOut">
              <a:rPr lang="en-US" smtClean="0"/>
              <a:t>4/3/2019</a:t>
            </a:fld>
            <a:endParaRPr lang="en-US"/>
          </a:p>
        </p:txBody>
      </p:sp>
      <p:sp>
        <p:nvSpPr>
          <p:cNvPr id="6" name="Footer Placeholder 5">
            <a:extLst>
              <a:ext uri="{FF2B5EF4-FFF2-40B4-BE49-F238E27FC236}">
                <a16:creationId xmlns:a16="http://schemas.microsoft.com/office/drawing/2014/main" id="{224F9ACA-532C-40BD-BF5A-DE26FA368A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E53145-EA17-4957-B481-69ED92CC0810}"/>
              </a:ext>
            </a:extLst>
          </p:cNvPr>
          <p:cNvSpPr>
            <a:spLocks noGrp="1"/>
          </p:cNvSpPr>
          <p:nvPr>
            <p:ph type="sldNum" sz="quarter" idx="12"/>
          </p:nvPr>
        </p:nvSpPr>
        <p:spPr/>
        <p:txBody>
          <a:bodyPr/>
          <a:lstStyle/>
          <a:p>
            <a:fld id="{28DD685A-CEA3-476C-A058-4865FC28B144}" type="slidenum">
              <a:rPr lang="en-US" smtClean="0"/>
              <a:t>‹#›</a:t>
            </a:fld>
            <a:endParaRPr lang="en-US"/>
          </a:p>
        </p:txBody>
      </p:sp>
    </p:spTree>
    <p:extLst>
      <p:ext uri="{BB962C8B-B14F-4D97-AF65-F5344CB8AC3E}">
        <p14:creationId xmlns:p14="http://schemas.microsoft.com/office/powerpoint/2010/main" val="6636756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230A5-8E9F-4A01-9FE4-3867B6245D6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FD58FA1-C6D0-4A14-934F-3AE96FA0085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C9EC41-1179-4140-9245-845AC28CF3CE}"/>
              </a:ext>
            </a:extLst>
          </p:cNvPr>
          <p:cNvSpPr>
            <a:spLocks noGrp="1"/>
          </p:cNvSpPr>
          <p:nvPr>
            <p:ph type="dt" sz="half" idx="10"/>
          </p:nvPr>
        </p:nvSpPr>
        <p:spPr/>
        <p:txBody>
          <a:bodyPr/>
          <a:lstStyle/>
          <a:p>
            <a:fld id="{29C5C53B-BC7F-4EF7-8C53-9E56C7F194CD}" type="datetimeFigureOut">
              <a:rPr lang="en-US" smtClean="0"/>
              <a:t>4/3/2019</a:t>
            </a:fld>
            <a:endParaRPr lang="en-US"/>
          </a:p>
        </p:txBody>
      </p:sp>
      <p:sp>
        <p:nvSpPr>
          <p:cNvPr id="5" name="Footer Placeholder 4">
            <a:extLst>
              <a:ext uri="{FF2B5EF4-FFF2-40B4-BE49-F238E27FC236}">
                <a16:creationId xmlns:a16="http://schemas.microsoft.com/office/drawing/2014/main" id="{4A2CFFF9-4681-4321-B59D-533C7336DF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07E8AA-9021-49E7-BAA8-5E43ACD09477}"/>
              </a:ext>
            </a:extLst>
          </p:cNvPr>
          <p:cNvSpPr>
            <a:spLocks noGrp="1"/>
          </p:cNvSpPr>
          <p:nvPr>
            <p:ph type="sldNum" sz="quarter" idx="12"/>
          </p:nvPr>
        </p:nvSpPr>
        <p:spPr/>
        <p:txBody>
          <a:bodyPr/>
          <a:lstStyle/>
          <a:p>
            <a:fld id="{28DD685A-CEA3-476C-A058-4865FC28B144}" type="slidenum">
              <a:rPr lang="en-US" smtClean="0"/>
              <a:t>‹#›</a:t>
            </a:fld>
            <a:endParaRPr lang="en-US"/>
          </a:p>
        </p:txBody>
      </p:sp>
    </p:spTree>
    <p:extLst>
      <p:ext uri="{BB962C8B-B14F-4D97-AF65-F5344CB8AC3E}">
        <p14:creationId xmlns:p14="http://schemas.microsoft.com/office/powerpoint/2010/main" val="3140244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ADD43B-73D5-4F25-8BB2-6059029C12B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62A12F9-065E-4461-89BC-9D984D4A262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089735-4CC1-458D-8870-AA9DED278668}"/>
              </a:ext>
            </a:extLst>
          </p:cNvPr>
          <p:cNvSpPr>
            <a:spLocks noGrp="1"/>
          </p:cNvSpPr>
          <p:nvPr>
            <p:ph type="dt" sz="half" idx="10"/>
          </p:nvPr>
        </p:nvSpPr>
        <p:spPr/>
        <p:txBody>
          <a:bodyPr/>
          <a:lstStyle/>
          <a:p>
            <a:fld id="{29C5C53B-BC7F-4EF7-8C53-9E56C7F194CD}" type="datetimeFigureOut">
              <a:rPr lang="en-US" smtClean="0"/>
              <a:t>4/3/2019</a:t>
            </a:fld>
            <a:endParaRPr lang="en-US"/>
          </a:p>
        </p:txBody>
      </p:sp>
      <p:sp>
        <p:nvSpPr>
          <p:cNvPr id="5" name="Footer Placeholder 4">
            <a:extLst>
              <a:ext uri="{FF2B5EF4-FFF2-40B4-BE49-F238E27FC236}">
                <a16:creationId xmlns:a16="http://schemas.microsoft.com/office/drawing/2014/main" id="{1E028B81-9745-43B1-95AA-5FD1AD3B9B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132188-8999-435C-AD88-20EEDF9EB85E}"/>
              </a:ext>
            </a:extLst>
          </p:cNvPr>
          <p:cNvSpPr>
            <a:spLocks noGrp="1"/>
          </p:cNvSpPr>
          <p:nvPr>
            <p:ph type="sldNum" sz="quarter" idx="12"/>
          </p:nvPr>
        </p:nvSpPr>
        <p:spPr/>
        <p:txBody>
          <a:bodyPr/>
          <a:lstStyle/>
          <a:p>
            <a:fld id="{28DD685A-CEA3-476C-A058-4865FC28B144}" type="slidenum">
              <a:rPr lang="en-US" smtClean="0"/>
              <a:t>‹#›</a:t>
            </a:fld>
            <a:endParaRPr lang="en-US"/>
          </a:p>
        </p:txBody>
      </p:sp>
    </p:spTree>
    <p:extLst>
      <p:ext uri="{BB962C8B-B14F-4D97-AF65-F5344CB8AC3E}">
        <p14:creationId xmlns:p14="http://schemas.microsoft.com/office/powerpoint/2010/main" val="38197740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noFill/>
          <a:ln w="76200">
            <a:solidFill>
              <a:srgbClr val="0E7E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1582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EBF7A2-A9CF-41CF-A623-98C773D93B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E29BF18-C626-41D0-A728-2AB54641CE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48B20F-AC82-4D1B-9531-A57B139110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C5C53B-BC7F-4EF7-8C53-9E56C7F194CD}" type="datetimeFigureOut">
              <a:rPr lang="en-US" smtClean="0"/>
              <a:t>4/3/2019</a:t>
            </a:fld>
            <a:endParaRPr lang="en-US"/>
          </a:p>
        </p:txBody>
      </p:sp>
      <p:sp>
        <p:nvSpPr>
          <p:cNvPr id="5" name="Footer Placeholder 4">
            <a:extLst>
              <a:ext uri="{FF2B5EF4-FFF2-40B4-BE49-F238E27FC236}">
                <a16:creationId xmlns:a16="http://schemas.microsoft.com/office/drawing/2014/main" id="{5026CF28-2C35-4579-98B7-D3116C1827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9410951-4029-43FA-B2A7-0FB8A0F1A2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DD685A-CEA3-476C-A058-4865FC28B144}" type="slidenum">
              <a:rPr lang="en-US" smtClean="0"/>
              <a:t>‹#›</a:t>
            </a:fld>
            <a:endParaRPr lang="en-US"/>
          </a:p>
        </p:txBody>
      </p:sp>
    </p:spTree>
    <p:extLst>
      <p:ext uri="{BB962C8B-B14F-4D97-AF65-F5344CB8AC3E}">
        <p14:creationId xmlns:p14="http://schemas.microsoft.com/office/powerpoint/2010/main" val="3498700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3448437"/>
            <a:ext cx="12192000" cy="1323439"/>
          </a:xfrm>
          <a:prstGeom prst="rect">
            <a:avLst/>
          </a:prstGeom>
          <a:noFill/>
        </p:spPr>
        <p:txBody>
          <a:bodyPr wrap="square" rtlCol="0">
            <a:spAutoFit/>
          </a:bodyPr>
          <a:lstStyle/>
          <a:p>
            <a:pPr algn="ctr"/>
            <a:r>
              <a:rPr lang="en-US" sz="4000" dirty="0">
                <a:solidFill>
                  <a:srgbClr val="0E7E84"/>
                </a:solidFill>
              </a:rPr>
              <a:t>The Elements of the Chametz Prohibition</a:t>
            </a:r>
            <a:br>
              <a:rPr lang="en-US" sz="4000" dirty="0">
                <a:solidFill>
                  <a:srgbClr val="0E7E84"/>
                </a:solidFill>
              </a:rPr>
            </a:br>
            <a:r>
              <a:rPr lang="en-US" sz="4000" dirty="0">
                <a:solidFill>
                  <a:srgbClr val="0E7E84"/>
                </a:solidFill>
              </a:rPr>
              <a:t>and Responsibilities</a:t>
            </a:r>
          </a:p>
        </p:txBody>
      </p:sp>
      <p:sp>
        <p:nvSpPr>
          <p:cNvPr id="5" name="Rectangle 4"/>
          <p:cNvSpPr/>
          <p:nvPr/>
        </p:nvSpPr>
        <p:spPr>
          <a:xfrm>
            <a:off x="3096973" y="2516594"/>
            <a:ext cx="6697474" cy="1015663"/>
          </a:xfrm>
          <a:prstGeom prst="rect">
            <a:avLst/>
          </a:prstGeom>
        </p:spPr>
        <p:txBody>
          <a:bodyPr wrap="none">
            <a:spAutoFit/>
          </a:bodyPr>
          <a:lstStyle/>
          <a:p>
            <a:r>
              <a:rPr lang="en-US" sz="6000" b="1" dirty="0">
                <a:solidFill>
                  <a:srgbClr val="094F53"/>
                </a:solidFill>
              </a:rPr>
              <a:t>Pesach Crash Course</a:t>
            </a:r>
          </a:p>
        </p:txBody>
      </p:sp>
      <p:cxnSp>
        <p:nvCxnSpPr>
          <p:cNvPr id="7" name="Straight Connector 6"/>
          <p:cNvCxnSpPr/>
          <p:nvPr/>
        </p:nvCxnSpPr>
        <p:spPr>
          <a:xfrm>
            <a:off x="4848224" y="3494157"/>
            <a:ext cx="2495550" cy="0"/>
          </a:xfrm>
          <a:prstGeom prst="line">
            <a:avLst/>
          </a:prstGeom>
          <a:ln w="19050">
            <a:solidFill>
              <a:srgbClr val="094F53"/>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BCF6705C-A131-4D78-A350-34F5156AE998}"/>
              </a:ext>
            </a:extLst>
          </p:cNvPr>
          <p:cNvSpPr txBox="1"/>
          <p:nvPr/>
        </p:nvSpPr>
        <p:spPr>
          <a:xfrm>
            <a:off x="310551" y="517585"/>
            <a:ext cx="914400" cy="369332"/>
          </a:xfrm>
          <a:prstGeom prst="rect">
            <a:avLst/>
          </a:prstGeom>
          <a:noFill/>
        </p:spPr>
        <p:txBody>
          <a:bodyPr wrap="square" rtlCol="0">
            <a:spAutoFit/>
          </a:bodyPr>
          <a:lstStyle/>
          <a:p>
            <a:r>
              <a:rPr lang="en-US" dirty="0"/>
              <a:t>B”H</a:t>
            </a:r>
          </a:p>
        </p:txBody>
      </p:sp>
    </p:spTree>
    <p:extLst>
      <p:ext uri="{BB962C8B-B14F-4D97-AF65-F5344CB8AC3E}">
        <p14:creationId xmlns:p14="http://schemas.microsoft.com/office/powerpoint/2010/main" val="3228261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outVertical)">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1DB68E-3897-4AAC-8F8D-02D5B297F5C1}"/>
              </a:ext>
            </a:extLst>
          </p:cNvPr>
          <p:cNvSpPr txBox="1"/>
          <p:nvPr/>
        </p:nvSpPr>
        <p:spPr>
          <a:xfrm rot="10800000" flipH="1" flipV="1">
            <a:off x="49237" y="61712"/>
            <a:ext cx="12093526" cy="830997"/>
          </a:xfrm>
          <a:prstGeom prst="rect">
            <a:avLst/>
          </a:prstGeom>
          <a:solidFill>
            <a:srgbClr val="FF0000"/>
          </a:solidFill>
        </p:spPr>
        <p:txBody>
          <a:bodyPr wrap="square" rtlCol="0">
            <a:spAutoFit/>
          </a:bodyPr>
          <a:lstStyle/>
          <a:p>
            <a:pPr algn="ctr"/>
            <a:r>
              <a:rPr lang="en-US" sz="4800" b="1" dirty="0"/>
              <a:t>8 Mitzvot of Pesach</a:t>
            </a:r>
          </a:p>
        </p:txBody>
      </p:sp>
      <p:sp>
        <p:nvSpPr>
          <p:cNvPr id="3" name="TextBox 2">
            <a:extLst>
              <a:ext uri="{FF2B5EF4-FFF2-40B4-BE49-F238E27FC236}">
                <a16:creationId xmlns:a16="http://schemas.microsoft.com/office/drawing/2014/main" id="{CC411872-43A9-4E6B-90FA-5996F2CFA82B}"/>
              </a:ext>
            </a:extLst>
          </p:cNvPr>
          <p:cNvSpPr txBox="1"/>
          <p:nvPr/>
        </p:nvSpPr>
        <p:spPr>
          <a:xfrm>
            <a:off x="172278" y="1020417"/>
            <a:ext cx="11847444" cy="5970865"/>
          </a:xfrm>
          <a:prstGeom prst="rect">
            <a:avLst/>
          </a:prstGeom>
          <a:noFill/>
        </p:spPr>
        <p:txBody>
          <a:bodyPr wrap="square" rtlCol="0">
            <a:spAutoFit/>
          </a:bodyPr>
          <a:lstStyle/>
          <a:p>
            <a:r>
              <a:rPr lang="en-US" sz="2800" dirty="0"/>
              <a:t>1) </a:t>
            </a:r>
            <a:r>
              <a:rPr lang="en-US" sz="2800" dirty="0">
                <a:solidFill>
                  <a:srgbClr val="C00000"/>
                </a:solidFill>
              </a:rPr>
              <a:t>the prohibition against eating chametz from noon of the fourteenth of Nisan onward;</a:t>
            </a:r>
            <a:r>
              <a:rPr lang="en-US" sz="2800" dirty="0"/>
              <a:t> </a:t>
            </a:r>
            <a:br>
              <a:rPr lang="en-US" sz="2800" dirty="0"/>
            </a:br>
            <a:r>
              <a:rPr lang="en-US" sz="2800" dirty="0"/>
              <a:t>2) </a:t>
            </a:r>
            <a:r>
              <a:rPr lang="en-US" sz="2800" dirty="0">
                <a:solidFill>
                  <a:srgbClr val="C00000"/>
                </a:solidFill>
              </a:rPr>
              <a:t>the commandment to destroy all chametz from the fourteenth of Nisan onward;</a:t>
            </a:r>
            <a:r>
              <a:rPr lang="en-US" sz="2800" dirty="0"/>
              <a:t> </a:t>
            </a:r>
            <a:br>
              <a:rPr lang="en-US" sz="2800" dirty="0"/>
            </a:br>
            <a:r>
              <a:rPr lang="en-US" sz="2800" dirty="0"/>
              <a:t>3) </a:t>
            </a:r>
            <a:r>
              <a:rPr lang="en-US" sz="2800" dirty="0">
                <a:solidFill>
                  <a:srgbClr val="C00000"/>
                </a:solidFill>
              </a:rPr>
              <a:t>the prohibition against eating chametz for the seven days of Pesach;</a:t>
            </a:r>
            <a:r>
              <a:rPr lang="en-US" sz="2800" dirty="0"/>
              <a:t> </a:t>
            </a:r>
            <a:br>
              <a:rPr lang="en-US" sz="2800" dirty="0"/>
            </a:br>
            <a:r>
              <a:rPr lang="en-US" sz="2800" dirty="0"/>
              <a:t>4) </a:t>
            </a:r>
            <a:r>
              <a:rPr lang="en-US" sz="2800" dirty="0">
                <a:solidFill>
                  <a:srgbClr val="C00000"/>
                </a:solidFill>
              </a:rPr>
              <a:t>the prohibition against eating mixtures of chametz for the seven days of Pesach; </a:t>
            </a:r>
            <a:br>
              <a:rPr lang="en-US" sz="2800" dirty="0"/>
            </a:br>
            <a:r>
              <a:rPr lang="en-US" sz="2800" dirty="0"/>
              <a:t>5) </a:t>
            </a:r>
            <a:r>
              <a:rPr lang="en-US" sz="2800" dirty="0">
                <a:solidFill>
                  <a:srgbClr val="C00000"/>
                </a:solidFill>
              </a:rPr>
              <a:t>the prohibition against chametz being seen in our possession for the seven days of Pesach; </a:t>
            </a:r>
            <a:br>
              <a:rPr lang="en-US" sz="2800" dirty="0"/>
            </a:br>
            <a:r>
              <a:rPr lang="en-US" sz="2800" dirty="0"/>
              <a:t>6) </a:t>
            </a:r>
            <a:r>
              <a:rPr lang="en-US" sz="2800" dirty="0">
                <a:solidFill>
                  <a:srgbClr val="C00000"/>
                </a:solidFill>
              </a:rPr>
              <a:t>the prohibition against chametz being found in our possession for the seven days of Pesach; </a:t>
            </a:r>
            <a:br>
              <a:rPr lang="en-US" sz="2800" dirty="0"/>
            </a:br>
            <a:r>
              <a:rPr lang="en-US" sz="2800" dirty="0"/>
              <a:t>7) the commandment to eat matzah on the night of Pesach; </a:t>
            </a:r>
            <a:br>
              <a:rPr lang="en-US" sz="2800" dirty="0"/>
            </a:br>
            <a:r>
              <a:rPr lang="en-US" sz="2800" dirty="0"/>
              <a:t>8) the commandment to relate the story of the exodus from Egypt on that night.</a:t>
            </a:r>
          </a:p>
          <a:p>
            <a:endParaRPr lang="en-US" dirty="0"/>
          </a:p>
        </p:txBody>
      </p:sp>
    </p:spTree>
    <p:extLst>
      <p:ext uri="{BB962C8B-B14F-4D97-AF65-F5344CB8AC3E}">
        <p14:creationId xmlns:p14="http://schemas.microsoft.com/office/powerpoint/2010/main" val="18733499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C59798-C37D-4ACA-BE8F-42D3E3C39688}"/>
              </a:ext>
            </a:extLst>
          </p:cNvPr>
          <p:cNvSpPr txBox="1"/>
          <p:nvPr/>
        </p:nvSpPr>
        <p:spPr>
          <a:xfrm rot="10800000" flipH="1" flipV="1">
            <a:off x="49237" y="61712"/>
            <a:ext cx="12093526" cy="830997"/>
          </a:xfrm>
          <a:prstGeom prst="rect">
            <a:avLst/>
          </a:prstGeom>
          <a:solidFill>
            <a:srgbClr val="FF0000"/>
          </a:solidFill>
        </p:spPr>
        <p:txBody>
          <a:bodyPr wrap="square" rtlCol="0">
            <a:spAutoFit/>
          </a:bodyPr>
          <a:lstStyle/>
          <a:p>
            <a:pPr algn="ctr"/>
            <a:r>
              <a:rPr lang="en-US" sz="4800" b="1" dirty="0"/>
              <a:t>1. The Prohibition to Eat Chametz</a:t>
            </a:r>
          </a:p>
        </p:txBody>
      </p:sp>
      <p:sp>
        <p:nvSpPr>
          <p:cNvPr id="3" name="TextBox 2">
            <a:extLst>
              <a:ext uri="{FF2B5EF4-FFF2-40B4-BE49-F238E27FC236}">
                <a16:creationId xmlns:a16="http://schemas.microsoft.com/office/drawing/2014/main" id="{3A976F12-FFC1-4F70-90BA-E5CF2EE928AF}"/>
              </a:ext>
            </a:extLst>
          </p:cNvPr>
          <p:cNvSpPr txBox="1"/>
          <p:nvPr/>
        </p:nvSpPr>
        <p:spPr>
          <a:xfrm>
            <a:off x="98474" y="1350498"/>
            <a:ext cx="12093526" cy="646331"/>
          </a:xfrm>
          <a:prstGeom prst="rect">
            <a:avLst/>
          </a:prstGeom>
          <a:noFill/>
        </p:spPr>
        <p:txBody>
          <a:bodyPr wrap="square" rtlCol="0">
            <a:spAutoFit/>
          </a:bodyPr>
          <a:lstStyle/>
          <a:p>
            <a:pPr algn="ctr"/>
            <a:r>
              <a:rPr lang="en-US" sz="3600" dirty="0"/>
              <a:t>A. </a:t>
            </a:r>
            <a:r>
              <a:rPr lang="en-US" sz="3600" b="1" dirty="0"/>
              <a:t>On the Seven Days of Passover</a:t>
            </a:r>
          </a:p>
        </p:txBody>
      </p:sp>
      <p:sp>
        <p:nvSpPr>
          <p:cNvPr id="4" name="TextBox 3">
            <a:extLst>
              <a:ext uri="{FF2B5EF4-FFF2-40B4-BE49-F238E27FC236}">
                <a16:creationId xmlns:a16="http://schemas.microsoft.com/office/drawing/2014/main" id="{3CAFCA5D-A3E4-4B5A-8C6B-37A7E4E01945}"/>
              </a:ext>
            </a:extLst>
          </p:cNvPr>
          <p:cNvSpPr txBox="1"/>
          <p:nvPr/>
        </p:nvSpPr>
        <p:spPr>
          <a:xfrm>
            <a:off x="447822" y="2208628"/>
            <a:ext cx="11296356" cy="4462760"/>
          </a:xfrm>
          <a:prstGeom prst="rect">
            <a:avLst/>
          </a:prstGeom>
          <a:noFill/>
        </p:spPr>
        <p:txBody>
          <a:bodyPr wrap="square" rtlCol="0">
            <a:spAutoFit/>
          </a:bodyPr>
          <a:lstStyle/>
          <a:p>
            <a:r>
              <a:rPr lang="en-US" dirty="0"/>
              <a:t> </a:t>
            </a:r>
            <a:r>
              <a:rPr lang="he-IL" sz="2800" b="1" dirty="0"/>
              <a:t>יט</a:t>
            </a:r>
            <a:r>
              <a:rPr lang="he-IL" sz="2800" dirty="0"/>
              <a:t>שִׁבְעַ֣ת יָמִ֔ים שְׂאֹ֕ר לֹ֥א יִמָּצֵ֖א בְּבָֽתֵּיכֶ֑ם כִּ֣י | כָּל־אֹכֵ֣ל מַחְמֶ֗צֶת וְנִכְרְתָ֞ה הַנֶּ֤פֶשׁ הַהִוא֙ מֵֽעֲדַ֣ת יִשְׂרָאֵ֔ל בַּגֵּ֖ר וּבְאֶזְרַ֥ח הָאָֽרֶץ</a:t>
            </a:r>
            <a:r>
              <a:rPr lang="en-US" sz="2800" dirty="0"/>
              <a:t>:</a:t>
            </a:r>
          </a:p>
          <a:p>
            <a:r>
              <a:rPr lang="en-US" sz="2800" b="1" dirty="0"/>
              <a:t>Exodus 12.19</a:t>
            </a:r>
            <a:r>
              <a:rPr lang="en-US" sz="2800" b="1" dirty="0">
                <a:effectLst/>
              </a:rPr>
              <a:t> </a:t>
            </a:r>
            <a:r>
              <a:rPr lang="en-US" sz="2800" b="1" dirty="0">
                <a:solidFill>
                  <a:srgbClr val="C00000"/>
                </a:solidFill>
              </a:rPr>
              <a:t>For seven days</a:t>
            </a:r>
            <a:r>
              <a:rPr lang="en-US" sz="2800" dirty="0"/>
              <a:t>, leavening shall not be found in your houses, for whoever eats leavening that soul shall be cut </a:t>
            </a:r>
          </a:p>
          <a:p>
            <a:endParaRPr lang="en-US" sz="2800" dirty="0"/>
          </a:p>
          <a:p>
            <a:r>
              <a:rPr lang="he-IL" sz="3200" b="1" dirty="0"/>
              <a:t>ג</a:t>
            </a:r>
            <a:r>
              <a:rPr lang="en-US" sz="2800" b="1" dirty="0"/>
              <a:t> </a:t>
            </a:r>
            <a:r>
              <a:rPr lang="he-IL" sz="2800" dirty="0"/>
              <a:t>וַיֹּ֨אמֶר משֶׁ֜ה אֶל־הָעָ֗ם זָכ֞וֹר אֶת־הַיּ֤וֹם הַזֶּה֙ אֲשֶׁ֨ר יְצָאתֶ֤ם מִמִּצְרַ֨יִם֙ מִבֵּ֣ית עֲבָדִ֔ים כִּ֚י בְּחֹ֣זֶק יָ֔ד הוֹצִ֧יא יְהֹוָ֛ה אֶתְכֶ֖ם מִזֶּ֑ה וְלֹ֥א יֵֽאָכֵ֖ל חָמֵֽץ</a:t>
            </a:r>
            <a:r>
              <a:rPr lang="en-US" sz="2800" dirty="0"/>
              <a:t>:</a:t>
            </a:r>
          </a:p>
          <a:p>
            <a:r>
              <a:rPr lang="en-US" sz="2800" b="1" dirty="0"/>
              <a:t>Exodus 13.3 </a:t>
            </a:r>
            <a:r>
              <a:rPr lang="en-US" sz="2800" dirty="0"/>
              <a:t>Moses said to the people, "Remember this day, when you went out of Egypt, out of the house of bondage, for with a mighty hand, the Lord took you out of here, </a:t>
            </a:r>
            <a:r>
              <a:rPr lang="en-US" sz="2800" b="1" dirty="0">
                <a:solidFill>
                  <a:srgbClr val="C00000"/>
                </a:solidFill>
              </a:rPr>
              <a:t>and [therefore] no leaven shall be eaten.</a:t>
            </a:r>
            <a:endParaRPr lang="en-US" dirty="0"/>
          </a:p>
        </p:txBody>
      </p:sp>
    </p:spTree>
    <p:extLst>
      <p:ext uri="{BB962C8B-B14F-4D97-AF65-F5344CB8AC3E}">
        <p14:creationId xmlns:p14="http://schemas.microsoft.com/office/powerpoint/2010/main" val="2519190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C59798-C37D-4ACA-BE8F-42D3E3C39688}"/>
              </a:ext>
            </a:extLst>
          </p:cNvPr>
          <p:cNvSpPr txBox="1"/>
          <p:nvPr/>
        </p:nvSpPr>
        <p:spPr>
          <a:xfrm rot="10800000" flipH="1" flipV="1">
            <a:off x="49237" y="61712"/>
            <a:ext cx="12093526" cy="830997"/>
          </a:xfrm>
          <a:prstGeom prst="rect">
            <a:avLst/>
          </a:prstGeom>
          <a:solidFill>
            <a:srgbClr val="FF0000"/>
          </a:solidFill>
        </p:spPr>
        <p:txBody>
          <a:bodyPr wrap="square" rtlCol="0">
            <a:spAutoFit/>
          </a:bodyPr>
          <a:lstStyle/>
          <a:p>
            <a:pPr algn="ctr"/>
            <a:r>
              <a:rPr lang="en-US" sz="4800" b="1" dirty="0"/>
              <a:t>1. The Prohibition to Eat Chametz</a:t>
            </a:r>
          </a:p>
        </p:txBody>
      </p:sp>
      <p:sp>
        <p:nvSpPr>
          <p:cNvPr id="3" name="TextBox 2">
            <a:extLst>
              <a:ext uri="{FF2B5EF4-FFF2-40B4-BE49-F238E27FC236}">
                <a16:creationId xmlns:a16="http://schemas.microsoft.com/office/drawing/2014/main" id="{3A976F12-FFC1-4F70-90BA-E5CF2EE928AF}"/>
              </a:ext>
            </a:extLst>
          </p:cNvPr>
          <p:cNvSpPr txBox="1"/>
          <p:nvPr/>
        </p:nvSpPr>
        <p:spPr>
          <a:xfrm>
            <a:off x="49237" y="1227894"/>
            <a:ext cx="12093526" cy="646331"/>
          </a:xfrm>
          <a:prstGeom prst="rect">
            <a:avLst/>
          </a:prstGeom>
          <a:noFill/>
        </p:spPr>
        <p:txBody>
          <a:bodyPr wrap="square" rtlCol="0">
            <a:spAutoFit/>
          </a:bodyPr>
          <a:lstStyle/>
          <a:p>
            <a:pPr algn="ctr"/>
            <a:r>
              <a:rPr lang="en-US" sz="3600" dirty="0"/>
              <a:t>B. </a:t>
            </a:r>
            <a:r>
              <a:rPr lang="en-US" sz="3600" b="1" dirty="0"/>
              <a:t>After noon of the Eve of Pesach</a:t>
            </a:r>
          </a:p>
        </p:txBody>
      </p:sp>
      <p:sp>
        <p:nvSpPr>
          <p:cNvPr id="4" name="TextBox 3">
            <a:extLst>
              <a:ext uri="{FF2B5EF4-FFF2-40B4-BE49-F238E27FC236}">
                <a16:creationId xmlns:a16="http://schemas.microsoft.com/office/drawing/2014/main" id="{3CAFCA5D-A3E4-4B5A-8C6B-37A7E4E01945}"/>
              </a:ext>
            </a:extLst>
          </p:cNvPr>
          <p:cNvSpPr txBox="1"/>
          <p:nvPr/>
        </p:nvSpPr>
        <p:spPr>
          <a:xfrm>
            <a:off x="225083" y="1874225"/>
            <a:ext cx="11296356" cy="4832092"/>
          </a:xfrm>
          <a:prstGeom prst="rect">
            <a:avLst/>
          </a:prstGeom>
          <a:noFill/>
        </p:spPr>
        <p:txBody>
          <a:bodyPr wrap="square" rtlCol="0">
            <a:spAutoFit/>
          </a:bodyPr>
          <a:lstStyle/>
          <a:p>
            <a:r>
              <a:rPr lang="en-US" dirty="0"/>
              <a:t> </a:t>
            </a:r>
            <a:r>
              <a:rPr lang="he-IL" sz="2800" b="1" dirty="0"/>
              <a:t>ב</a:t>
            </a:r>
            <a:r>
              <a:rPr lang="he-IL" sz="2800" dirty="0"/>
              <a:t>וְזָבַ֥חְתָּ פֶּ֛סַח לַֽיהֹוָ֥ה אֱלֹהֶ֖יךָ צֹ֣אן וּבָקָ֑ר בַּמָּקוֹם֙ אֲשֶׁ֣ר יִבְחַ֣ר יְהֹוָ֔ה לְשַׁכֵּ֥ן שְׁמ֖וֹ שָֽׁם</a:t>
            </a:r>
            <a:r>
              <a:rPr lang="en-US" sz="2800" dirty="0"/>
              <a:t>:</a:t>
            </a:r>
          </a:p>
          <a:p>
            <a:r>
              <a:rPr lang="en-US" sz="2800" b="1" dirty="0"/>
              <a:t>Deuteronomy 16.2 </a:t>
            </a:r>
            <a:r>
              <a:rPr lang="en-US" sz="2800" dirty="0"/>
              <a:t>You shall slaughter the Passover sacrifice to the Lord, your God, [of the] flock, and [the Festival sacrifices of the] cattle, in the place which the Lord will choose to establish His Name therein</a:t>
            </a:r>
          </a:p>
          <a:p>
            <a:r>
              <a:rPr lang="en-US" sz="2800" dirty="0"/>
              <a:t> </a:t>
            </a:r>
          </a:p>
          <a:p>
            <a:r>
              <a:rPr lang="he-IL" sz="2800" b="1" dirty="0"/>
              <a:t>ג</a:t>
            </a:r>
            <a:r>
              <a:rPr lang="he-IL" sz="2800" dirty="0"/>
              <a:t>לֹֽא־תֹאכַ֤ל עָלָיו֙ חָמֵ֔ץ שִׁבְעַ֥ת יָמִ֛ים תֹּֽאכַל־עָלָ֥יו מַצּ֖וֹת לֶ֣חֶם עֹ֑נִי כִּ֣י בְחִפָּז֗וֹן יָצָ֨אתָ֙ מֵאֶ֣רֶץ מִצְרַ֔יִם לְמַ֣עַן תִּזְכֹּ֗ר אֶת־י֤וֹם צֵֽאתְךָ֙ מֵאֶ֣רֶץ מִצְרַ֔יִם כֹּ֖ל יְמֵ֥י חַיֶּֽיךָ</a:t>
            </a:r>
            <a:r>
              <a:rPr lang="en-US" sz="2800" dirty="0"/>
              <a:t>:</a:t>
            </a:r>
          </a:p>
          <a:p>
            <a:r>
              <a:rPr lang="en-US" sz="2800" b="1" dirty="0"/>
              <a:t>Deuteronomy 16.3 </a:t>
            </a:r>
            <a:r>
              <a:rPr lang="en-US" sz="2800" b="1" dirty="0">
                <a:solidFill>
                  <a:srgbClr val="C00000"/>
                </a:solidFill>
              </a:rPr>
              <a:t>You shall not eat leaven with it</a:t>
            </a:r>
            <a:r>
              <a:rPr lang="en-US" sz="2800" dirty="0"/>
              <a:t>; for seven days you shall eat with it matzoth, the bread of affliction, for in haste you went out of the land of Egypt, so that you shall remember the day when you went out of the land of Egypt all the days of your life.</a:t>
            </a:r>
            <a:endParaRPr lang="en-US" dirty="0"/>
          </a:p>
        </p:txBody>
      </p:sp>
    </p:spTree>
    <p:extLst>
      <p:ext uri="{BB962C8B-B14F-4D97-AF65-F5344CB8AC3E}">
        <p14:creationId xmlns:p14="http://schemas.microsoft.com/office/powerpoint/2010/main" val="750936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C59798-C37D-4ACA-BE8F-42D3E3C39688}"/>
              </a:ext>
            </a:extLst>
          </p:cNvPr>
          <p:cNvSpPr txBox="1"/>
          <p:nvPr/>
        </p:nvSpPr>
        <p:spPr>
          <a:xfrm rot="10800000" flipH="1" flipV="1">
            <a:off x="49237" y="61712"/>
            <a:ext cx="12093526" cy="830997"/>
          </a:xfrm>
          <a:prstGeom prst="rect">
            <a:avLst/>
          </a:prstGeom>
          <a:solidFill>
            <a:srgbClr val="FF0000"/>
          </a:solidFill>
        </p:spPr>
        <p:txBody>
          <a:bodyPr wrap="square" rtlCol="0">
            <a:spAutoFit/>
          </a:bodyPr>
          <a:lstStyle/>
          <a:p>
            <a:pPr algn="ctr"/>
            <a:r>
              <a:rPr lang="en-US" sz="4800" b="1" dirty="0"/>
              <a:t>1. The Prohibition to Eat Chametz</a:t>
            </a:r>
          </a:p>
        </p:txBody>
      </p:sp>
      <p:sp>
        <p:nvSpPr>
          <p:cNvPr id="3" name="TextBox 2">
            <a:extLst>
              <a:ext uri="{FF2B5EF4-FFF2-40B4-BE49-F238E27FC236}">
                <a16:creationId xmlns:a16="http://schemas.microsoft.com/office/drawing/2014/main" id="{B343CC9A-CFC6-4D83-989B-E385124805E8}"/>
              </a:ext>
            </a:extLst>
          </p:cNvPr>
          <p:cNvSpPr txBox="1"/>
          <p:nvPr/>
        </p:nvSpPr>
        <p:spPr>
          <a:xfrm>
            <a:off x="49237" y="1523315"/>
            <a:ext cx="12093526" cy="2308324"/>
          </a:xfrm>
          <a:prstGeom prst="rect">
            <a:avLst/>
          </a:prstGeom>
          <a:noFill/>
        </p:spPr>
        <p:txBody>
          <a:bodyPr wrap="square" rtlCol="0">
            <a:spAutoFit/>
          </a:bodyPr>
          <a:lstStyle/>
          <a:p>
            <a:pPr algn="ctr"/>
            <a:r>
              <a:rPr lang="en-US" sz="3600" dirty="0"/>
              <a:t>c. Late morning; Rabbinical Prohibition</a:t>
            </a:r>
            <a:br>
              <a:rPr lang="en-US" sz="3600" dirty="0"/>
            </a:br>
            <a:r>
              <a:rPr lang="en-US" sz="3600" dirty="0"/>
              <a:t>d. After Pesach; Rabbinical Prohibition for Chametz</a:t>
            </a:r>
            <a:br>
              <a:rPr lang="en-US" sz="3600" dirty="0"/>
            </a:br>
            <a:r>
              <a:rPr lang="en-US" sz="3600" dirty="0"/>
              <a:t>that was in a Jew’s possession over Pesach</a:t>
            </a:r>
            <a:br>
              <a:rPr lang="en-US" sz="3600" dirty="0"/>
            </a:br>
            <a:r>
              <a:rPr lang="en-US" sz="3600" dirty="0"/>
              <a:t>e. As a mixture with other foods; Exodus 12.20</a:t>
            </a:r>
          </a:p>
        </p:txBody>
      </p:sp>
    </p:spTree>
    <p:extLst>
      <p:ext uri="{BB962C8B-B14F-4D97-AF65-F5344CB8AC3E}">
        <p14:creationId xmlns:p14="http://schemas.microsoft.com/office/powerpoint/2010/main" val="913404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C59798-C37D-4ACA-BE8F-42D3E3C39688}"/>
              </a:ext>
            </a:extLst>
          </p:cNvPr>
          <p:cNvSpPr txBox="1"/>
          <p:nvPr/>
        </p:nvSpPr>
        <p:spPr>
          <a:xfrm rot="10800000" flipH="1" flipV="1">
            <a:off x="49237" y="61712"/>
            <a:ext cx="12093526" cy="830997"/>
          </a:xfrm>
          <a:prstGeom prst="rect">
            <a:avLst/>
          </a:prstGeom>
          <a:solidFill>
            <a:srgbClr val="FF0000"/>
          </a:solidFill>
        </p:spPr>
        <p:txBody>
          <a:bodyPr wrap="square" rtlCol="0">
            <a:spAutoFit/>
          </a:bodyPr>
          <a:lstStyle/>
          <a:p>
            <a:pPr algn="ctr"/>
            <a:r>
              <a:rPr lang="en-US" sz="4800" b="1" dirty="0"/>
              <a:t>1. The Prohibition to Eat Chametz</a:t>
            </a:r>
          </a:p>
        </p:txBody>
      </p:sp>
      <p:sp>
        <p:nvSpPr>
          <p:cNvPr id="3" name="TextBox 2">
            <a:extLst>
              <a:ext uri="{FF2B5EF4-FFF2-40B4-BE49-F238E27FC236}">
                <a16:creationId xmlns:a16="http://schemas.microsoft.com/office/drawing/2014/main" id="{EA737415-D67B-400E-94C2-D62B9C99FED9}"/>
              </a:ext>
            </a:extLst>
          </p:cNvPr>
          <p:cNvSpPr txBox="1"/>
          <p:nvPr/>
        </p:nvSpPr>
        <p:spPr>
          <a:xfrm>
            <a:off x="49237" y="1523315"/>
            <a:ext cx="12093526" cy="646331"/>
          </a:xfrm>
          <a:prstGeom prst="rect">
            <a:avLst/>
          </a:prstGeom>
          <a:noFill/>
        </p:spPr>
        <p:txBody>
          <a:bodyPr wrap="square" rtlCol="0">
            <a:spAutoFit/>
          </a:bodyPr>
          <a:lstStyle/>
          <a:p>
            <a:pPr algn="ctr"/>
            <a:r>
              <a:rPr lang="en-US" sz="3600" dirty="0"/>
              <a:t>e. </a:t>
            </a:r>
            <a:r>
              <a:rPr lang="en-US" sz="3600" b="1" dirty="0"/>
              <a:t>As a mixture with other foods</a:t>
            </a:r>
          </a:p>
        </p:txBody>
      </p:sp>
      <p:sp>
        <p:nvSpPr>
          <p:cNvPr id="4" name="TextBox 3">
            <a:extLst>
              <a:ext uri="{FF2B5EF4-FFF2-40B4-BE49-F238E27FC236}">
                <a16:creationId xmlns:a16="http://schemas.microsoft.com/office/drawing/2014/main" id="{38E9D5B8-90DC-4467-A9C2-785BC07A0285}"/>
              </a:ext>
            </a:extLst>
          </p:cNvPr>
          <p:cNvSpPr txBox="1"/>
          <p:nvPr/>
        </p:nvSpPr>
        <p:spPr>
          <a:xfrm>
            <a:off x="447822" y="2208628"/>
            <a:ext cx="11296356" cy="2092881"/>
          </a:xfrm>
          <a:prstGeom prst="rect">
            <a:avLst/>
          </a:prstGeom>
          <a:noFill/>
        </p:spPr>
        <p:txBody>
          <a:bodyPr wrap="square" rtlCol="0">
            <a:spAutoFit/>
          </a:bodyPr>
          <a:lstStyle/>
          <a:p>
            <a:r>
              <a:rPr lang="en-US" dirty="0"/>
              <a:t>  </a:t>
            </a:r>
          </a:p>
          <a:p>
            <a:r>
              <a:rPr lang="he-IL" sz="2800" b="1" dirty="0"/>
              <a:t>יט</a:t>
            </a:r>
            <a:r>
              <a:rPr lang="he-IL" sz="2800" dirty="0"/>
              <a:t>שִׁבְעַ֣ת יָמִ֔ים שְׂאֹ֕ר לֹ֥א יִמָּצֵ֖א בְּבָֽתֵּיכֶ֑ם </a:t>
            </a:r>
            <a:r>
              <a:rPr lang="he-IL" sz="2800" b="1" dirty="0">
                <a:solidFill>
                  <a:srgbClr val="C00000"/>
                </a:solidFill>
              </a:rPr>
              <a:t>כִּ֣י | כָּל־אֹכֵ֣ל מַחְמֶ֗צֶת </a:t>
            </a:r>
            <a:r>
              <a:rPr lang="he-IL" sz="2800" dirty="0"/>
              <a:t>וְנִכְרְתָ֞ה הַנֶּ֤פֶשׁ הַהִוא֙ מֵֽעֲדַ֣ת יִשְׂרָאֵ֔ל בַּגֵּ֖ר וּבְאֶזְרַ֥ח הָאָֽרֶץ</a:t>
            </a:r>
            <a:r>
              <a:rPr lang="en-US" sz="2800" dirty="0"/>
              <a:t>:</a:t>
            </a:r>
          </a:p>
          <a:p>
            <a:r>
              <a:rPr lang="en-US" sz="2800" b="1" dirty="0"/>
              <a:t>Exodus 12.19</a:t>
            </a:r>
            <a:r>
              <a:rPr lang="en-US" sz="2800" b="1" dirty="0">
                <a:effectLst/>
              </a:rPr>
              <a:t> </a:t>
            </a:r>
            <a:r>
              <a:rPr lang="en-US" sz="2800" dirty="0"/>
              <a:t>For seven days, leavening shall not be found in your houses, for </a:t>
            </a:r>
            <a:r>
              <a:rPr lang="en-US" sz="2800" b="1" dirty="0">
                <a:solidFill>
                  <a:srgbClr val="C00000"/>
                </a:solidFill>
              </a:rPr>
              <a:t>whoever eats leavening </a:t>
            </a:r>
            <a:r>
              <a:rPr lang="en-US" sz="2800" dirty="0"/>
              <a:t>that soul shall be cut</a:t>
            </a:r>
            <a:endParaRPr lang="en-US" dirty="0"/>
          </a:p>
        </p:txBody>
      </p:sp>
    </p:spTree>
    <p:extLst>
      <p:ext uri="{BB962C8B-B14F-4D97-AF65-F5344CB8AC3E}">
        <p14:creationId xmlns:p14="http://schemas.microsoft.com/office/powerpoint/2010/main" val="2489234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C59798-C37D-4ACA-BE8F-42D3E3C39688}"/>
              </a:ext>
            </a:extLst>
          </p:cNvPr>
          <p:cNvSpPr txBox="1"/>
          <p:nvPr/>
        </p:nvSpPr>
        <p:spPr>
          <a:xfrm rot="10800000" flipH="1" flipV="1">
            <a:off x="49237" y="61712"/>
            <a:ext cx="12093526" cy="830997"/>
          </a:xfrm>
          <a:prstGeom prst="rect">
            <a:avLst/>
          </a:prstGeom>
          <a:solidFill>
            <a:srgbClr val="FF0000"/>
          </a:solidFill>
        </p:spPr>
        <p:txBody>
          <a:bodyPr wrap="square" rtlCol="0">
            <a:spAutoFit/>
          </a:bodyPr>
          <a:lstStyle/>
          <a:p>
            <a:pPr algn="ctr"/>
            <a:r>
              <a:rPr lang="en-US" sz="4800" b="1" dirty="0"/>
              <a:t>1. The Prohibition to Eat Chametz</a:t>
            </a:r>
          </a:p>
        </p:txBody>
      </p:sp>
      <p:sp>
        <p:nvSpPr>
          <p:cNvPr id="3" name="TextBox 2">
            <a:extLst>
              <a:ext uri="{FF2B5EF4-FFF2-40B4-BE49-F238E27FC236}">
                <a16:creationId xmlns:a16="http://schemas.microsoft.com/office/drawing/2014/main" id="{2ED98696-D7EA-4D53-9E45-C6D50C81694F}"/>
              </a:ext>
            </a:extLst>
          </p:cNvPr>
          <p:cNvSpPr txBox="1"/>
          <p:nvPr/>
        </p:nvSpPr>
        <p:spPr>
          <a:xfrm>
            <a:off x="196948" y="1523315"/>
            <a:ext cx="11802794" cy="2862322"/>
          </a:xfrm>
          <a:prstGeom prst="rect">
            <a:avLst/>
          </a:prstGeom>
          <a:noFill/>
          <a:ln>
            <a:solidFill>
              <a:schemeClr val="tx1"/>
            </a:solidFill>
          </a:ln>
        </p:spPr>
        <p:txBody>
          <a:bodyPr wrap="square" rtlCol="0">
            <a:spAutoFit/>
          </a:bodyPr>
          <a:lstStyle/>
          <a:p>
            <a:pPr algn="ctr"/>
            <a:r>
              <a:rPr lang="en-US" sz="3600" dirty="0"/>
              <a:t>f. </a:t>
            </a:r>
            <a:r>
              <a:rPr lang="en-US" sz="3600" b="1" dirty="0"/>
              <a:t>Even a Minute Amount</a:t>
            </a:r>
          </a:p>
          <a:p>
            <a:pPr algn="ctr"/>
            <a:endParaRPr lang="en-US" sz="3600" dirty="0"/>
          </a:p>
          <a:p>
            <a:pPr marL="742950" indent="-742950">
              <a:buAutoNum type="arabicPeriod"/>
            </a:pPr>
            <a:r>
              <a:rPr lang="en-US" sz="3600" dirty="0"/>
              <a:t>Something that after Passover will be allowed</a:t>
            </a:r>
          </a:p>
          <a:p>
            <a:pPr marL="742950" indent="-742950">
              <a:buAutoNum type="arabicPeriod"/>
            </a:pPr>
            <a:r>
              <a:rPr lang="en-US" sz="3600" dirty="0"/>
              <a:t>Stringency of the Prohibition</a:t>
            </a:r>
          </a:p>
          <a:p>
            <a:r>
              <a:rPr lang="en-US" sz="3600" dirty="0"/>
              <a:t>3.    Accustomed to Eating Chametz </a:t>
            </a:r>
          </a:p>
        </p:txBody>
      </p:sp>
    </p:spTree>
    <p:extLst>
      <p:ext uri="{BB962C8B-B14F-4D97-AF65-F5344CB8AC3E}">
        <p14:creationId xmlns:p14="http://schemas.microsoft.com/office/powerpoint/2010/main" val="27471817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2F1B78C-76A3-4430-951A-17A3E950A06D}"/>
              </a:ext>
            </a:extLst>
          </p:cNvPr>
          <p:cNvSpPr txBox="1"/>
          <p:nvPr/>
        </p:nvSpPr>
        <p:spPr>
          <a:xfrm rot="10800000" flipH="1" flipV="1">
            <a:off x="49237" y="61712"/>
            <a:ext cx="12093526" cy="830997"/>
          </a:xfrm>
          <a:prstGeom prst="rect">
            <a:avLst/>
          </a:prstGeom>
          <a:solidFill>
            <a:srgbClr val="FF0000"/>
          </a:solidFill>
        </p:spPr>
        <p:txBody>
          <a:bodyPr wrap="square" rtlCol="0">
            <a:spAutoFit/>
          </a:bodyPr>
          <a:lstStyle/>
          <a:p>
            <a:pPr algn="ctr"/>
            <a:r>
              <a:rPr lang="en-US" sz="4800" b="1" dirty="0"/>
              <a:t>2. </a:t>
            </a:r>
            <a:r>
              <a:rPr lang="en-US" sz="4400" b="1" dirty="0"/>
              <a:t>The Prohibition to Derive Benefit from Chametz</a:t>
            </a:r>
          </a:p>
        </p:txBody>
      </p:sp>
      <p:sp>
        <p:nvSpPr>
          <p:cNvPr id="5" name="TextBox 4">
            <a:extLst>
              <a:ext uri="{FF2B5EF4-FFF2-40B4-BE49-F238E27FC236}">
                <a16:creationId xmlns:a16="http://schemas.microsoft.com/office/drawing/2014/main" id="{C6C52869-6893-4B3D-BEB9-AC93A0B6201F}"/>
              </a:ext>
            </a:extLst>
          </p:cNvPr>
          <p:cNvSpPr txBox="1"/>
          <p:nvPr/>
        </p:nvSpPr>
        <p:spPr>
          <a:xfrm>
            <a:off x="328553" y="1440002"/>
            <a:ext cx="11296356" cy="2739211"/>
          </a:xfrm>
          <a:prstGeom prst="rect">
            <a:avLst/>
          </a:prstGeom>
          <a:noFill/>
          <a:ln>
            <a:solidFill>
              <a:schemeClr val="tx1"/>
            </a:solidFill>
          </a:ln>
        </p:spPr>
        <p:txBody>
          <a:bodyPr wrap="square" rtlCol="0">
            <a:spAutoFit/>
          </a:bodyPr>
          <a:lstStyle/>
          <a:p>
            <a:r>
              <a:rPr lang="en-US" dirty="0"/>
              <a:t>  </a:t>
            </a:r>
            <a:r>
              <a:rPr lang="he-IL" sz="3200" b="1" dirty="0"/>
              <a:t>ג</a:t>
            </a:r>
            <a:r>
              <a:rPr lang="en-US" sz="2800" b="1" dirty="0"/>
              <a:t> </a:t>
            </a:r>
            <a:r>
              <a:rPr lang="he-IL" sz="2800" dirty="0"/>
              <a:t>וַיֹּ֨אמֶר משֶׁ֜ה אֶל־הָעָ֗ם זָכ֞וֹר אֶת־הַיּ֤וֹם הַזֶּה֙ אֲשֶׁ֨ר יְצָאתֶ֤ם מִמִּצְרַ֨יִם֙ מִבֵּ֣ית עֲבָדִ֔ים כִּ֚י בְּחֹ֣זֶק יָ֔ד הוֹצִ֧יא יְהֹוָ֛ה אֶתְכֶ֖ם מִזֶּ֑ה וְלֹ֥א יֵֽאָכֵ֖ל חָמֵֽץ</a:t>
            </a:r>
            <a:r>
              <a:rPr lang="en-US" sz="2800" dirty="0"/>
              <a:t>:</a:t>
            </a:r>
          </a:p>
          <a:p>
            <a:endParaRPr lang="en-US" sz="2800" dirty="0"/>
          </a:p>
          <a:p>
            <a:r>
              <a:rPr lang="en-US" sz="2800" b="1" dirty="0"/>
              <a:t>Exodus 13.3 </a:t>
            </a:r>
            <a:r>
              <a:rPr lang="en-US" sz="2800" dirty="0"/>
              <a:t>Moses said to the people, "Remember this day, when you went out of Egypt, out of the house of bondage, for with a mighty hand, the Lord took you out of here, </a:t>
            </a:r>
            <a:r>
              <a:rPr lang="en-US" sz="2800" b="1" dirty="0">
                <a:solidFill>
                  <a:srgbClr val="C00000"/>
                </a:solidFill>
              </a:rPr>
              <a:t>and [therefore] no leaven shall be eaten.</a:t>
            </a:r>
            <a:endParaRPr lang="en-US" dirty="0"/>
          </a:p>
        </p:txBody>
      </p:sp>
    </p:spTree>
    <p:extLst>
      <p:ext uri="{BB962C8B-B14F-4D97-AF65-F5344CB8AC3E}">
        <p14:creationId xmlns:p14="http://schemas.microsoft.com/office/powerpoint/2010/main" val="1018947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2F1B78C-76A3-4430-951A-17A3E950A06D}"/>
              </a:ext>
            </a:extLst>
          </p:cNvPr>
          <p:cNvSpPr txBox="1"/>
          <p:nvPr/>
        </p:nvSpPr>
        <p:spPr>
          <a:xfrm rot="10800000" flipH="1" flipV="1">
            <a:off x="49237" y="61712"/>
            <a:ext cx="12093526" cy="830997"/>
          </a:xfrm>
          <a:prstGeom prst="rect">
            <a:avLst/>
          </a:prstGeom>
          <a:solidFill>
            <a:srgbClr val="FF0000"/>
          </a:solidFill>
        </p:spPr>
        <p:txBody>
          <a:bodyPr wrap="square" rtlCol="0">
            <a:spAutoFit/>
          </a:bodyPr>
          <a:lstStyle/>
          <a:p>
            <a:pPr algn="ctr"/>
            <a:r>
              <a:rPr lang="en-US" sz="4800" b="1" dirty="0"/>
              <a:t>2. </a:t>
            </a:r>
            <a:r>
              <a:rPr lang="en-US" sz="4400" b="1" dirty="0"/>
              <a:t>The Prohibition to Derive Benefit from Chametz</a:t>
            </a:r>
          </a:p>
        </p:txBody>
      </p:sp>
      <p:sp>
        <p:nvSpPr>
          <p:cNvPr id="2" name="TextBox 1">
            <a:extLst>
              <a:ext uri="{FF2B5EF4-FFF2-40B4-BE49-F238E27FC236}">
                <a16:creationId xmlns:a16="http://schemas.microsoft.com/office/drawing/2014/main" id="{12F7C82E-1124-4562-9831-60BD4802BD1C}"/>
              </a:ext>
            </a:extLst>
          </p:cNvPr>
          <p:cNvSpPr txBox="1"/>
          <p:nvPr/>
        </p:nvSpPr>
        <p:spPr>
          <a:xfrm>
            <a:off x="265043" y="1444487"/>
            <a:ext cx="11688417" cy="4154984"/>
          </a:xfrm>
          <a:prstGeom prst="rect">
            <a:avLst/>
          </a:prstGeom>
          <a:noFill/>
          <a:ln>
            <a:solidFill>
              <a:schemeClr val="tx1"/>
            </a:solidFill>
          </a:ln>
        </p:spPr>
        <p:txBody>
          <a:bodyPr wrap="square" rtlCol="0">
            <a:spAutoFit/>
          </a:bodyPr>
          <a:lstStyle/>
          <a:p>
            <a:r>
              <a:rPr lang="en-US" sz="4400" dirty="0"/>
              <a:t>a. Biblical</a:t>
            </a:r>
          </a:p>
          <a:p>
            <a:r>
              <a:rPr lang="en-US" sz="4400" dirty="0"/>
              <a:t>b. Follows the setup of the Prohibition to Eat Chametz</a:t>
            </a:r>
            <a:br>
              <a:rPr lang="en-US" sz="4400" dirty="0"/>
            </a:br>
            <a:r>
              <a:rPr lang="en-US" sz="4400" dirty="0"/>
              <a:t>c. On Pesach</a:t>
            </a:r>
            <a:br>
              <a:rPr lang="en-US" sz="4400" dirty="0"/>
            </a:br>
            <a:r>
              <a:rPr lang="en-US" sz="4400" dirty="0"/>
              <a:t>d. After noon of the Eve of Pesach</a:t>
            </a:r>
            <a:br>
              <a:rPr lang="en-US" sz="4400" dirty="0"/>
            </a:br>
            <a:r>
              <a:rPr lang="en-US" sz="4400" dirty="0"/>
              <a:t>e. Late morning; Rabbinical Prohibition</a:t>
            </a:r>
          </a:p>
        </p:txBody>
      </p:sp>
    </p:spTree>
    <p:extLst>
      <p:ext uri="{BB962C8B-B14F-4D97-AF65-F5344CB8AC3E}">
        <p14:creationId xmlns:p14="http://schemas.microsoft.com/office/powerpoint/2010/main" val="3326376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2F1B78C-76A3-4430-951A-17A3E950A06D}"/>
              </a:ext>
            </a:extLst>
          </p:cNvPr>
          <p:cNvSpPr txBox="1"/>
          <p:nvPr/>
        </p:nvSpPr>
        <p:spPr>
          <a:xfrm rot="10800000" flipH="1" flipV="1">
            <a:off x="49237" y="61712"/>
            <a:ext cx="12093526" cy="830997"/>
          </a:xfrm>
          <a:prstGeom prst="rect">
            <a:avLst/>
          </a:prstGeom>
          <a:solidFill>
            <a:srgbClr val="FF0000"/>
          </a:solidFill>
        </p:spPr>
        <p:txBody>
          <a:bodyPr wrap="square" rtlCol="0">
            <a:spAutoFit/>
          </a:bodyPr>
          <a:lstStyle/>
          <a:p>
            <a:pPr algn="ctr"/>
            <a:r>
              <a:rPr lang="en-US" sz="4800" b="1" dirty="0"/>
              <a:t>2. </a:t>
            </a:r>
            <a:r>
              <a:rPr lang="en-US" sz="4400" b="1" dirty="0"/>
              <a:t>The Prohibition to Derive Benefit from Chametz</a:t>
            </a:r>
          </a:p>
        </p:txBody>
      </p:sp>
      <p:sp>
        <p:nvSpPr>
          <p:cNvPr id="2" name="TextBox 1">
            <a:extLst>
              <a:ext uri="{FF2B5EF4-FFF2-40B4-BE49-F238E27FC236}">
                <a16:creationId xmlns:a16="http://schemas.microsoft.com/office/drawing/2014/main" id="{28F17C2E-EEF1-448F-BE26-C8FBAC8F0005}"/>
              </a:ext>
            </a:extLst>
          </p:cNvPr>
          <p:cNvSpPr txBox="1"/>
          <p:nvPr/>
        </p:nvSpPr>
        <p:spPr>
          <a:xfrm>
            <a:off x="516835" y="1537252"/>
            <a:ext cx="11211339" cy="5016758"/>
          </a:xfrm>
          <a:prstGeom prst="rect">
            <a:avLst/>
          </a:prstGeom>
          <a:noFill/>
          <a:ln>
            <a:solidFill>
              <a:schemeClr val="tx1"/>
            </a:solidFill>
          </a:ln>
        </p:spPr>
        <p:txBody>
          <a:bodyPr wrap="square" rtlCol="0">
            <a:spAutoFit/>
          </a:bodyPr>
          <a:lstStyle/>
          <a:p>
            <a:pPr algn="ctr"/>
            <a:r>
              <a:rPr lang="en-US" sz="4000" b="1" dirty="0"/>
              <a:t>Practical Examples</a:t>
            </a:r>
          </a:p>
          <a:p>
            <a:pPr marL="342900" indent="-342900">
              <a:buAutoNum type="arabicPeriod"/>
            </a:pPr>
            <a:r>
              <a:rPr lang="en-US" sz="4000" dirty="0"/>
              <a:t>Do not Sell Chametz on Pesach to Non-Jews</a:t>
            </a:r>
          </a:p>
          <a:p>
            <a:pPr marL="342900" indent="-342900">
              <a:buAutoNum type="arabicPeriod"/>
            </a:pPr>
            <a:endParaRPr lang="en-US" sz="4000" dirty="0"/>
          </a:p>
          <a:p>
            <a:pPr marL="342900" indent="-342900">
              <a:buAutoNum type="arabicPeriod"/>
            </a:pPr>
            <a:r>
              <a:rPr lang="en-US" sz="4000" dirty="0"/>
              <a:t>Do Not Gift Chametz to Non-Jews</a:t>
            </a:r>
          </a:p>
          <a:p>
            <a:pPr marL="342900" indent="-342900">
              <a:buAutoNum type="arabicPeriod"/>
            </a:pPr>
            <a:endParaRPr lang="en-US" sz="4000" dirty="0"/>
          </a:p>
          <a:p>
            <a:pPr marL="342900" indent="-342900">
              <a:buAutoNum type="arabicPeriod"/>
            </a:pPr>
            <a:r>
              <a:rPr lang="en-US" sz="4000" dirty="0"/>
              <a:t>Do not Feed Chametz to your Animals</a:t>
            </a:r>
          </a:p>
          <a:p>
            <a:pPr marL="342900" indent="-342900">
              <a:buAutoNum type="arabicPeriod"/>
            </a:pPr>
            <a:endParaRPr lang="en-US" sz="4000" dirty="0"/>
          </a:p>
          <a:p>
            <a:pPr marL="342900" indent="-342900">
              <a:buAutoNum type="arabicPeriod"/>
            </a:pPr>
            <a:r>
              <a:rPr lang="en-US" sz="4000" dirty="0"/>
              <a:t>Do not use as Firewood for Warmth or Cooking</a:t>
            </a:r>
          </a:p>
        </p:txBody>
      </p:sp>
    </p:spTree>
    <p:extLst>
      <p:ext uri="{BB962C8B-B14F-4D97-AF65-F5344CB8AC3E}">
        <p14:creationId xmlns:p14="http://schemas.microsoft.com/office/powerpoint/2010/main" val="3989965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2F1B78C-76A3-4430-951A-17A3E950A06D}"/>
              </a:ext>
            </a:extLst>
          </p:cNvPr>
          <p:cNvSpPr txBox="1"/>
          <p:nvPr/>
        </p:nvSpPr>
        <p:spPr>
          <a:xfrm rot="10800000" flipH="1" flipV="1">
            <a:off x="49237" y="61712"/>
            <a:ext cx="12093526" cy="830997"/>
          </a:xfrm>
          <a:prstGeom prst="rect">
            <a:avLst/>
          </a:prstGeom>
          <a:solidFill>
            <a:srgbClr val="FF0000"/>
          </a:solidFill>
        </p:spPr>
        <p:txBody>
          <a:bodyPr wrap="square" rtlCol="0">
            <a:spAutoFit/>
          </a:bodyPr>
          <a:lstStyle/>
          <a:p>
            <a:pPr algn="ctr"/>
            <a:r>
              <a:rPr lang="en-US" sz="4800" b="1" dirty="0"/>
              <a:t>3. </a:t>
            </a:r>
            <a:r>
              <a:rPr lang="en-US" sz="4400" b="1" dirty="0"/>
              <a:t>The Prohibition to Own or Possess Chametz</a:t>
            </a:r>
          </a:p>
        </p:txBody>
      </p:sp>
      <p:sp>
        <p:nvSpPr>
          <p:cNvPr id="2" name="TextBox 1">
            <a:extLst>
              <a:ext uri="{FF2B5EF4-FFF2-40B4-BE49-F238E27FC236}">
                <a16:creationId xmlns:a16="http://schemas.microsoft.com/office/drawing/2014/main" id="{8456D4AE-8C45-4C4E-91A3-890FBFDE9948}"/>
              </a:ext>
            </a:extLst>
          </p:cNvPr>
          <p:cNvSpPr txBox="1"/>
          <p:nvPr/>
        </p:nvSpPr>
        <p:spPr>
          <a:xfrm>
            <a:off x="238539" y="1033670"/>
            <a:ext cx="11648661" cy="6155531"/>
          </a:xfrm>
          <a:prstGeom prst="rect">
            <a:avLst/>
          </a:prstGeom>
          <a:noFill/>
        </p:spPr>
        <p:txBody>
          <a:bodyPr wrap="square" rtlCol="0">
            <a:spAutoFit/>
          </a:bodyPr>
          <a:lstStyle/>
          <a:p>
            <a:r>
              <a:rPr lang="he-IL" sz="2800" b="1" dirty="0"/>
              <a:t>יט</a:t>
            </a:r>
            <a:r>
              <a:rPr lang="he-IL" sz="2800" dirty="0"/>
              <a:t>שִׁבְעַ֣ת יָמִ֔ים שְׂאֹ֕ר לֹ֥א יִמָּצֵ֖א בְּבָֽתֵּיכֶ֑ם כִּ֣י | כָּל־אֹכֵ֣ל מַחְמֶ֗צֶת וְנִכְרְתָ֞ה הַנֶּ֤פֶשׁ הַהִוא֙ מֵֽעֲדַ֣ת יִשְׂרָאֵ֔ל בַּגֵּ֖ר וּבְאֶזְרַ֥ח הָאָֽרֶץ</a:t>
            </a:r>
            <a:r>
              <a:rPr lang="en-US" sz="2800" dirty="0"/>
              <a:t>:</a:t>
            </a:r>
            <a:endParaRPr lang="en-US" sz="2800" b="1" dirty="0"/>
          </a:p>
          <a:p>
            <a:r>
              <a:rPr lang="en-US" sz="3200" b="1" dirty="0"/>
              <a:t>Exodus 12.19 </a:t>
            </a:r>
            <a:r>
              <a:rPr lang="en-US" sz="3200" dirty="0"/>
              <a:t>For seven days, </a:t>
            </a:r>
            <a:r>
              <a:rPr lang="en-US" sz="3200" b="1" dirty="0">
                <a:solidFill>
                  <a:srgbClr val="C00000"/>
                </a:solidFill>
              </a:rPr>
              <a:t>leavening shall not be FOUND in your houses</a:t>
            </a:r>
            <a:r>
              <a:rPr lang="en-US" sz="3200" dirty="0"/>
              <a:t>, for whoever eats leavening that soul shall be cut off from the community of Israel, both among the strangers and the native born of the land.</a:t>
            </a:r>
          </a:p>
          <a:p>
            <a:r>
              <a:rPr lang="en-US" sz="3200" dirty="0"/>
              <a:t>  </a:t>
            </a:r>
          </a:p>
          <a:p>
            <a:r>
              <a:rPr lang="en-US" sz="3200" dirty="0"/>
              <a:t>"</a:t>
            </a:r>
            <a:r>
              <a:rPr lang="en-US" sz="3200" b="1" dirty="0"/>
              <a:t> </a:t>
            </a:r>
            <a:r>
              <a:rPr lang="he-IL" sz="3200" b="1" dirty="0"/>
              <a:t>ז</a:t>
            </a:r>
            <a:r>
              <a:rPr lang="he-IL" sz="3200" dirty="0"/>
              <a:t>מַצּוֹת֙ יֵֽאָכֵ֔ל אֵ֖ת שִׁבְעַ֣ת הַיָּמִ֑ים וְלֹא־יֵֽרָאֶ֨ה לְךָ֜ חָמֵ֗ץ וְלֹא־יֵֽרָאֶ֥ה לְךָ֛ שְׂאֹ֖ר בְּכָל־גְּבֻלֶֽךָ</a:t>
            </a:r>
            <a:r>
              <a:rPr lang="en-US" sz="3200" dirty="0"/>
              <a:t>:</a:t>
            </a:r>
          </a:p>
          <a:p>
            <a:r>
              <a:rPr lang="en-US" sz="3200" b="1" dirty="0"/>
              <a:t>Exodus 13.7 </a:t>
            </a:r>
            <a:r>
              <a:rPr lang="en-US" sz="3200" dirty="0"/>
              <a:t>Unleavened cakes shall be eaten during the seven days, and </a:t>
            </a:r>
            <a:r>
              <a:rPr lang="en-US" sz="3200" b="1" dirty="0">
                <a:solidFill>
                  <a:srgbClr val="C00000"/>
                </a:solidFill>
              </a:rPr>
              <a:t>no leaven shall be SEEN of yours [in your possession], and no leavening shall be seen of yours </a:t>
            </a:r>
            <a:r>
              <a:rPr lang="en-US" sz="3200" b="1" u="sng" dirty="0">
                <a:solidFill>
                  <a:srgbClr val="C00000"/>
                </a:solidFill>
              </a:rPr>
              <a:t>throughout all of your borders</a:t>
            </a:r>
          </a:p>
          <a:p>
            <a:endParaRPr lang="en-US" dirty="0"/>
          </a:p>
        </p:txBody>
      </p:sp>
    </p:spTree>
    <p:extLst>
      <p:ext uri="{BB962C8B-B14F-4D97-AF65-F5344CB8AC3E}">
        <p14:creationId xmlns:p14="http://schemas.microsoft.com/office/powerpoint/2010/main" val="4074616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FC1232-BDD2-4209-8690-E1E65CE0AE46}"/>
              </a:ext>
            </a:extLst>
          </p:cNvPr>
          <p:cNvSpPr txBox="1"/>
          <p:nvPr/>
        </p:nvSpPr>
        <p:spPr>
          <a:xfrm rot="10800000" flipH="1" flipV="1">
            <a:off x="49237" y="61712"/>
            <a:ext cx="12093526" cy="830997"/>
          </a:xfrm>
          <a:prstGeom prst="rect">
            <a:avLst/>
          </a:prstGeom>
          <a:solidFill>
            <a:srgbClr val="FF0000"/>
          </a:solidFill>
        </p:spPr>
        <p:txBody>
          <a:bodyPr wrap="square" rtlCol="0">
            <a:spAutoFit/>
          </a:bodyPr>
          <a:lstStyle/>
          <a:p>
            <a:pPr algn="ctr"/>
            <a:r>
              <a:rPr lang="en-US" sz="4800" b="1" dirty="0"/>
              <a:t>3. </a:t>
            </a:r>
            <a:r>
              <a:rPr lang="en-US" sz="4400" b="1" dirty="0"/>
              <a:t>The Prohibition to Own or Possess Chametz</a:t>
            </a:r>
          </a:p>
        </p:txBody>
      </p:sp>
      <p:sp>
        <p:nvSpPr>
          <p:cNvPr id="3" name="TextBox 2">
            <a:extLst>
              <a:ext uri="{FF2B5EF4-FFF2-40B4-BE49-F238E27FC236}">
                <a16:creationId xmlns:a16="http://schemas.microsoft.com/office/drawing/2014/main" id="{72693E5B-C9ED-4201-985D-61483EE9ED80}"/>
              </a:ext>
            </a:extLst>
          </p:cNvPr>
          <p:cNvSpPr txBox="1"/>
          <p:nvPr/>
        </p:nvSpPr>
        <p:spPr>
          <a:xfrm>
            <a:off x="384313" y="1311965"/>
            <a:ext cx="11449878" cy="5016758"/>
          </a:xfrm>
          <a:prstGeom prst="rect">
            <a:avLst/>
          </a:prstGeom>
          <a:noFill/>
          <a:ln>
            <a:solidFill>
              <a:schemeClr val="tx1"/>
            </a:solidFill>
          </a:ln>
        </p:spPr>
        <p:txBody>
          <a:bodyPr wrap="square" rtlCol="0">
            <a:spAutoFit/>
          </a:bodyPr>
          <a:lstStyle/>
          <a:p>
            <a:pPr algn="ctr"/>
            <a:r>
              <a:rPr lang="en-US" sz="4000" b="1" dirty="0"/>
              <a:t>Details of Prohibition</a:t>
            </a:r>
          </a:p>
          <a:p>
            <a:pPr marL="342900" indent="-342900">
              <a:buAutoNum type="arabicPeriod"/>
            </a:pPr>
            <a:r>
              <a:rPr lang="en-US" sz="4000" dirty="0"/>
              <a:t>Two Prohibitions</a:t>
            </a:r>
          </a:p>
          <a:p>
            <a:pPr marL="342900" indent="-342900">
              <a:buAutoNum type="arabicPeriod"/>
            </a:pPr>
            <a:endParaRPr lang="en-US" sz="4000" dirty="0"/>
          </a:p>
          <a:p>
            <a:pPr marL="342900" indent="-342900">
              <a:buAutoNum type="arabicPeriod"/>
            </a:pPr>
            <a:r>
              <a:rPr lang="en-US" sz="4000" dirty="0"/>
              <a:t>Biblical Prohibition; Safeguard?</a:t>
            </a:r>
          </a:p>
          <a:p>
            <a:pPr marL="342900" indent="-342900">
              <a:buAutoNum type="arabicPeriod"/>
            </a:pPr>
            <a:endParaRPr lang="en-US" sz="4000" dirty="0"/>
          </a:p>
          <a:p>
            <a:pPr marL="342900" indent="-342900">
              <a:buAutoNum type="arabicPeriod"/>
            </a:pPr>
            <a:r>
              <a:rPr lang="en-US" sz="4000" dirty="0"/>
              <a:t>Yours, not others</a:t>
            </a:r>
          </a:p>
          <a:p>
            <a:pPr marL="342900" indent="-342900">
              <a:buAutoNum type="arabicPeriod"/>
            </a:pPr>
            <a:endParaRPr lang="en-US" sz="4000" dirty="0"/>
          </a:p>
          <a:p>
            <a:pPr marL="342900" indent="-342900">
              <a:buAutoNum type="arabicPeriod"/>
            </a:pPr>
            <a:r>
              <a:rPr lang="en-US" sz="4000" dirty="0"/>
              <a:t>Chametz, not non-edible</a:t>
            </a:r>
          </a:p>
        </p:txBody>
      </p:sp>
    </p:spTree>
    <p:extLst>
      <p:ext uri="{BB962C8B-B14F-4D97-AF65-F5344CB8AC3E}">
        <p14:creationId xmlns:p14="http://schemas.microsoft.com/office/powerpoint/2010/main" val="3783043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FC1232-BDD2-4209-8690-E1E65CE0AE46}"/>
              </a:ext>
            </a:extLst>
          </p:cNvPr>
          <p:cNvSpPr txBox="1"/>
          <p:nvPr/>
        </p:nvSpPr>
        <p:spPr>
          <a:xfrm rot="10800000" flipH="1" flipV="1">
            <a:off x="49237" y="61712"/>
            <a:ext cx="12093526" cy="830997"/>
          </a:xfrm>
          <a:prstGeom prst="rect">
            <a:avLst/>
          </a:prstGeom>
          <a:solidFill>
            <a:srgbClr val="FF0000"/>
          </a:solidFill>
        </p:spPr>
        <p:txBody>
          <a:bodyPr wrap="square" rtlCol="0">
            <a:spAutoFit/>
          </a:bodyPr>
          <a:lstStyle/>
          <a:p>
            <a:pPr algn="ctr"/>
            <a:r>
              <a:rPr lang="en-US" sz="4800" b="1" dirty="0"/>
              <a:t>3. </a:t>
            </a:r>
            <a:r>
              <a:rPr lang="en-US" sz="4400" b="1" dirty="0"/>
              <a:t>The Prohibition to Own or Possess Chametz</a:t>
            </a:r>
          </a:p>
        </p:txBody>
      </p:sp>
      <p:sp>
        <p:nvSpPr>
          <p:cNvPr id="3" name="TextBox 2">
            <a:extLst>
              <a:ext uri="{FF2B5EF4-FFF2-40B4-BE49-F238E27FC236}">
                <a16:creationId xmlns:a16="http://schemas.microsoft.com/office/drawing/2014/main" id="{72693E5B-C9ED-4201-985D-61483EE9ED80}"/>
              </a:ext>
            </a:extLst>
          </p:cNvPr>
          <p:cNvSpPr txBox="1"/>
          <p:nvPr/>
        </p:nvSpPr>
        <p:spPr>
          <a:xfrm>
            <a:off x="384313" y="1311965"/>
            <a:ext cx="11449878" cy="5016758"/>
          </a:xfrm>
          <a:prstGeom prst="rect">
            <a:avLst/>
          </a:prstGeom>
          <a:noFill/>
          <a:ln>
            <a:solidFill>
              <a:schemeClr val="tx1"/>
            </a:solidFill>
          </a:ln>
        </p:spPr>
        <p:txBody>
          <a:bodyPr wrap="square" rtlCol="0">
            <a:spAutoFit/>
          </a:bodyPr>
          <a:lstStyle/>
          <a:p>
            <a:pPr algn="ctr"/>
            <a:r>
              <a:rPr lang="en-US" sz="4000" b="1" dirty="0"/>
              <a:t>Practical Points</a:t>
            </a:r>
          </a:p>
          <a:p>
            <a:pPr marL="342900" indent="-342900">
              <a:buAutoNum type="arabicPeriod"/>
            </a:pPr>
            <a:r>
              <a:rPr lang="en-US" sz="4000" dirty="0"/>
              <a:t> In Your Property and Outside</a:t>
            </a:r>
          </a:p>
          <a:p>
            <a:pPr marL="342900" indent="-342900">
              <a:buAutoNum type="arabicPeriod"/>
            </a:pPr>
            <a:endParaRPr lang="en-US" sz="4000" dirty="0"/>
          </a:p>
          <a:p>
            <a:pPr marL="342900" indent="-342900">
              <a:buAutoNum type="arabicPeriod"/>
            </a:pPr>
            <a:r>
              <a:rPr lang="en-US" sz="4000" dirty="0"/>
              <a:t> Business. Stock Ownership?</a:t>
            </a:r>
          </a:p>
          <a:p>
            <a:pPr marL="342900" indent="-342900">
              <a:buAutoNum type="arabicPeriod"/>
            </a:pPr>
            <a:endParaRPr lang="en-US" sz="4000" dirty="0"/>
          </a:p>
          <a:p>
            <a:pPr marL="342900" indent="-342900">
              <a:buAutoNum type="arabicPeriod"/>
            </a:pPr>
            <a:r>
              <a:rPr lang="en-US" sz="4000" dirty="0"/>
              <a:t>Why We Search for and Sell Our Chametz</a:t>
            </a:r>
          </a:p>
          <a:p>
            <a:pPr marL="342900" indent="-342900">
              <a:buAutoNum type="arabicPeriod"/>
            </a:pPr>
            <a:endParaRPr lang="en-US" sz="4000" dirty="0"/>
          </a:p>
          <a:p>
            <a:pPr marL="342900" indent="-342900">
              <a:buAutoNum type="arabicPeriod"/>
            </a:pPr>
            <a:endParaRPr lang="en-US" sz="4000" dirty="0"/>
          </a:p>
        </p:txBody>
      </p:sp>
    </p:spTree>
    <p:extLst>
      <p:ext uri="{BB962C8B-B14F-4D97-AF65-F5344CB8AC3E}">
        <p14:creationId xmlns:p14="http://schemas.microsoft.com/office/powerpoint/2010/main" val="2979215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FC1232-BDD2-4209-8690-E1E65CE0AE46}"/>
              </a:ext>
            </a:extLst>
          </p:cNvPr>
          <p:cNvSpPr txBox="1"/>
          <p:nvPr/>
        </p:nvSpPr>
        <p:spPr>
          <a:xfrm rot="10800000" flipH="1" flipV="1">
            <a:off x="49237" y="52734"/>
            <a:ext cx="12093526" cy="769441"/>
          </a:xfrm>
          <a:prstGeom prst="rect">
            <a:avLst/>
          </a:prstGeom>
          <a:solidFill>
            <a:srgbClr val="FF0000"/>
          </a:solidFill>
        </p:spPr>
        <p:txBody>
          <a:bodyPr wrap="square" rtlCol="0">
            <a:spAutoFit/>
          </a:bodyPr>
          <a:lstStyle/>
          <a:p>
            <a:pPr algn="ctr"/>
            <a:r>
              <a:rPr lang="en-US" sz="4400" b="1" dirty="0"/>
              <a:t>4. Obligation to Dispose of Chametz Before Pesach</a:t>
            </a:r>
          </a:p>
        </p:txBody>
      </p:sp>
      <p:sp>
        <p:nvSpPr>
          <p:cNvPr id="3" name="TextBox 2">
            <a:extLst>
              <a:ext uri="{FF2B5EF4-FFF2-40B4-BE49-F238E27FC236}">
                <a16:creationId xmlns:a16="http://schemas.microsoft.com/office/drawing/2014/main" id="{72693E5B-C9ED-4201-985D-61483EE9ED80}"/>
              </a:ext>
            </a:extLst>
          </p:cNvPr>
          <p:cNvSpPr txBox="1"/>
          <p:nvPr/>
        </p:nvSpPr>
        <p:spPr>
          <a:xfrm>
            <a:off x="384313" y="1311965"/>
            <a:ext cx="11449878" cy="3816429"/>
          </a:xfrm>
          <a:prstGeom prst="rect">
            <a:avLst/>
          </a:prstGeom>
          <a:noFill/>
          <a:ln>
            <a:solidFill>
              <a:schemeClr val="tx1"/>
            </a:solidFill>
          </a:ln>
        </p:spPr>
        <p:txBody>
          <a:bodyPr wrap="square" rtlCol="0">
            <a:spAutoFit/>
          </a:bodyPr>
          <a:lstStyle/>
          <a:p>
            <a:r>
              <a:rPr lang="en-US" dirty="0"/>
              <a:t> </a:t>
            </a:r>
            <a:endParaRPr lang="en-US" sz="3200" dirty="0"/>
          </a:p>
          <a:p>
            <a:r>
              <a:rPr lang="he-IL" sz="3200" b="1" dirty="0"/>
              <a:t>טו </a:t>
            </a:r>
            <a:r>
              <a:rPr lang="he-IL" sz="3200" dirty="0"/>
              <a:t>שִׁבְעַ֤ת יָמִים֙ מַצּ֣וֹת תֹּאכֵ֔לוּ אַ֚ךְ בַּיּ֣וֹם הָֽרִאשׁ֔וֹן </a:t>
            </a:r>
            <a:r>
              <a:rPr lang="he-IL" sz="3200" dirty="0">
                <a:solidFill>
                  <a:srgbClr val="C00000"/>
                </a:solidFill>
              </a:rPr>
              <a:t>תַּשְׁבִּ֥יתוּ שְּׂאֹ֖ר מִבָּֽתֵּיכֶ֑ם </a:t>
            </a:r>
            <a:r>
              <a:rPr lang="he-IL" sz="3200" dirty="0"/>
              <a:t>כִּ֣י | כָּל־אֹכֵ֣ל חָמֵ֗ץ וְנִכְרְתָ֞ה הַנֶּ֤פֶשׁ הַהִוא֙ מִיִּשְׂרָאֵ֔ל מִיּ֥וֹם הָֽרִאשֹׁ֖ן עַד־י֥וֹם הַשְּׁבִעִֽי</a:t>
            </a:r>
            <a:r>
              <a:rPr lang="en-US" sz="3200" dirty="0"/>
              <a:t>:</a:t>
            </a:r>
          </a:p>
          <a:p>
            <a:endParaRPr lang="en-US" sz="3200" b="1" dirty="0"/>
          </a:p>
          <a:p>
            <a:r>
              <a:rPr lang="en-US" sz="3200" b="1" dirty="0"/>
              <a:t>Exodus 12.15 </a:t>
            </a:r>
            <a:r>
              <a:rPr lang="en-US" sz="3200" dirty="0"/>
              <a:t>For seven days you shall eat unleavened cakes, </a:t>
            </a:r>
            <a:r>
              <a:rPr lang="en-US" sz="3200" b="1" dirty="0">
                <a:solidFill>
                  <a:srgbClr val="C00000"/>
                </a:solidFill>
              </a:rPr>
              <a:t>but on the preceding day you shall clear away all leaven from your houses</a:t>
            </a:r>
            <a:r>
              <a:rPr lang="en-US" sz="3200" dirty="0"/>
              <a:t>, for whoever eats leaven from the first day until the seventh day that soul shall be cut off from Israel</a:t>
            </a:r>
          </a:p>
        </p:txBody>
      </p:sp>
    </p:spTree>
    <p:extLst>
      <p:ext uri="{BB962C8B-B14F-4D97-AF65-F5344CB8AC3E}">
        <p14:creationId xmlns:p14="http://schemas.microsoft.com/office/powerpoint/2010/main" val="1189080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FC1232-BDD2-4209-8690-E1E65CE0AE46}"/>
              </a:ext>
            </a:extLst>
          </p:cNvPr>
          <p:cNvSpPr txBox="1"/>
          <p:nvPr/>
        </p:nvSpPr>
        <p:spPr>
          <a:xfrm rot="10800000" flipH="1" flipV="1">
            <a:off x="49237" y="52734"/>
            <a:ext cx="12093526" cy="769441"/>
          </a:xfrm>
          <a:prstGeom prst="rect">
            <a:avLst/>
          </a:prstGeom>
          <a:solidFill>
            <a:srgbClr val="FF0000"/>
          </a:solidFill>
        </p:spPr>
        <p:txBody>
          <a:bodyPr wrap="square" rtlCol="0">
            <a:spAutoFit/>
          </a:bodyPr>
          <a:lstStyle/>
          <a:p>
            <a:pPr algn="ctr"/>
            <a:r>
              <a:rPr lang="en-US" sz="4400" b="1" dirty="0"/>
              <a:t>4. Obligation to Dispose of Chametz Before Pesach</a:t>
            </a:r>
          </a:p>
        </p:txBody>
      </p:sp>
      <p:sp>
        <p:nvSpPr>
          <p:cNvPr id="3" name="TextBox 2">
            <a:extLst>
              <a:ext uri="{FF2B5EF4-FFF2-40B4-BE49-F238E27FC236}">
                <a16:creationId xmlns:a16="http://schemas.microsoft.com/office/drawing/2014/main" id="{72693E5B-C9ED-4201-985D-61483EE9ED80}"/>
              </a:ext>
            </a:extLst>
          </p:cNvPr>
          <p:cNvSpPr txBox="1"/>
          <p:nvPr/>
        </p:nvSpPr>
        <p:spPr>
          <a:xfrm>
            <a:off x="384313" y="1311965"/>
            <a:ext cx="11449878" cy="3477875"/>
          </a:xfrm>
          <a:prstGeom prst="rect">
            <a:avLst/>
          </a:prstGeom>
          <a:noFill/>
          <a:ln>
            <a:solidFill>
              <a:schemeClr val="tx1"/>
            </a:solidFill>
          </a:ln>
        </p:spPr>
        <p:txBody>
          <a:bodyPr wrap="square" rtlCol="0">
            <a:spAutoFit/>
          </a:bodyPr>
          <a:lstStyle/>
          <a:p>
            <a:pPr algn="ctr"/>
            <a:r>
              <a:rPr lang="en-US" sz="4400" b="1" dirty="0"/>
              <a:t>Practical Details</a:t>
            </a:r>
          </a:p>
          <a:p>
            <a:pPr marL="342900" indent="-342900">
              <a:buAutoNum type="arabicPeriod"/>
            </a:pPr>
            <a:r>
              <a:rPr lang="en-US" sz="4400" dirty="0"/>
              <a:t>When; When Prohibited or Before Prohibition?</a:t>
            </a:r>
          </a:p>
          <a:p>
            <a:pPr marL="342900" indent="-342900">
              <a:buAutoNum type="arabicPeriod"/>
            </a:pPr>
            <a:r>
              <a:rPr lang="en-US" sz="4400" dirty="0"/>
              <a:t>How; Toss, Burn </a:t>
            </a:r>
            <a:r>
              <a:rPr lang="en-US" sz="4400" dirty="0" err="1"/>
              <a:t>etc</a:t>
            </a:r>
            <a:endParaRPr lang="en-US" sz="4400" dirty="0"/>
          </a:p>
          <a:p>
            <a:pPr marL="342900" indent="-342900">
              <a:buAutoNum type="arabicPeriod"/>
            </a:pPr>
            <a:r>
              <a:rPr lang="en-US" sz="4400" dirty="0"/>
              <a:t>Passive or Active?</a:t>
            </a:r>
          </a:p>
          <a:p>
            <a:pPr marL="342900" indent="-342900">
              <a:buAutoNum type="arabicPeriod"/>
            </a:pPr>
            <a:r>
              <a:rPr lang="en-US" sz="4400" dirty="0"/>
              <a:t>What’s done today</a:t>
            </a:r>
          </a:p>
        </p:txBody>
      </p:sp>
    </p:spTree>
    <p:extLst>
      <p:ext uri="{BB962C8B-B14F-4D97-AF65-F5344CB8AC3E}">
        <p14:creationId xmlns:p14="http://schemas.microsoft.com/office/powerpoint/2010/main" val="10497621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FC1232-BDD2-4209-8690-E1E65CE0AE46}"/>
              </a:ext>
            </a:extLst>
          </p:cNvPr>
          <p:cNvSpPr txBox="1"/>
          <p:nvPr/>
        </p:nvSpPr>
        <p:spPr>
          <a:xfrm rot="10800000" flipH="1" flipV="1">
            <a:off x="49237" y="52734"/>
            <a:ext cx="12093526" cy="769441"/>
          </a:xfrm>
          <a:prstGeom prst="rect">
            <a:avLst/>
          </a:prstGeom>
          <a:solidFill>
            <a:srgbClr val="FF0000"/>
          </a:solidFill>
        </p:spPr>
        <p:txBody>
          <a:bodyPr wrap="square" rtlCol="0">
            <a:spAutoFit/>
          </a:bodyPr>
          <a:lstStyle/>
          <a:p>
            <a:pPr algn="ctr"/>
            <a:r>
              <a:rPr lang="en-US" sz="4400" b="1" dirty="0"/>
              <a:t>4. Obligation to Dispose of Chametz Before Pesach</a:t>
            </a:r>
          </a:p>
        </p:txBody>
      </p:sp>
      <p:sp>
        <p:nvSpPr>
          <p:cNvPr id="3" name="TextBox 2">
            <a:extLst>
              <a:ext uri="{FF2B5EF4-FFF2-40B4-BE49-F238E27FC236}">
                <a16:creationId xmlns:a16="http://schemas.microsoft.com/office/drawing/2014/main" id="{72693E5B-C9ED-4201-985D-61483EE9ED80}"/>
              </a:ext>
            </a:extLst>
          </p:cNvPr>
          <p:cNvSpPr txBox="1"/>
          <p:nvPr/>
        </p:nvSpPr>
        <p:spPr>
          <a:xfrm>
            <a:off x="384313" y="1311965"/>
            <a:ext cx="11317357" cy="584775"/>
          </a:xfrm>
          <a:prstGeom prst="rect">
            <a:avLst/>
          </a:prstGeom>
          <a:noFill/>
          <a:ln>
            <a:solidFill>
              <a:schemeClr val="tx1"/>
            </a:solidFill>
          </a:ln>
        </p:spPr>
        <p:txBody>
          <a:bodyPr wrap="square" rtlCol="0">
            <a:spAutoFit/>
          </a:bodyPr>
          <a:lstStyle/>
          <a:p>
            <a:pPr algn="ctr"/>
            <a:r>
              <a:rPr lang="en-US" sz="3200" dirty="0"/>
              <a:t>Why burn; like Leftover Sacrifice; Exodus 12.10</a:t>
            </a:r>
          </a:p>
        </p:txBody>
      </p:sp>
      <p:graphicFrame>
        <p:nvGraphicFramePr>
          <p:cNvPr id="6" name="Table 5">
            <a:extLst>
              <a:ext uri="{FF2B5EF4-FFF2-40B4-BE49-F238E27FC236}">
                <a16:creationId xmlns:a16="http://schemas.microsoft.com/office/drawing/2014/main" id="{C0986162-3DB3-4966-B4C6-C0B7FA487C22}"/>
              </a:ext>
            </a:extLst>
          </p:cNvPr>
          <p:cNvGraphicFramePr>
            <a:graphicFrameLocks noGrp="1"/>
          </p:cNvGraphicFramePr>
          <p:nvPr>
            <p:extLst>
              <p:ext uri="{D42A27DB-BD31-4B8C-83A1-F6EECF244321}">
                <p14:modId xmlns:p14="http://schemas.microsoft.com/office/powerpoint/2010/main" val="3002023619"/>
              </p:ext>
            </p:extLst>
          </p:nvPr>
        </p:nvGraphicFramePr>
        <p:xfrm>
          <a:off x="483704" y="2450684"/>
          <a:ext cx="11224592" cy="3577590"/>
        </p:xfrm>
        <a:graphic>
          <a:graphicData uri="http://schemas.openxmlformats.org/drawingml/2006/table">
            <a:tbl>
              <a:tblPr/>
              <a:tblGrid>
                <a:gridCol w="6339277">
                  <a:extLst>
                    <a:ext uri="{9D8B030D-6E8A-4147-A177-3AD203B41FA5}">
                      <a16:colId xmlns:a16="http://schemas.microsoft.com/office/drawing/2014/main" val="778295623"/>
                    </a:ext>
                  </a:extLst>
                </a:gridCol>
                <a:gridCol w="436189">
                  <a:extLst>
                    <a:ext uri="{9D8B030D-6E8A-4147-A177-3AD203B41FA5}">
                      <a16:colId xmlns:a16="http://schemas.microsoft.com/office/drawing/2014/main" val="3564647248"/>
                    </a:ext>
                  </a:extLst>
                </a:gridCol>
                <a:gridCol w="4449126">
                  <a:extLst>
                    <a:ext uri="{9D8B030D-6E8A-4147-A177-3AD203B41FA5}">
                      <a16:colId xmlns:a16="http://schemas.microsoft.com/office/drawing/2014/main" val="1943233466"/>
                    </a:ext>
                  </a:extLst>
                </a:gridCol>
              </a:tblGrid>
              <a:tr h="1108528">
                <a:tc>
                  <a:txBody>
                    <a:bodyPr/>
                    <a:lstStyle/>
                    <a:p>
                      <a:r>
                        <a:rPr lang="en-US" sz="2400" b="1" u="none" strike="noStrike" dirty="0">
                          <a:effectLst/>
                        </a:rPr>
                        <a:t>8</a:t>
                      </a:r>
                      <a:r>
                        <a:rPr lang="en-US" sz="2400" dirty="0">
                          <a:effectLst/>
                        </a:rPr>
                        <a:t>And on this night, they shall eat the flesh, roasted over the fire, and unleavened cakes; with bitter herbs they shall eat it.</a:t>
                      </a:r>
                    </a:p>
                  </a:txBody>
                  <a:tcPr marL="0" marR="0" marT="47625" marB="47625">
                    <a:lnL>
                      <a:noFill/>
                    </a:lnL>
                    <a:lnR>
                      <a:noFill/>
                    </a:lnR>
                    <a:lnT>
                      <a:noFill/>
                    </a:lnT>
                    <a:lnB>
                      <a:noFill/>
                    </a:lnB>
                    <a:solidFill>
                      <a:srgbClr val="FFFFFF"/>
                    </a:solidFill>
                  </a:tcPr>
                </a:tc>
                <a:tc>
                  <a:txBody>
                    <a:bodyPr/>
                    <a:lstStyle/>
                    <a:p>
                      <a:r>
                        <a:rPr lang="en-US" sz="2400">
                          <a:effectLst/>
                        </a:rPr>
                        <a:t> </a:t>
                      </a:r>
                    </a:p>
                  </a:txBody>
                  <a:tcPr marL="0" marR="0" marT="47625" marB="47625" anchor="ctr">
                    <a:lnL>
                      <a:noFill/>
                    </a:lnL>
                    <a:lnR>
                      <a:noFill/>
                    </a:lnR>
                    <a:lnT>
                      <a:noFill/>
                    </a:lnT>
                    <a:lnB>
                      <a:noFill/>
                    </a:lnB>
                    <a:solidFill>
                      <a:srgbClr val="FFFFFF"/>
                    </a:solidFill>
                  </a:tcPr>
                </a:tc>
                <a:tc>
                  <a:txBody>
                    <a:bodyPr/>
                    <a:lstStyle/>
                    <a:p>
                      <a:pPr algn="r" rtl="1"/>
                      <a:r>
                        <a:rPr lang="he-IL" sz="2400" b="1" u="none" strike="noStrike">
                          <a:effectLst/>
                          <a:latin typeface="sbl_hebrew"/>
                        </a:rPr>
                        <a:t>ח</a:t>
                      </a:r>
                      <a:r>
                        <a:rPr lang="he-IL" sz="2400">
                          <a:effectLst/>
                          <a:latin typeface="sbl_hebrew"/>
                        </a:rPr>
                        <a:t>וְאָֽכְל֥וּ אֶת־הַבָּשָׂ֖ר בַּלַּ֣יְלָה הַזֶּ֑ה צְלִי־אֵ֣שׁ וּמַצּ֔וֹת עַל־מְרֹרִ֖ים יֹאכְלֻֽהוּ:</a:t>
                      </a:r>
                    </a:p>
                  </a:txBody>
                  <a:tcPr marL="0" marR="0" marT="47625" marB="47625">
                    <a:lnL>
                      <a:noFill/>
                    </a:lnL>
                    <a:lnR>
                      <a:noFill/>
                    </a:lnR>
                    <a:lnT>
                      <a:noFill/>
                    </a:lnT>
                    <a:lnB>
                      <a:noFill/>
                    </a:lnB>
                    <a:solidFill>
                      <a:srgbClr val="FFFFFF"/>
                    </a:solidFill>
                  </a:tcPr>
                </a:tc>
                <a:extLst>
                  <a:ext uri="{0D108BD9-81ED-4DB2-BD59-A6C34878D82A}">
                    <a16:rowId xmlns:a16="http://schemas.microsoft.com/office/drawing/2014/main" val="1139936511"/>
                  </a:ext>
                </a:extLst>
              </a:tr>
              <a:tr h="1108528">
                <a:tc>
                  <a:txBody>
                    <a:bodyPr/>
                    <a:lstStyle/>
                    <a:p>
                      <a:r>
                        <a:rPr lang="en-US" sz="2400" b="1" u="none" strike="noStrike">
                          <a:effectLst/>
                        </a:rPr>
                        <a:t>9</a:t>
                      </a:r>
                      <a:r>
                        <a:rPr lang="en-US" sz="2400">
                          <a:effectLst/>
                        </a:rPr>
                        <a:t>You shall not eat it rare or boiled in water, except roasted over the fire its head with its legs and with its innards.</a:t>
                      </a:r>
                    </a:p>
                  </a:txBody>
                  <a:tcPr marL="0" marR="0" marT="47625" marB="47625">
                    <a:lnL>
                      <a:noFill/>
                    </a:lnL>
                    <a:lnR>
                      <a:noFill/>
                    </a:lnR>
                    <a:lnT>
                      <a:noFill/>
                    </a:lnT>
                    <a:lnB>
                      <a:noFill/>
                    </a:lnB>
                    <a:solidFill>
                      <a:srgbClr val="FFFFFF"/>
                    </a:solidFill>
                  </a:tcPr>
                </a:tc>
                <a:tc>
                  <a:txBody>
                    <a:bodyPr/>
                    <a:lstStyle/>
                    <a:p>
                      <a:r>
                        <a:rPr lang="en-US" sz="2400">
                          <a:effectLst/>
                        </a:rPr>
                        <a:t> </a:t>
                      </a:r>
                    </a:p>
                  </a:txBody>
                  <a:tcPr marL="0" marR="0" marT="47625" marB="47625" anchor="ctr">
                    <a:lnL>
                      <a:noFill/>
                    </a:lnL>
                    <a:lnR>
                      <a:noFill/>
                    </a:lnR>
                    <a:lnT>
                      <a:noFill/>
                    </a:lnT>
                    <a:lnB>
                      <a:noFill/>
                    </a:lnB>
                    <a:solidFill>
                      <a:srgbClr val="FFFFFF"/>
                    </a:solidFill>
                  </a:tcPr>
                </a:tc>
                <a:tc>
                  <a:txBody>
                    <a:bodyPr/>
                    <a:lstStyle/>
                    <a:p>
                      <a:pPr algn="r" rtl="1"/>
                      <a:r>
                        <a:rPr lang="he-IL" sz="2400" b="1" u="none" strike="noStrike">
                          <a:effectLst/>
                          <a:latin typeface="sbl_hebrew"/>
                        </a:rPr>
                        <a:t>ט</a:t>
                      </a:r>
                      <a:r>
                        <a:rPr lang="he-IL" sz="2400">
                          <a:effectLst/>
                          <a:latin typeface="sbl_hebrew"/>
                        </a:rPr>
                        <a:t>אַל־תֹּֽאכְל֤וּ מִמֶּ֨נּוּ֙ נָ֔א וּבָשֵׁ֥ל מְבֻשָּׁ֖ל בַּמָּ֑יִם כִּ֣י אִם־צְלִי־אֵ֔שׁ רֹאשׁ֥וֹ עַל־כְּרָעָ֖יו וְעַל־קִרְבּֽוֹ:</a:t>
                      </a:r>
                    </a:p>
                  </a:txBody>
                  <a:tcPr marL="0" marR="0" marT="47625" marB="47625">
                    <a:lnL>
                      <a:noFill/>
                    </a:lnL>
                    <a:lnR>
                      <a:noFill/>
                    </a:lnR>
                    <a:lnT>
                      <a:noFill/>
                    </a:lnT>
                    <a:lnB>
                      <a:noFill/>
                    </a:lnB>
                    <a:solidFill>
                      <a:srgbClr val="FFFFFF"/>
                    </a:solidFill>
                  </a:tcPr>
                </a:tc>
                <a:extLst>
                  <a:ext uri="{0D108BD9-81ED-4DB2-BD59-A6C34878D82A}">
                    <a16:rowId xmlns:a16="http://schemas.microsoft.com/office/drawing/2014/main" val="3090017553"/>
                  </a:ext>
                </a:extLst>
              </a:tr>
              <a:tr h="1108528">
                <a:tc>
                  <a:txBody>
                    <a:bodyPr/>
                    <a:lstStyle/>
                    <a:p>
                      <a:r>
                        <a:rPr lang="en-US" sz="2400" b="1" u="none" strike="noStrike">
                          <a:effectLst/>
                        </a:rPr>
                        <a:t>10</a:t>
                      </a:r>
                      <a:r>
                        <a:rPr lang="en-US" sz="2400">
                          <a:effectLst/>
                        </a:rPr>
                        <a:t>And you shall not leave over any of it until morning, and whatever is left over of it until morning, you shall burn in fire.</a:t>
                      </a:r>
                    </a:p>
                  </a:txBody>
                  <a:tcPr marL="0" marR="0" marT="47625" marB="47625">
                    <a:lnL>
                      <a:noFill/>
                    </a:lnL>
                    <a:lnR>
                      <a:noFill/>
                    </a:lnR>
                    <a:lnT>
                      <a:noFill/>
                    </a:lnT>
                    <a:lnB>
                      <a:noFill/>
                    </a:lnB>
                    <a:solidFill>
                      <a:srgbClr val="FFFFFF"/>
                    </a:solidFill>
                  </a:tcPr>
                </a:tc>
                <a:tc>
                  <a:txBody>
                    <a:bodyPr/>
                    <a:lstStyle/>
                    <a:p>
                      <a:r>
                        <a:rPr lang="en-US" sz="2400">
                          <a:effectLst/>
                        </a:rPr>
                        <a:t> </a:t>
                      </a:r>
                    </a:p>
                  </a:txBody>
                  <a:tcPr marL="0" marR="0" marT="47625" marB="47625" anchor="ctr">
                    <a:lnL>
                      <a:noFill/>
                    </a:lnL>
                    <a:lnR>
                      <a:noFill/>
                    </a:lnR>
                    <a:lnT>
                      <a:noFill/>
                    </a:lnT>
                    <a:lnB>
                      <a:noFill/>
                    </a:lnB>
                    <a:solidFill>
                      <a:srgbClr val="FFFFFF"/>
                    </a:solidFill>
                  </a:tcPr>
                </a:tc>
                <a:tc>
                  <a:txBody>
                    <a:bodyPr/>
                    <a:lstStyle/>
                    <a:p>
                      <a:pPr algn="r" rtl="1"/>
                      <a:r>
                        <a:rPr lang="he-IL" sz="2400" b="1" u="none" strike="noStrike" dirty="0">
                          <a:effectLst/>
                          <a:latin typeface="sbl_hebrew"/>
                        </a:rPr>
                        <a:t>י</a:t>
                      </a:r>
                      <a:r>
                        <a:rPr lang="he-IL" sz="2400" dirty="0">
                          <a:effectLst/>
                          <a:latin typeface="sbl_hebrew"/>
                        </a:rPr>
                        <a:t>וְלֹֽא־תוֹתִ֥ירוּ מִמֶּ֖נּוּ עַד־בֹּ֑קֶר וְהַנֹּתָ֥ר מִמֶּ֛נּוּ עַד־בֹּ֖קֶר בָּאֵ֥שׁ תִּשְׂרֹֽפוּ:</a:t>
                      </a:r>
                    </a:p>
                  </a:txBody>
                  <a:tcPr marL="0" marR="0" marT="47625" marB="47625">
                    <a:lnL>
                      <a:noFill/>
                    </a:lnL>
                    <a:lnR>
                      <a:noFill/>
                    </a:lnR>
                    <a:lnT>
                      <a:noFill/>
                    </a:lnT>
                    <a:lnB>
                      <a:noFill/>
                    </a:lnB>
                    <a:solidFill>
                      <a:srgbClr val="FFFFFF"/>
                    </a:solidFill>
                  </a:tcPr>
                </a:tc>
                <a:extLst>
                  <a:ext uri="{0D108BD9-81ED-4DB2-BD59-A6C34878D82A}">
                    <a16:rowId xmlns:a16="http://schemas.microsoft.com/office/drawing/2014/main" val="2778883487"/>
                  </a:ext>
                </a:extLst>
              </a:tr>
            </a:tbl>
          </a:graphicData>
        </a:graphic>
      </p:graphicFrame>
    </p:spTree>
    <p:extLst>
      <p:ext uri="{BB962C8B-B14F-4D97-AF65-F5344CB8AC3E}">
        <p14:creationId xmlns:p14="http://schemas.microsoft.com/office/powerpoint/2010/main" val="16677617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A46A2F1-66CF-4738-88F2-1EDE4EE304F7}"/>
              </a:ext>
            </a:extLst>
          </p:cNvPr>
          <p:cNvSpPr txBox="1"/>
          <p:nvPr/>
        </p:nvSpPr>
        <p:spPr>
          <a:xfrm rot="10800000" flipH="1" flipV="1">
            <a:off x="49237" y="52734"/>
            <a:ext cx="12093526" cy="769441"/>
          </a:xfrm>
          <a:prstGeom prst="rect">
            <a:avLst/>
          </a:prstGeom>
          <a:solidFill>
            <a:srgbClr val="FF0000"/>
          </a:solidFill>
        </p:spPr>
        <p:txBody>
          <a:bodyPr wrap="square" rtlCol="0">
            <a:spAutoFit/>
          </a:bodyPr>
          <a:lstStyle/>
          <a:p>
            <a:pPr algn="ctr"/>
            <a:r>
              <a:rPr lang="en-US" sz="4400" b="1" dirty="0"/>
              <a:t>5. Obligation to Check for Chametz - </a:t>
            </a:r>
            <a:r>
              <a:rPr lang="en-US" sz="4400" b="1" dirty="0" err="1"/>
              <a:t>Bedikah</a:t>
            </a:r>
            <a:endParaRPr lang="en-US" sz="4400" b="1" dirty="0"/>
          </a:p>
        </p:txBody>
      </p:sp>
      <p:sp>
        <p:nvSpPr>
          <p:cNvPr id="5" name="TextBox 4">
            <a:extLst>
              <a:ext uri="{FF2B5EF4-FFF2-40B4-BE49-F238E27FC236}">
                <a16:creationId xmlns:a16="http://schemas.microsoft.com/office/drawing/2014/main" id="{F19B06CC-955C-46E5-AB34-6DDB13BDF17F}"/>
              </a:ext>
            </a:extLst>
          </p:cNvPr>
          <p:cNvSpPr txBox="1"/>
          <p:nvPr/>
        </p:nvSpPr>
        <p:spPr>
          <a:xfrm>
            <a:off x="145774" y="1099930"/>
            <a:ext cx="11834191" cy="5078313"/>
          </a:xfrm>
          <a:prstGeom prst="rect">
            <a:avLst/>
          </a:prstGeom>
          <a:noFill/>
          <a:ln>
            <a:solidFill>
              <a:schemeClr val="tx1"/>
            </a:solidFill>
          </a:ln>
        </p:spPr>
        <p:txBody>
          <a:bodyPr wrap="square" rtlCol="0">
            <a:spAutoFit/>
          </a:bodyPr>
          <a:lstStyle/>
          <a:p>
            <a:pPr marL="342900" indent="-342900">
              <a:buAutoNum type="arabicPeriod"/>
            </a:pPr>
            <a:r>
              <a:rPr lang="en-US" sz="3600" dirty="0"/>
              <a:t>Biblical Mitzvah as part of Disposing</a:t>
            </a:r>
          </a:p>
          <a:p>
            <a:pPr marL="342900" indent="-342900">
              <a:buAutoNum type="arabicPeriod"/>
            </a:pPr>
            <a:endParaRPr lang="en-US" sz="3600" dirty="0"/>
          </a:p>
          <a:p>
            <a:pPr marL="342900" indent="-342900">
              <a:buAutoNum type="arabicPeriod"/>
            </a:pPr>
            <a:r>
              <a:rPr lang="en-US" sz="3600" dirty="0"/>
              <a:t>Blessing on Checking; Disposing of Chametz</a:t>
            </a:r>
          </a:p>
          <a:p>
            <a:pPr marL="342900" indent="-342900">
              <a:buAutoNum type="arabicPeriod"/>
            </a:pPr>
            <a:endParaRPr lang="en-US" sz="3600" dirty="0"/>
          </a:p>
          <a:p>
            <a:pPr marL="342900" indent="-342900">
              <a:buAutoNum type="arabicPeriod"/>
            </a:pPr>
            <a:r>
              <a:rPr lang="en-US" sz="3600" dirty="0"/>
              <a:t>When only Rabbinically Required; Two Reasons</a:t>
            </a:r>
          </a:p>
          <a:p>
            <a:pPr marL="342900" indent="-342900">
              <a:buAutoNum type="arabicPeriod"/>
            </a:pPr>
            <a:endParaRPr lang="en-US" sz="3600" dirty="0"/>
          </a:p>
          <a:p>
            <a:pPr marL="342900" indent="-342900">
              <a:buAutoNum type="arabicPeriod"/>
            </a:pPr>
            <a:r>
              <a:rPr lang="en-US" sz="3600" dirty="0"/>
              <a:t>When; Night before Pesach</a:t>
            </a:r>
          </a:p>
          <a:p>
            <a:pPr marL="342900" indent="-342900">
              <a:buAutoNum type="arabicPeriod"/>
            </a:pPr>
            <a:endParaRPr lang="en-US" sz="3600" dirty="0"/>
          </a:p>
          <a:p>
            <a:pPr marL="342900" indent="-342900">
              <a:buAutoNum type="arabicPeriod"/>
            </a:pPr>
            <a:r>
              <a:rPr lang="en-US" sz="3600" dirty="0"/>
              <a:t>If one leaves their home before the Night before Passover</a:t>
            </a:r>
          </a:p>
        </p:txBody>
      </p:sp>
    </p:spTree>
    <p:extLst>
      <p:ext uri="{BB962C8B-B14F-4D97-AF65-F5344CB8AC3E}">
        <p14:creationId xmlns:p14="http://schemas.microsoft.com/office/powerpoint/2010/main" val="2035974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1486FC-AFB8-4143-8873-3079C6B06B78}"/>
              </a:ext>
            </a:extLst>
          </p:cNvPr>
          <p:cNvSpPr txBox="1"/>
          <p:nvPr/>
        </p:nvSpPr>
        <p:spPr>
          <a:xfrm rot="10800000" flipH="1" flipV="1">
            <a:off x="49237" y="52734"/>
            <a:ext cx="12093526" cy="769441"/>
          </a:xfrm>
          <a:prstGeom prst="rect">
            <a:avLst/>
          </a:prstGeom>
          <a:solidFill>
            <a:srgbClr val="FF0000"/>
          </a:solidFill>
        </p:spPr>
        <p:txBody>
          <a:bodyPr wrap="square" rtlCol="0">
            <a:spAutoFit/>
          </a:bodyPr>
          <a:lstStyle/>
          <a:p>
            <a:pPr algn="ctr"/>
            <a:r>
              <a:rPr lang="en-US" sz="4400" b="1" dirty="0"/>
              <a:t>6. Obligation to Abandon Chametz; </a:t>
            </a:r>
            <a:r>
              <a:rPr lang="en-US" sz="4400" b="1" dirty="0" err="1"/>
              <a:t>Bittul</a:t>
            </a:r>
            <a:endParaRPr lang="en-US" sz="4400" b="1" dirty="0"/>
          </a:p>
        </p:txBody>
      </p:sp>
      <p:sp>
        <p:nvSpPr>
          <p:cNvPr id="3" name="TextBox 2">
            <a:extLst>
              <a:ext uri="{FF2B5EF4-FFF2-40B4-BE49-F238E27FC236}">
                <a16:creationId xmlns:a16="http://schemas.microsoft.com/office/drawing/2014/main" id="{C9F35989-6283-4473-88D7-32E0928D255B}"/>
              </a:ext>
            </a:extLst>
          </p:cNvPr>
          <p:cNvSpPr txBox="1"/>
          <p:nvPr/>
        </p:nvSpPr>
        <p:spPr>
          <a:xfrm>
            <a:off x="768626" y="1404730"/>
            <a:ext cx="10933044" cy="5016758"/>
          </a:xfrm>
          <a:prstGeom prst="rect">
            <a:avLst/>
          </a:prstGeom>
          <a:noFill/>
          <a:ln>
            <a:solidFill>
              <a:schemeClr val="tx1"/>
            </a:solidFill>
          </a:ln>
        </p:spPr>
        <p:txBody>
          <a:bodyPr wrap="square" rtlCol="0">
            <a:spAutoFit/>
          </a:bodyPr>
          <a:lstStyle/>
          <a:p>
            <a:pPr algn="ctr"/>
            <a:r>
              <a:rPr lang="en-US" sz="3200" b="1" dirty="0"/>
              <a:t>Why &amp; How</a:t>
            </a:r>
          </a:p>
          <a:p>
            <a:pPr marL="342900" indent="-342900">
              <a:buAutoNum type="arabicPeriod"/>
            </a:pPr>
            <a:r>
              <a:rPr lang="en-US" sz="3200" dirty="0"/>
              <a:t>In order not to Possess</a:t>
            </a:r>
          </a:p>
          <a:p>
            <a:pPr marL="342900" indent="-342900">
              <a:buAutoNum type="arabicPeriod"/>
            </a:pPr>
            <a:endParaRPr lang="en-US" sz="3200" dirty="0"/>
          </a:p>
          <a:p>
            <a:pPr marL="342900" indent="-342900">
              <a:buAutoNum type="arabicPeriod"/>
            </a:pPr>
            <a:r>
              <a:rPr lang="en-US" sz="3200" dirty="0"/>
              <a:t>In case one finds good Chametz on Pesach</a:t>
            </a:r>
          </a:p>
          <a:p>
            <a:pPr marL="342900" indent="-342900">
              <a:buAutoNum type="arabicPeriod"/>
            </a:pPr>
            <a:endParaRPr lang="en-US" sz="3200" dirty="0"/>
          </a:p>
          <a:p>
            <a:pPr marL="342900" indent="-342900">
              <a:buAutoNum type="arabicPeriod"/>
            </a:pPr>
            <a:r>
              <a:rPr lang="en-US" sz="3200" dirty="0"/>
              <a:t>As a method of disposing</a:t>
            </a:r>
          </a:p>
          <a:p>
            <a:pPr marL="342900" indent="-342900">
              <a:buAutoNum type="arabicPeriod"/>
            </a:pPr>
            <a:endParaRPr lang="en-US" sz="3200" dirty="0"/>
          </a:p>
          <a:p>
            <a:pPr marL="342900" indent="-342900">
              <a:buAutoNum type="arabicPeriod"/>
            </a:pPr>
            <a:r>
              <a:rPr lang="en-US" sz="3200" dirty="0"/>
              <a:t>When; Night of Checking and When Burning</a:t>
            </a:r>
          </a:p>
          <a:p>
            <a:pPr marL="342900" indent="-342900">
              <a:buAutoNum type="arabicPeriod"/>
            </a:pPr>
            <a:endParaRPr lang="en-US" sz="3200" dirty="0"/>
          </a:p>
          <a:p>
            <a:pPr marL="342900" indent="-342900">
              <a:buAutoNum type="arabicPeriod"/>
            </a:pPr>
            <a:r>
              <a:rPr lang="en-US" sz="3200" dirty="0"/>
              <a:t>How</a:t>
            </a:r>
          </a:p>
        </p:txBody>
      </p:sp>
    </p:spTree>
    <p:extLst>
      <p:ext uri="{BB962C8B-B14F-4D97-AF65-F5344CB8AC3E}">
        <p14:creationId xmlns:p14="http://schemas.microsoft.com/office/powerpoint/2010/main" val="1195783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1486FC-AFB8-4143-8873-3079C6B06B78}"/>
              </a:ext>
            </a:extLst>
          </p:cNvPr>
          <p:cNvSpPr txBox="1"/>
          <p:nvPr/>
        </p:nvSpPr>
        <p:spPr>
          <a:xfrm rot="10800000" flipH="1" flipV="1">
            <a:off x="49237" y="51791"/>
            <a:ext cx="12093526" cy="769441"/>
          </a:xfrm>
          <a:prstGeom prst="rect">
            <a:avLst/>
          </a:prstGeom>
          <a:solidFill>
            <a:srgbClr val="FF0000"/>
          </a:solidFill>
        </p:spPr>
        <p:txBody>
          <a:bodyPr wrap="square" rtlCol="0">
            <a:spAutoFit/>
          </a:bodyPr>
          <a:lstStyle/>
          <a:p>
            <a:pPr algn="ctr"/>
            <a:r>
              <a:rPr lang="en-US" sz="4400" b="1" dirty="0"/>
              <a:t>7. Selling Chametz to Non-Jew</a:t>
            </a:r>
          </a:p>
        </p:txBody>
      </p:sp>
      <p:sp>
        <p:nvSpPr>
          <p:cNvPr id="3" name="TextBox 2">
            <a:extLst>
              <a:ext uri="{FF2B5EF4-FFF2-40B4-BE49-F238E27FC236}">
                <a16:creationId xmlns:a16="http://schemas.microsoft.com/office/drawing/2014/main" id="{C9F35989-6283-4473-88D7-32E0928D255B}"/>
              </a:ext>
            </a:extLst>
          </p:cNvPr>
          <p:cNvSpPr txBox="1"/>
          <p:nvPr/>
        </p:nvSpPr>
        <p:spPr>
          <a:xfrm>
            <a:off x="768626" y="1404730"/>
            <a:ext cx="10933044" cy="3970318"/>
          </a:xfrm>
          <a:prstGeom prst="rect">
            <a:avLst/>
          </a:prstGeom>
          <a:noFill/>
          <a:ln>
            <a:solidFill>
              <a:schemeClr val="tx1"/>
            </a:solidFill>
          </a:ln>
        </p:spPr>
        <p:txBody>
          <a:bodyPr wrap="square" rtlCol="0">
            <a:spAutoFit/>
          </a:bodyPr>
          <a:lstStyle/>
          <a:p>
            <a:pPr algn="ctr"/>
            <a:r>
              <a:rPr lang="en-US" sz="3600" b="1" dirty="0"/>
              <a:t>History &amp; How</a:t>
            </a:r>
          </a:p>
          <a:p>
            <a:pPr marL="342900" indent="-342900">
              <a:buAutoNum type="arabicPeriod"/>
            </a:pPr>
            <a:r>
              <a:rPr lang="en-US" sz="3600" dirty="0"/>
              <a:t>Talmud; sell and remove from possession</a:t>
            </a:r>
          </a:p>
          <a:p>
            <a:pPr marL="342900" indent="-342900">
              <a:buAutoNum type="arabicPeriod"/>
            </a:pPr>
            <a:endParaRPr lang="en-US" sz="3600" dirty="0"/>
          </a:p>
          <a:p>
            <a:pPr marL="342900" indent="-342900">
              <a:buAutoNum type="arabicPeriod"/>
            </a:pPr>
            <a:r>
              <a:rPr lang="en-US" sz="3600" dirty="0"/>
              <a:t>Institutionalized to sell; approximately 600 years ago</a:t>
            </a:r>
          </a:p>
          <a:p>
            <a:pPr marL="342900" indent="-342900">
              <a:buAutoNum type="arabicPeriod"/>
            </a:pPr>
            <a:endParaRPr lang="en-US" sz="3600" dirty="0"/>
          </a:p>
          <a:p>
            <a:pPr marL="342900" indent="-342900">
              <a:buAutoNum type="arabicPeriod"/>
            </a:pPr>
            <a:r>
              <a:rPr lang="en-US" sz="3600" dirty="0"/>
              <a:t>Communal selling of Chametz via Rabbi; last 250 years; full price, debt</a:t>
            </a:r>
          </a:p>
        </p:txBody>
      </p:sp>
    </p:spTree>
    <p:extLst>
      <p:ext uri="{BB962C8B-B14F-4D97-AF65-F5344CB8AC3E}">
        <p14:creationId xmlns:p14="http://schemas.microsoft.com/office/powerpoint/2010/main" val="15097948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1486FC-AFB8-4143-8873-3079C6B06B78}"/>
              </a:ext>
            </a:extLst>
          </p:cNvPr>
          <p:cNvSpPr txBox="1"/>
          <p:nvPr/>
        </p:nvSpPr>
        <p:spPr>
          <a:xfrm rot="10800000" flipH="1" flipV="1">
            <a:off x="0" y="0"/>
            <a:ext cx="12093526" cy="769441"/>
          </a:xfrm>
          <a:prstGeom prst="rect">
            <a:avLst/>
          </a:prstGeom>
          <a:solidFill>
            <a:srgbClr val="FF0000"/>
          </a:solidFill>
        </p:spPr>
        <p:txBody>
          <a:bodyPr wrap="square" rtlCol="0">
            <a:spAutoFit/>
          </a:bodyPr>
          <a:lstStyle/>
          <a:p>
            <a:pPr algn="ctr"/>
            <a:r>
              <a:rPr lang="en-US" sz="4400" b="1" dirty="0"/>
              <a:t>8. Chametz After Passover</a:t>
            </a:r>
          </a:p>
        </p:txBody>
      </p:sp>
      <p:sp>
        <p:nvSpPr>
          <p:cNvPr id="3" name="TextBox 2">
            <a:extLst>
              <a:ext uri="{FF2B5EF4-FFF2-40B4-BE49-F238E27FC236}">
                <a16:creationId xmlns:a16="http://schemas.microsoft.com/office/drawing/2014/main" id="{C9F35989-6283-4473-88D7-32E0928D255B}"/>
              </a:ext>
            </a:extLst>
          </p:cNvPr>
          <p:cNvSpPr txBox="1"/>
          <p:nvPr/>
        </p:nvSpPr>
        <p:spPr>
          <a:xfrm>
            <a:off x="768626" y="1404730"/>
            <a:ext cx="10933044" cy="3416320"/>
          </a:xfrm>
          <a:prstGeom prst="rect">
            <a:avLst/>
          </a:prstGeom>
          <a:noFill/>
          <a:ln>
            <a:solidFill>
              <a:schemeClr val="tx1"/>
            </a:solidFill>
          </a:ln>
        </p:spPr>
        <p:txBody>
          <a:bodyPr wrap="square" rtlCol="0">
            <a:spAutoFit/>
          </a:bodyPr>
          <a:lstStyle/>
          <a:p>
            <a:pPr algn="ctr"/>
            <a:r>
              <a:rPr lang="en-US" sz="3600" b="1" dirty="0"/>
              <a:t>History &amp; How</a:t>
            </a:r>
          </a:p>
          <a:p>
            <a:pPr marL="742950" indent="-742950">
              <a:buAutoNum type="arabicPeriod"/>
            </a:pPr>
            <a:r>
              <a:rPr lang="en-US" sz="3600" dirty="0"/>
              <a:t>Rabbinical Prohibition</a:t>
            </a:r>
          </a:p>
          <a:p>
            <a:pPr marL="742950" indent="-742950">
              <a:buAutoNum type="arabicPeriod"/>
            </a:pPr>
            <a:endParaRPr lang="en-US" sz="3600" dirty="0"/>
          </a:p>
          <a:p>
            <a:pPr marL="742950" indent="-742950">
              <a:buAutoNum type="arabicPeriod"/>
            </a:pPr>
            <a:r>
              <a:rPr lang="en-US" sz="3600" dirty="0"/>
              <a:t>Based on Prohibition of Possessing Chametz</a:t>
            </a:r>
          </a:p>
          <a:p>
            <a:pPr marL="742950" indent="-742950">
              <a:buAutoNum type="arabicPeriod"/>
            </a:pPr>
            <a:endParaRPr lang="en-US" sz="3600" dirty="0"/>
          </a:p>
          <a:p>
            <a:pPr marL="742950" indent="-742950">
              <a:buAutoNum type="arabicPeriod"/>
            </a:pPr>
            <a:r>
              <a:rPr lang="en-US" sz="3600" dirty="0"/>
              <a:t>What Happens Today</a:t>
            </a:r>
          </a:p>
        </p:txBody>
      </p:sp>
    </p:spTree>
    <p:extLst>
      <p:ext uri="{BB962C8B-B14F-4D97-AF65-F5344CB8AC3E}">
        <p14:creationId xmlns:p14="http://schemas.microsoft.com/office/powerpoint/2010/main" val="33580160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TotalTime>
  <Words>600</Words>
  <Application>Microsoft Office PowerPoint</Application>
  <PresentationFormat>Widescreen</PresentationFormat>
  <Paragraphs>128</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sbl_hebrew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Sholom Raichik</dc:creator>
  <cp:lastModifiedBy>Sholom Raichik</cp:lastModifiedBy>
  <cp:revision>15</cp:revision>
  <dcterms:created xsi:type="dcterms:W3CDTF">2019-04-02T19:21:40Z</dcterms:created>
  <dcterms:modified xsi:type="dcterms:W3CDTF">2019-04-04T02:47:35Z</dcterms:modified>
</cp:coreProperties>
</file>