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88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06A18-CF5C-485B-90DB-0AC9A20B4663}" type="datetimeFigureOut">
              <a:rPr lang="en-US" smtClean="0"/>
              <a:t>8/22/2017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31994-37A1-44E2-A7B6-319E8D78D2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06A18-CF5C-485B-90DB-0AC9A20B4663}" type="datetimeFigureOut">
              <a:rPr lang="en-US" smtClean="0"/>
              <a:t>8/22/2017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31994-37A1-44E2-A7B6-319E8D78D2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06A18-CF5C-485B-90DB-0AC9A20B4663}" type="datetimeFigureOut">
              <a:rPr lang="en-US" smtClean="0"/>
              <a:t>8/22/2017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31994-37A1-44E2-A7B6-319E8D78D2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06A18-CF5C-485B-90DB-0AC9A20B4663}" type="datetimeFigureOut">
              <a:rPr lang="en-US" smtClean="0"/>
              <a:t>8/22/2017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31994-37A1-44E2-A7B6-319E8D78D2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06A18-CF5C-485B-90DB-0AC9A20B4663}" type="datetimeFigureOut">
              <a:rPr lang="en-US" smtClean="0"/>
              <a:t>8/22/2017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31994-37A1-44E2-A7B6-319E8D78D2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06A18-CF5C-485B-90DB-0AC9A20B4663}" type="datetimeFigureOut">
              <a:rPr lang="en-US" smtClean="0"/>
              <a:t>8/22/2017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31994-37A1-44E2-A7B6-319E8D78D2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06A18-CF5C-485B-90DB-0AC9A20B4663}" type="datetimeFigureOut">
              <a:rPr lang="en-US" smtClean="0"/>
              <a:t>8/22/2017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31994-37A1-44E2-A7B6-319E8D78D2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06A18-CF5C-485B-90DB-0AC9A20B4663}" type="datetimeFigureOut">
              <a:rPr lang="en-US" smtClean="0"/>
              <a:t>8/22/2017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31994-37A1-44E2-A7B6-319E8D78D2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06A18-CF5C-485B-90DB-0AC9A20B4663}" type="datetimeFigureOut">
              <a:rPr lang="en-US" smtClean="0"/>
              <a:t>8/22/2017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31994-37A1-44E2-A7B6-319E8D78D2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06A18-CF5C-485B-90DB-0AC9A20B4663}" type="datetimeFigureOut">
              <a:rPr lang="en-US" smtClean="0"/>
              <a:t>8/22/2017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31994-37A1-44E2-A7B6-319E8D78D2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06A18-CF5C-485B-90DB-0AC9A20B4663}" type="datetimeFigureOut">
              <a:rPr lang="en-US" smtClean="0"/>
              <a:t>8/22/2017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31994-37A1-44E2-A7B6-319E8D78D2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E06A18-CF5C-485B-90DB-0AC9A20B4663}" type="datetimeFigureOut">
              <a:rPr lang="en-US" smtClean="0"/>
              <a:t>8/22/2017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31994-37A1-44E2-A7B6-319E8D78D26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0"/>
            <a:ext cx="7772400" cy="1470025"/>
          </a:xfrm>
        </p:spPr>
        <p:txBody>
          <a:bodyPr/>
          <a:lstStyle/>
          <a:p>
            <a:r>
              <a:rPr lang="en-US" dirty="0" smtClean="0"/>
              <a:t>Messages of the </a:t>
            </a:r>
            <a:r>
              <a:rPr lang="en-US" dirty="0" err="1" smtClean="0"/>
              <a:t>Shofar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Man blowing long shofar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59508" y="2286000"/>
            <a:ext cx="5731892" cy="3802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</a:t>
            </a:r>
            <a:r>
              <a:rPr lang="en-US" dirty="0" err="1" smtClean="0"/>
              <a:t>shofar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horn of a ram</a:t>
            </a:r>
          </a:p>
          <a:p>
            <a:r>
              <a:rPr lang="en-US" dirty="0" smtClean="0"/>
              <a:t>It is curved</a:t>
            </a:r>
          </a:p>
          <a:p>
            <a:r>
              <a:rPr lang="en-US" dirty="0" smtClean="0"/>
              <a:t>It can be tan or black</a:t>
            </a:r>
          </a:p>
          <a:p>
            <a:r>
              <a:rPr lang="en-US" dirty="0" smtClean="0"/>
              <a:t>It is blown at the narrow end; the sound comes from the wide end</a:t>
            </a:r>
            <a:endParaRPr lang="en-US" dirty="0"/>
          </a:p>
        </p:txBody>
      </p:sp>
      <p:pic>
        <p:nvPicPr>
          <p:cNvPr id="4" name="Picture 3" descr="Shofar_Yemenite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81200" y="4495800"/>
            <a:ext cx="4572000" cy="16751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Torah Instructs: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“On the seventh month, on the first day, shall be declared holy for you…It shall be a day of sounding the ram’s horn.” (Numbers 29:1)</a:t>
            </a:r>
            <a:endParaRPr lang="en-US" dirty="0"/>
          </a:p>
        </p:txBody>
      </p:sp>
      <p:pic>
        <p:nvPicPr>
          <p:cNvPr id="4" name="Picture 3" descr="Rosh Hashana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52600" y="3241344"/>
            <a:ext cx="5876925" cy="30832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Message #1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“Sound the </a:t>
            </a:r>
            <a:r>
              <a:rPr lang="en-US" dirty="0" err="1" smtClean="0"/>
              <a:t>shofar</a:t>
            </a:r>
            <a:r>
              <a:rPr lang="en-US" dirty="0" smtClean="0"/>
              <a:t> to G-d with a cry of joy.  For G-d is supreme, awesome; a great king over all the earth.” (Psalms 47:2-3)</a:t>
            </a:r>
          </a:p>
          <a:p>
            <a:r>
              <a:rPr lang="en-US" i="1" dirty="0" smtClean="0"/>
              <a:t>Declaring G-d King of the world</a:t>
            </a:r>
            <a:endParaRPr lang="en-US" i="1" dirty="0"/>
          </a:p>
        </p:txBody>
      </p:sp>
      <p:pic>
        <p:nvPicPr>
          <p:cNvPr id="4" name="Picture 3" descr="Crow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36695" y="3276600"/>
            <a:ext cx="3192905" cy="3086475"/>
          </a:xfrm>
          <a:prstGeom prst="rect">
            <a:avLst/>
          </a:prstGeom>
        </p:spPr>
      </p:pic>
      <p:pic>
        <p:nvPicPr>
          <p:cNvPr id="5" name="Picture 4" descr="globe.jpe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76400" y="3829050"/>
            <a:ext cx="2667000" cy="266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Message #2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“Blow the </a:t>
            </a:r>
            <a:r>
              <a:rPr lang="en-US" dirty="0" err="1" smtClean="0"/>
              <a:t>shofar</a:t>
            </a:r>
            <a:r>
              <a:rPr lang="en-US" dirty="0" smtClean="0"/>
              <a:t> in Zion and sound the trumpet on My holy mountain!  Let all the inhabitants of the land tremble; for the day of G-d has come.” (Joel 2:1)</a:t>
            </a:r>
          </a:p>
          <a:p>
            <a:r>
              <a:rPr lang="en-US" i="1" dirty="0" smtClean="0"/>
              <a:t>A call to repentance</a:t>
            </a:r>
            <a:endParaRPr lang="en-US" i="1" dirty="0"/>
          </a:p>
        </p:txBody>
      </p:sp>
      <p:pic>
        <p:nvPicPr>
          <p:cNvPr id="4" name="Picture 3" descr="Repentance.jpeg"/>
          <p:cNvPicPr>
            <a:picLocks noChangeAspect="1"/>
          </p:cNvPicPr>
          <p:nvPr/>
        </p:nvPicPr>
        <p:blipFill>
          <a:blip r:embed="rId2" cstate="print"/>
          <a:srcRect l="-3101" b="14614"/>
          <a:stretch>
            <a:fillRect/>
          </a:stretch>
        </p:blipFill>
        <p:spPr>
          <a:xfrm>
            <a:off x="5257800" y="3200400"/>
            <a:ext cx="2895600" cy="31350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ar Sinai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33600" y="3124200"/>
            <a:ext cx="5186363" cy="33192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Message #3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“The sound of the </a:t>
            </a:r>
            <a:r>
              <a:rPr lang="en-US" dirty="0" err="1" smtClean="0"/>
              <a:t>shofar</a:t>
            </a:r>
            <a:r>
              <a:rPr lang="en-US" dirty="0" smtClean="0"/>
              <a:t> grew much stronger; Moses spoke, and G-d responded with a firm voice” (Exodus 19:19)</a:t>
            </a:r>
          </a:p>
          <a:p>
            <a:r>
              <a:rPr lang="en-US" i="1" dirty="0" smtClean="0"/>
              <a:t>Receiving the Torah at Mount Sinai</a:t>
            </a:r>
            <a:endParaRPr lang="en-US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rophets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867401" y="2954323"/>
            <a:ext cx="2743200" cy="359887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Message #4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“I appointed watchmen (prophets) over you who warned, ‘Hearken to the sound of the </a:t>
            </a:r>
            <a:r>
              <a:rPr lang="en-US" dirty="0" err="1" smtClean="0"/>
              <a:t>shofar</a:t>
            </a:r>
            <a:r>
              <a:rPr lang="en-US" dirty="0" smtClean="0"/>
              <a:t>’ ” (Jeremiah 6:17)</a:t>
            </a:r>
          </a:p>
          <a:p>
            <a:r>
              <a:rPr lang="en-US" i="1" dirty="0" smtClean="0"/>
              <a:t>The admonitions of our prophets</a:t>
            </a:r>
            <a:endParaRPr lang="en-US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Message #5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“You shall blow on the trumpets, by your burnt offerings and by your peace offerings” (Numbers 10:10)</a:t>
            </a:r>
          </a:p>
          <a:p>
            <a:r>
              <a:rPr lang="en-US" i="1" dirty="0" smtClean="0"/>
              <a:t>The </a:t>
            </a:r>
            <a:r>
              <a:rPr lang="en-US" i="1" dirty="0" err="1" smtClean="0"/>
              <a:t>Beit</a:t>
            </a:r>
            <a:r>
              <a:rPr lang="en-US" i="1" dirty="0" smtClean="0"/>
              <a:t> </a:t>
            </a:r>
            <a:r>
              <a:rPr lang="en-US" i="1" dirty="0" err="1" smtClean="0"/>
              <a:t>Hamikdosh</a:t>
            </a:r>
            <a:r>
              <a:rPr lang="en-US" i="1" dirty="0" smtClean="0"/>
              <a:t> / Holy Temple in Jerusalem</a:t>
            </a:r>
            <a:endParaRPr lang="en-US" i="1" dirty="0"/>
          </a:p>
        </p:txBody>
      </p:sp>
      <p:pic>
        <p:nvPicPr>
          <p:cNvPr id="4" name="Picture 3" descr="Beit Hamikdosh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36653" y="3733800"/>
            <a:ext cx="4097547" cy="2895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Message #6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“He saw a ram, behind, caught by its horns in the thicket.  Abraham went, took the ram, and offered it as an offering in place of his son” (Genesis 22:13)</a:t>
            </a:r>
          </a:p>
          <a:p>
            <a:r>
              <a:rPr lang="en-US" i="1" dirty="0" smtClean="0"/>
              <a:t>The Binding of Isaac</a:t>
            </a:r>
            <a:endParaRPr lang="en-US" i="1" dirty="0"/>
          </a:p>
        </p:txBody>
      </p:sp>
      <p:pic>
        <p:nvPicPr>
          <p:cNvPr id="4" name="Picture 3" descr="Ram Akeidat Yitzchok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97542" y="3276600"/>
            <a:ext cx="4060658" cy="3086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Message #7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“Would a </a:t>
            </a:r>
            <a:r>
              <a:rPr lang="en-US" dirty="0" err="1" smtClean="0"/>
              <a:t>shofar</a:t>
            </a:r>
            <a:r>
              <a:rPr lang="en-US" dirty="0" smtClean="0"/>
              <a:t> be blown in the city, and the people not tremble?” (Amos 3:6)</a:t>
            </a:r>
          </a:p>
          <a:p>
            <a:r>
              <a:rPr lang="en-US" i="1" dirty="0" smtClean="0"/>
              <a:t>Fear of G-d</a:t>
            </a:r>
            <a:endParaRPr lang="en-US" i="1" dirty="0"/>
          </a:p>
        </p:txBody>
      </p:sp>
      <p:pic>
        <p:nvPicPr>
          <p:cNvPr id="4" name="Picture 3" descr="Fear of Heaven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7999" y="2971800"/>
            <a:ext cx="4816321" cy="32853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Message #8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“The great day of G-d is near…a day of fury is that day…a day of </a:t>
            </a:r>
            <a:r>
              <a:rPr lang="en-US" dirty="0" err="1" smtClean="0"/>
              <a:t>shofar</a:t>
            </a:r>
            <a:r>
              <a:rPr lang="en-US" dirty="0" smtClean="0"/>
              <a:t> sounds” (</a:t>
            </a:r>
            <a:r>
              <a:rPr lang="en-US" dirty="0" err="1" smtClean="0"/>
              <a:t>Tzefania</a:t>
            </a:r>
            <a:r>
              <a:rPr lang="en-US" dirty="0" smtClean="0"/>
              <a:t> 1:14-16)</a:t>
            </a:r>
          </a:p>
          <a:p>
            <a:r>
              <a:rPr lang="en-US" i="1" dirty="0" smtClean="0"/>
              <a:t>The Day of </a:t>
            </a:r>
            <a:r>
              <a:rPr lang="en-US" i="1" dirty="0" err="1" smtClean="0"/>
              <a:t>Judgement</a:t>
            </a:r>
            <a:endParaRPr lang="en-US" i="1" dirty="0"/>
          </a:p>
        </p:txBody>
      </p:sp>
      <p:pic>
        <p:nvPicPr>
          <p:cNvPr id="4" name="Picture 3" descr="Judgement Day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780005" y="2667000"/>
            <a:ext cx="3449595" cy="381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Returning to Israel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90800" y="4114800"/>
            <a:ext cx="3886200" cy="2590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Message #9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“It will be on that day, a great </a:t>
            </a:r>
            <a:r>
              <a:rPr lang="en-US" dirty="0" err="1" smtClean="0"/>
              <a:t>shofar</a:t>
            </a:r>
            <a:r>
              <a:rPr lang="en-US" dirty="0" smtClean="0"/>
              <a:t> will be blown, and those who are lost in the land of Assyria, and those cast away in the land of Egypt, will come….to G-d on the holy mountain in Jerusalem” (Isaiah 27:13)</a:t>
            </a:r>
          </a:p>
          <a:p>
            <a:r>
              <a:rPr lang="en-US" i="1" dirty="0" smtClean="0"/>
              <a:t>Gathering of the exiles, arrival of </a:t>
            </a:r>
            <a:r>
              <a:rPr lang="en-US" i="1" dirty="0" err="1" smtClean="0"/>
              <a:t>Mashiach</a:t>
            </a:r>
            <a:endParaRPr lang="en-US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Message #10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“All you inhabitants of the world and dwellers of the earth…when the </a:t>
            </a:r>
            <a:r>
              <a:rPr lang="en-US" dirty="0" err="1" smtClean="0"/>
              <a:t>shofar</a:t>
            </a:r>
            <a:r>
              <a:rPr lang="en-US" dirty="0" smtClean="0"/>
              <a:t> sounds you will hear” (Isaiah 18:3)</a:t>
            </a:r>
          </a:p>
          <a:p>
            <a:r>
              <a:rPr lang="en-US" i="1" dirty="0" smtClean="0"/>
              <a:t>Revival of the dead</a:t>
            </a:r>
            <a:endParaRPr lang="en-US" i="1" dirty="0"/>
          </a:p>
        </p:txBody>
      </p:sp>
      <p:pic>
        <p:nvPicPr>
          <p:cNvPr id="4" name="Picture 3" descr="Cemetery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191000" y="2971800"/>
            <a:ext cx="4163786" cy="3400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Additional Message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“From the tight spot I call to G-d; G-d answered me with expansiveness” (Psalms 118:5)</a:t>
            </a:r>
          </a:p>
          <a:p>
            <a:r>
              <a:rPr lang="en-US" i="1" dirty="0" smtClean="0"/>
              <a:t>The </a:t>
            </a:r>
            <a:r>
              <a:rPr lang="en-US" i="1" dirty="0" err="1" smtClean="0"/>
              <a:t>shofar</a:t>
            </a:r>
            <a:r>
              <a:rPr lang="en-US" i="1" dirty="0" smtClean="0"/>
              <a:t> is blown at the narrow end, and the sound comes from the wide end.</a:t>
            </a:r>
          </a:p>
          <a:p>
            <a:r>
              <a:rPr lang="en-US" i="1" dirty="0" smtClean="0"/>
              <a:t>A person who feels blocked in and contrite, inspires a response of wideness and open-handedness</a:t>
            </a:r>
            <a:endParaRPr lang="en-US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3370</TotalTime>
  <Words>508</Words>
  <Application>Microsoft Office PowerPoint</Application>
  <PresentationFormat>On-screen Show (4:3)</PresentationFormat>
  <Paragraphs>42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Messages of the Shofar</vt:lpstr>
      <vt:lpstr>What is a shofar?</vt:lpstr>
      <vt:lpstr>The Torah Instructs:</vt:lpstr>
      <vt:lpstr>Message #1</vt:lpstr>
      <vt:lpstr>Message #2</vt:lpstr>
      <vt:lpstr>Message #3</vt:lpstr>
      <vt:lpstr>Message #4</vt:lpstr>
      <vt:lpstr>Message #5</vt:lpstr>
      <vt:lpstr>Message #6</vt:lpstr>
      <vt:lpstr>Message #7</vt:lpstr>
      <vt:lpstr>Message #8</vt:lpstr>
      <vt:lpstr>Message #9</vt:lpstr>
      <vt:lpstr>Message #10</vt:lpstr>
      <vt:lpstr>Additional Message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USER</cp:lastModifiedBy>
  <cp:revision>12</cp:revision>
  <dcterms:created xsi:type="dcterms:W3CDTF">2017-08-22T16:04:41Z</dcterms:created>
  <dcterms:modified xsi:type="dcterms:W3CDTF">2017-08-25T00:15:08Z</dcterms:modified>
</cp:coreProperties>
</file>