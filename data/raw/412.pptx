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gif" ContentType="image/gif"/>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257" r:id="rId3"/>
    <p:sldId id="265" r:id="rId4"/>
    <p:sldId id="282" r:id="rId5"/>
    <p:sldId id="281" r:id="rId6"/>
    <p:sldId id="266" r:id="rId7"/>
    <p:sldId id="271" r:id="rId8"/>
    <p:sldId id="272" r:id="rId9"/>
    <p:sldId id="273" r:id="rId10"/>
    <p:sldId id="267" r:id="rId11"/>
    <p:sldId id="274" r:id="rId12"/>
    <p:sldId id="295" r:id="rId13"/>
    <p:sldId id="275" r:id="rId14"/>
    <p:sldId id="277" r:id="rId15"/>
    <p:sldId id="278" r:id="rId16"/>
    <p:sldId id="284" r:id="rId17"/>
    <p:sldId id="283" r:id="rId18"/>
    <p:sldId id="293" r:id="rId19"/>
    <p:sldId id="291" r:id="rId20"/>
    <p:sldId id="286" r:id="rId21"/>
    <p:sldId id="287"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38" d="100"/>
          <a:sy n="38" d="100"/>
        </p:scale>
        <p:origin x="-840" y="-108"/>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DF8F42A-B6C7-406C-B585-7351BB686795}" type="datetimeFigureOut">
              <a:rPr lang="en-US" smtClean="0"/>
              <a:pPr/>
              <a:t>2/29/2012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3EC7EF-1DF9-4314-BF21-FC30432C78C9}"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sz="1200" b="1" dirty="0" smtClean="0"/>
              <a:t>Teacher to student- clarify doubts, make one not interpert Torah on own interpertation. </a:t>
            </a:r>
          </a:p>
          <a:p>
            <a:endParaRPr lang="en-US" dirty="0"/>
          </a:p>
        </p:txBody>
      </p:sp>
      <p:sp>
        <p:nvSpPr>
          <p:cNvPr id="4" name="Slide Number Placeholder 3"/>
          <p:cNvSpPr>
            <a:spLocks noGrp="1"/>
          </p:cNvSpPr>
          <p:nvPr>
            <p:ph type="sldNum" sz="quarter" idx="10"/>
          </p:nvPr>
        </p:nvSpPr>
        <p:spPr/>
        <p:txBody>
          <a:bodyPr/>
          <a:lstStyle/>
          <a:p>
            <a:fld id="{563EC7EF-1DF9-4314-BF21-FC30432C78C9}" type="slidenum">
              <a:rPr lang="en-US" smtClean="0"/>
              <a:pPr/>
              <a:t>15</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376A9B86-70A5-463D-8C6E-5931B36BF9AE}" type="datetimeFigureOut">
              <a:rPr lang="en-US" smtClean="0"/>
              <a:pPr/>
              <a:t>2/29/2012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910F5E-C12E-4253-BE6A-97A737DFD378}"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76A9B86-70A5-463D-8C6E-5931B36BF9AE}" type="datetimeFigureOut">
              <a:rPr lang="en-US" smtClean="0"/>
              <a:pPr/>
              <a:t>2/29/2012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910F5E-C12E-4253-BE6A-97A737DFD378}"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76A9B86-70A5-463D-8C6E-5931B36BF9AE}" type="datetimeFigureOut">
              <a:rPr lang="en-US" smtClean="0"/>
              <a:pPr/>
              <a:t>2/29/2012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910F5E-C12E-4253-BE6A-97A737DFD378}"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76A9B86-70A5-463D-8C6E-5931B36BF9AE}" type="datetimeFigureOut">
              <a:rPr lang="en-US" smtClean="0"/>
              <a:pPr/>
              <a:t>2/29/2012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910F5E-C12E-4253-BE6A-97A737DFD378}"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76A9B86-70A5-463D-8C6E-5931B36BF9AE}" type="datetimeFigureOut">
              <a:rPr lang="en-US" smtClean="0"/>
              <a:pPr/>
              <a:t>2/29/2012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E910F5E-C12E-4253-BE6A-97A737DFD378}"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76A9B86-70A5-463D-8C6E-5931B36BF9AE}" type="datetimeFigureOut">
              <a:rPr lang="en-US" smtClean="0"/>
              <a:pPr/>
              <a:t>2/29/2012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E910F5E-C12E-4253-BE6A-97A737DFD378}"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76A9B86-70A5-463D-8C6E-5931B36BF9AE}" type="datetimeFigureOut">
              <a:rPr lang="en-US" smtClean="0"/>
              <a:pPr/>
              <a:t>2/29/2012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E910F5E-C12E-4253-BE6A-97A737DFD378}"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76A9B86-70A5-463D-8C6E-5931B36BF9AE}" type="datetimeFigureOut">
              <a:rPr lang="en-US" smtClean="0"/>
              <a:pPr/>
              <a:t>2/29/2012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910F5E-C12E-4253-BE6A-97A737DFD378}"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76A9B86-70A5-463D-8C6E-5931B36BF9AE}" type="datetimeFigureOut">
              <a:rPr lang="en-US" smtClean="0"/>
              <a:pPr/>
              <a:t>2/29/2012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910F5E-C12E-4253-BE6A-97A737DFD378}"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76A9B86-70A5-463D-8C6E-5931B36BF9AE}" type="datetimeFigureOut">
              <a:rPr lang="en-US" smtClean="0"/>
              <a:pPr/>
              <a:t>2/29/2012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910F5E-C12E-4253-BE6A-97A737DFD378}"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76A9B86-70A5-463D-8C6E-5931B36BF9AE}" type="datetimeFigureOut">
              <a:rPr lang="en-US" smtClean="0"/>
              <a:pPr/>
              <a:t>2/29/2012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910F5E-C12E-4253-BE6A-97A737DFD378}"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6A9B86-70A5-463D-8C6E-5931B36BF9AE}" type="datetimeFigureOut">
              <a:rPr lang="en-US" smtClean="0"/>
              <a:pPr/>
              <a:t>2/29/2012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E910F5E-C12E-4253-BE6A-97A737DFD378}"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1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1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7.jpeg"/></Relationships>
</file>

<file path=ppt/slides/_rels/slide16.xml.rels><?xml version="1.0" encoding="UTF-8" standalone="yes"?>
<Relationships xmlns="http://schemas.openxmlformats.org/package/2006/relationships"><Relationship Id="rId3" Type="http://schemas.openxmlformats.org/officeDocument/2006/relationships/hyperlink" Target="http://www.animatedtalmud.com/" TargetMode="External"/><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pic>
        <p:nvPicPr>
          <p:cNvPr id="1026" name="Picture 2" descr="http://derek4messiah.files.wordpress.com/2010/11/1torah.jpg"/>
          <p:cNvPicPr>
            <a:picLocks noChangeAspect="1" noChangeArrowheads="1"/>
          </p:cNvPicPr>
          <p:nvPr/>
        </p:nvPicPr>
        <p:blipFill>
          <a:blip r:embed="rId2" cstate="print">
            <a:duotone>
              <a:prstClr val="black"/>
              <a:schemeClr val="accent6">
                <a:tint val="45000"/>
                <a:satMod val="400000"/>
              </a:schemeClr>
            </a:duotone>
          </a:blip>
          <a:srcRect/>
          <a:stretch>
            <a:fillRect/>
          </a:stretch>
        </p:blipFill>
        <p:spPr bwMode="auto">
          <a:xfrm>
            <a:off x="0" y="0"/>
            <a:ext cx="9144000" cy="7010400"/>
          </a:xfrm>
          <a:prstGeom prst="rect">
            <a:avLst/>
          </a:prstGeom>
          <a:noFill/>
        </p:spPr>
      </p:pic>
      <p:sp>
        <p:nvSpPr>
          <p:cNvPr id="5" name="TextBox 4"/>
          <p:cNvSpPr txBox="1"/>
          <p:nvPr/>
        </p:nvSpPr>
        <p:spPr>
          <a:xfrm>
            <a:off x="1600200" y="1524000"/>
            <a:ext cx="5943600" cy="3170099"/>
          </a:xfrm>
          <a:prstGeom prst="rect">
            <a:avLst/>
          </a:prstGeom>
          <a:noFill/>
        </p:spPr>
        <p:txBody>
          <a:bodyPr wrap="square" rtlCol="0">
            <a:spAutoFit/>
          </a:bodyPr>
          <a:lstStyle/>
          <a:p>
            <a:pPr algn="ctr"/>
            <a:r>
              <a:rPr lang="en-US" sz="10000" b="1" dirty="0" smtClean="0">
                <a:solidFill>
                  <a:schemeClr val="bg1">
                    <a:lumMod val="95000"/>
                  </a:schemeClr>
                </a:solidFill>
                <a:latin typeface="Algerian" pitchFamily="82" charset="0"/>
              </a:rPr>
              <a:t>The Torah</a:t>
            </a:r>
            <a:endParaRPr lang="en-US" sz="10000" b="1" dirty="0">
              <a:solidFill>
                <a:schemeClr val="bg1">
                  <a:lumMod val="95000"/>
                </a:schemeClr>
              </a:solidFill>
              <a:latin typeface="Algerian" pitchFamily="82" charset="0"/>
            </a:endParaRPr>
          </a:p>
        </p:txBody>
      </p:sp>
      <p:sp>
        <p:nvSpPr>
          <p:cNvPr id="6" name="TextBox 5"/>
          <p:cNvSpPr txBox="1"/>
          <p:nvPr/>
        </p:nvSpPr>
        <p:spPr>
          <a:xfrm>
            <a:off x="1828800" y="5105400"/>
            <a:ext cx="5791200" cy="1200329"/>
          </a:xfrm>
          <a:prstGeom prst="rect">
            <a:avLst/>
          </a:prstGeom>
          <a:noFill/>
        </p:spPr>
        <p:txBody>
          <a:bodyPr wrap="square" rtlCol="0">
            <a:spAutoFit/>
          </a:bodyPr>
          <a:lstStyle/>
          <a:p>
            <a:pPr algn="ctr"/>
            <a:r>
              <a:rPr lang="en-US" sz="3600" b="1" dirty="0" err="1" smtClean="0">
                <a:solidFill>
                  <a:schemeClr val="bg1">
                    <a:lumMod val="95000"/>
                  </a:schemeClr>
                </a:solidFill>
                <a:latin typeface="Algerian" pitchFamily="82" charset="0"/>
              </a:rPr>
              <a:t>Beit</a:t>
            </a:r>
            <a:r>
              <a:rPr lang="en-US" sz="3600" b="1" dirty="0" smtClean="0">
                <a:solidFill>
                  <a:schemeClr val="bg1">
                    <a:lumMod val="95000"/>
                  </a:schemeClr>
                </a:solidFill>
                <a:latin typeface="Algerian" pitchFamily="82" charset="0"/>
              </a:rPr>
              <a:t> </a:t>
            </a:r>
            <a:r>
              <a:rPr lang="en-US" sz="3600" b="1" dirty="0" err="1" smtClean="0">
                <a:solidFill>
                  <a:schemeClr val="bg1">
                    <a:lumMod val="95000"/>
                  </a:schemeClr>
                </a:solidFill>
                <a:latin typeface="Algerian" pitchFamily="82" charset="0"/>
              </a:rPr>
              <a:t>Chabad</a:t>
            </a:r>
            <a:r>
              <a:rPr lang="en-US" sz="3600" b="1" dirty="0" smtClean="0">
                <a:solidFill>
                  <a:schemeClr val="bg1">
                    <a:lumMod val="95000"/>
                  </a:schemeClr>
                </a:solidFill>
                <a:latin typeface="Algerian" pitchFamily="82" charset="0"/>
              </a:rPr>
              <a:t> Manaus</a:t>
            </a:r>
          </a:p>
          <a:p>
            <a:pPr algn="ctr"/>
            <a:r>
              <a:rPr lang="en-US" sz="3600" b="1" dirty="0" smtClean="0">
                <a:solidFill>
                  <a:schemeClr val="bg1">
                    <a:lumMod val="95000"/>
                  </a:schemeClr>
                </a:solidFill>
                <a:latin typeface="Algerian" pitchFamily="82" charset="0"/>
              </a:rPr>
              <a:t>5 de </a:t>
            </a:r>
            <a:r>
              <a:rPr lang="en-US" sz="3600" b="1" dirty="0" err="1" smtClean="0">
                <a:solidFill>
                  <a:schemeClr val="bg1">
                    <a:lumMod val="95000"/>
                  </a:schemeClr>
                </a:solidFill>
                <a:latin typeface="Algerian" pitchFamily="82" charset="0"/>
              </a:rPr>
              <a:t>Shvat</a:t>
            </a:r>
            <a:r>
              <a:rPr lang="en-US" sz="3600" b="1" dirty="0" smtClean="0">
                <a:solidFill>
                  <a:schemeClr val="bg1">
                    <a:lumMod val="95000"/>
                  </a:schemeClr>
                </a:solidFill>
                <a:latin typeface="Algerian" pitchFamily="82" charset="0"/>
              </a:rPr>
              <a:t> 5772</a:t>
            </a:r>
            <a:endParaRPr lang="en-US" sz="3600" b="1" dirty="0">
              <a:solidFill>
                <a:schemeClr val="bg1">
                  <a:lumMod val="95000"/>
                </a:schemeClr>
              </a:solidFill>
              <a:latin typeface="Algerian" pitchFamily="82"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1266" name="Picture 2" descr="Antique Scroll"/>
          <p:cNvPicPr>
            <a:picLocks noChangeAspect="1" noChangeArrowheads="1"/>
          </p:cNvPicPr>
          <p:nvPr/>
        </p:nvPicPr>
        <p:blipFill>
          <a:blip r:embed="rId2" cstate="print"/>
          <a:srcRect/>
          <a:stretch>
            <a:fillRect/>
          </a:stretch>
        </p:blipFill>
        <p:spPr bwMode="auto">
          <a:xfrm>
            <a:off x="0" y="0"/>
            <a:ext cx="9283700" cy="6962776"/>
          </a:xfrm>
          <a:prstGeom prst="rect">
            <a:avLst/>
          </a:prstGeom>
          <a:noFill/>
        </p:spPr>
      </p:pic>
      <p:sp>
        <p:nvSpPr>
          <p:cNvPr id="5" name="TextBox 4"/>
          <p:cNvSpPr txBox="1"/>
          <p:nvPr/>
        </p:nvSpPr>
        <p:spPr>
          <a:xfrm>
            <a:off x="1371600" y="914400"/>
            <a:ext cx="6248400" cy="769441"/>
          </a:xfrm>
          <a:prstGeom prst="rect">
            <a:avLst/>
          </a:prstGeom>
          <a:noFill/>
        </p:spPr>
        <p:txBody>
          <a:bodyPr wrap="square" rtlCol="0">
            <a:spAutoFit/>
          </a:bodyPr>
          <a:lstStyle/>
          <a:p>
            <a:pPr algn="ctr"/>
            <a:r>
              <a:rPr lang="en-US" sz="4400" b="1" dirty="0" smtClean="0"/>
              <a:t>What is the Torah?</a:t>
            </a:r>
            <a:endParaRPr lang="en-US" sz="4400" b="1" dirty="0"/>
          </a:p>
        </p:txBody>
      </p:sp>
      <p:sp>
        <p:nvSpPr>
          <p:cNvPr id="6" name="TextBox 5"/>
          <p:cNvSpPr txBox="1"/>
          <p:nvPr/>
        </p:nvSpPr>
        <p:spPr>
          <a:xfrm>
            <a:off x="914400" y="1676400"/>
            <a:ext cx="7772400" cy="4462760"/>
          </a:xfrm>
          <a:prstGeom prst="rect">
            <a:avLst/>
          </a:prstGeom>
          <a:noFill/>
        </p:spPr>
        <p:txBody>
          <a:bodyPr wrap="square" rtlCol="0">
            <a:spAutoFit/>
          </a:bodyPr>
          <a:lstStyle/>
          <a:p>
            <a:pPr>
              <a:buFont typeface="Arial" pitchFamily="34" charset="0"/>
              <a:buChar char="•"/>
            </a:pPr>
            <a:r>
              <a:rPr lang="en-US" sz="2200" b="1" dirty="0" smtClean="0"/>
              <a:t> Torah literally means lesson coming from the Hebrew word “HORA’AH”.  </a:t>
            </a:r>
          </a:p>
          <a:p>
            <a:pPr>
              <a:buFont typeface="Arial" pitchFamily="34" charset="0"/>
              <a:buChar char="•"/>
            </a:pPr>
            <a:r>
              <a:rPr lang="en-US" sz="2200" b="1" dirty="0" err="1" smtClean="0">
                <a:solidFill>
                  <a:schemeClr val="tx2">
                    <a:lumMod val="75000"/>
                  </a:schemeClr>
                </a:solidFill>
              </a:rPr>
              <a:t>TaNach</a:t>
            </a:r>
            <a:r>
              <a:rPr lang="en-US" sz="2200" b="1" dirty="0" smtClean="0"/>
              <a:t>- Torah, </a:t>
            </a:r>
            <a:r>
              <a:rPr lang="en-US" sz="2200" b="1" dirty="0" err="1" smtClean="0"/>
              <a:t>Neviim</a:t>
            </a:r>
            <a:r>
              <a:rPr lang="en-US" sz="2200" b="1" dirty="0" smtClean="0"/>
              <a:t>, </a:t>
            </a:r>
            <a:r>
              <a:rPr lang="en-US" sz="2200" b="1" dirty="0" err="1" smtClean="0"/>
              <a:t>Ketuvim</a:t>
            </a:r>
            <a:endParaRPr lang="en-US" sz="2200" b="1" dirty="0" smtClean="0"/>
          </a:p>
          <a:p>
            <a:pPr>
              <a:buFont typeface="Arial" pitchFamily="34" charset="0"/>
              <a:buChar char="•"/>
            </a:pPr>
            <a:r>
              <a:rPr lang="en-US" sz="2200" b="1" dirty="0" smtClean="0">
                <a:solidFill>
                  <a:schemeClr val="tx2">
                    <a:lumMod val="75000"/>
                  </a:schemeClr>
                </a:solidFill>
              </a:rPr>
              <a:t>Torah-</a:t>
            </a:r>
            <a:r>
              <a:rPr lang="en-US" sz="2200" b="1" dirty="0" smtClean="0"/>
              <a:t> </a:t>
            </a:r>
            <a:r>
              <a:rPr lang="en-US" sz="2200" b="1" dirty="0" err="1" smtClean="0"/>
              <a:t>Bereishit</a:t>
            </a:r>
            <a:r>
              <a:rPr lang="en-US" sz="2200" b="1" dirty="0" smtClean="0"/>
              <a:t>, </a:t>
            </a:r>
            <a:r>
              <a:rPr lang="en-US" sz="2200" b="1" dirty="0" err="1" smtClean="0"/>
              <a:t>Shemot</a:t>
            </a:r>
            <a:r>
              <a:rPr lang="en-US" sz="2200" b="1" dirty="0" smtClean="0"/>
              <a:t>, </a:t>
            </a:r>
            <a:r>
              <a:rPr lang="en-US" sz="2200" b="1" dirty="0" err="1" smtClean="0"/>
              <a:t>Vayikra</a:t>
            </a:r>
            <a:r>
              <a:rPr lang="en-US" sz="2200" b="1" dirty="0" smtClean="0"/>
              <a:t>, </a:t>
            </a:r>
            <a:r>
              <a:rPr lang="en-US" sz="2200" b="1" dirty="0" err="1" smtClean="0"/>
              <a:t>Bamidbar</a:t>
            </a:r>
            <a:r>
              <a:rPr lang="en-US" sz="2200" b="1" dirty="0" smtClean="0"/>
              <a:t>, and </a:t>
            </a:r>
            <a:r>
              <a:rPr lang="en-US" sz="2200" b="1" dirty="0" err="1" smtClean="0"/>
              <a:t>Devarim</a:t>
            </a:r>
            <a:r>
              <a:rPr lang="en-US" sz="2200" b="1" dirty="0" smtClean="0"/>
              <a:t>.</a:t>
            </a:r>
          </a:p>
          <a:p>
            <a:pPr>
              <a:buFont typeface="Arial" pitchFamily="34" charset="0"/>
              <a:buChar char="•"/>
            </a:pPr>
            <a:r>
              <a:rPr lang="en-US" sz="2200" b="1" dirty="0" err="1" smtClean="0">
                <a:solidFill>
                  <a:schemeClr val="tx2">
                    <a:lumMod val="75000"/>
                  </a:schemeClr>
                </a:solidFill>
              </a:rPr>
              <a:t>Neviim</a:t>
            </a:r>
            <a:r>
              <a:rPr lang="en-US" sz="2200" b="1" dirty="0" smtClean="0"/>
              <a:t> - Joshua, Judges, 1st and 2nd Samuel, 1st and 2nd Kings. The Latter Prophets include the "Major" prophets of Isaiah, Jeremiah and Ezekiel and "Minor" prophets or "The Twelve" books of Hosea, Joel, Amos, Obadiah, Jonah, Micah, Nahum, Habakkuk, Zephaniah, Haggai, Zechariah and </a:t>
            </a:r>
            <a:r>
              <a:rPr lang="en-US" sz="2200" b="1" dirty="0" err="1" smtClean="0"/>
              <a:t>Malach</a:t>
            </a:r>
            <a:endParaRPr lang="en-US" sz="2200" b="1" dirty="0" smtClean="0"/>
          </a:p>
          <a:p>
            <a:pPr>
              <a:buFont typeface="Arial" pitchFamily="34" charset="0"/>
              <a:buChar char="•"/>
            </a:pPr>
            <a:r>
              <a:rPr lang="en-US" sz="2200" b="1" dirty="0" err="1" smtClean="0">
                <a:solidFill>
                  <a:schemeClr val="tx2">
                    <a:lumMod val="75000"/>
                  </a:schemeClr>
                </a:solidFill>
              </a:rPr>
              <a:t>Ketuvim</a:t>
            </a:r>
            <a:r>
              <a:rPr lang="en-US" sz="2200" b="1" dirty="0" smtClean="0"/>
              <a:t>- </a:t>
            </a:r>
            <a:r>
              <a:rPr lang="en-US" sz="2200" b="1" dirty="0" err="1" smtClean="0"/>
              <a:t>Tehillim</a:t>
            </a:r>
            <a:r>
              <a:rPr lang="en-US" sz="2200" b="1" dirty="0" smtClean="0"/>
              <a:t> , </a:t>
            </a:r>
            <a:r>
              <a:rPr lang="en-US" sz="2200" b="1" dirty="0" err="1" smtClean="0"/>
              <a:t>Mishlei</a:t>
            </a:r>
            <a:r>
              <a:rPr lang="en-US" sz="2200" b="1" dirty="0" smtClean="0"/>
              <a:t>, </a:t>
            </a:r>
            <a:r>
              <a:rPr lang="en-US" sz="2200" b="1" dirty="0" err="1" smtClean="0"/>
              <a:t>Iyov</a:t>
            </a:r>
            <a:r>
              <a:rPr lang="en-US" sz="2200" b="1" dirty="0" smtClean="0"/>
              <a:t> , </a:t>
            </a:r>
            <a:r>
              <a:rPr lang="en-US" sz="2200" b="1" dirty="0" err="1" smtClean="0"/>
              <a:t>Shir</a:t>
            </a:r>
            <a:r>
              <a:rPr lang="en-US" sz="2200" b="1" dirty="0" smtClean="0"/>
              <a:t> </a:t>
            </a:r>
            <a:r>
              <a:rPr lang="en-US" sz="2200" b="1" dirty="0" err="1" smtClean="0"/>
              <a:t>Hashirim</a:t>
            </a:r>
            <a:r>
              <a:rPr lang="en-US" sz="2200" b="1" dirty="0" smtClean="0"/>
              <a:t>, Rut, </a:t>
            </a:r>
            <a:r>
              <a:rPr lang="en-US" sz="2200" b="1" dirty="0" err="1" smtClean="0"/>
              <a:t>Eichah</a:t>
            </a:r>
            <a:r>
              <a:rPr lang="en-US" sz="2200" b="1" dirty="0" smtClean="0"/>
              <a:t>, </a:t>
            </a:r>
            <a:r>
              <a:rPr lang="en-US" sz="2200" b="1" dirty="0" err="1" smtClean="0"/>
              <a:t>Kohelet</a:t>
            </a:r>
            <a:r>
              <a:rPr lang="en-US" sz="2200" b="1" dirty="0" smtClean="0"/>
              <a:t/>
            </a:r>
            <a:br>
              <a:rPr lang="en-US" sz="2200" b="1" dirty="0" smtClean="0"/>
            </a:br>
            <a:r>
              <a:rPr lang="en-US" sz="2200" b="1" dirty="0" smtClean="0"/>
              <a:t>Esther, Daniel, Ezra, </a:t>
            </a:r>
            <a:r>
              <a:rPr lang="en-US" sz="2200" b="1" dirty="0" err="1" smtClean="0"/>
              <a:t>Nechemiah</a:t>
            </a:r>
            <a:r>
              <a:rPr lang="en-US" sz="2200" b="1" dirty="0" smtClean="0"/>
              <a:t> , </a:t>
            </a:r>
            <a:r>
              <a:rPr lang="en-US" sz="2200" b="1" dirty="0" err="1" smtClean="0"/>
              <a:t>Divrei</a:t>
            </a:r>
            <a:r>
              <a:rPr lang="en-US" sz="2200" b="1" dirty="0" smtClean="0"/>
              <a:t> </a:t>
            </a:r>
            <a:r>
              <a:rPr lang="en-US" sz="2200" b="1" dirty="0" err="1" smtClean="0"/>
              <a:t>Hayamim</a:t>
            </a:r>
            <a:r>
              <a:rPr lang="en-US" sz="2200" b="1" dirty="0" smtClean="0"/>
              <a:t> I &amp; II</a:t>
            </a:r>
          </a:p>
          <a:p>
            <a:endParaRPr lang="en-US" sz="2000" b="1"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1266" name="Picture 2" descr="Antique Scroll"/>
          <p:cNvPicPr>
            <a:picLocks noChangeAspect="1" noChangeArrowheads="1"/>
          </p:cNvPicPr>
          <p:nvPr/>
        </p:nvPicPr>
        <p:blipFill>
          <a:blip r:embed="rId2" cstate="print"/>
          <a:srcRect/>
          <a:stretch>
            <a:fillRect/>
          </a:stretch>
        </p:blipFill>
        <p:spPr bwMode="auto">
          <a:xfrm>
            <a:off x="0" y="0"/>
            <a:ext cx="9283700" cy="6962776"/>
          </a:xfrm>
          <a:prstGeom prst="rect">
            <a:avLst/>
          </a:prstGeom>
          <a:noFill/>
        </p:spPr>
      </p:pic>
      <p:sp>
        <p:nvSpPr>
          <p:cNvPr id="5" name="TextBox 4"/>
          <p:cNvSpPr txBox="1"/>
          <p:nvPr/>
        </p:nvSpPr>
        <p:spPr>
          <a:xfrm>
            <a:off x="1371600" y="914400"/>
            <a:ext cx="6248400" cy="769441"/>
          </a:xfrm>
          <a:prstGeom prst="rect">
            <a:avLst/>
          </a:prstGeom>
          <a:noFill/>
        </p:spPr>
        <p:txBody>
          <a:bodyPr wrap="square" rtlCol="0">
            <a:spAutoFit/>
          </a:bodyPr>
          <a:lstStyle/>
          <a:p>
            <a:pPr algn="ctr"/>
            <a:r>
              <a:rPr lang="en-US" sz="4400" b="1" dirty="0" smtClean="0"/>
              <a:t>Who wrote the Torah?</a:t>
            </a:r>
            <a:endParaRPr lang="en-US" sz="4400" b="1" dirty="0"/>
          </a:p>
        </p:txBody>
      </p:sp>
      <p:sp>
        <p:nvSpPr>
          <p:cNvPr id="6" name="TextBox 5"/>
          <p:cNvSpPr txBox="1"/>
          <p:nvPr/>
        </p:nvSpPr>
        <p:spPr>
          <a:xfrm>
            <a:off x="1219200" y="1905000"/>
            <a:ext cx="4953000" cy="3816429"/>
          </a:xfrm>
          <a:prstGeom prst="rect">
            <a:avLst/>
          </a:prstGeom>
          <a:noFill/>
        </p:spPr>
        <p:txBody>
          <a:bodyPr wrap="square" rtlCol="0">
            <a:spAutoFit/>
          </a:bodyPr>
          <a:lstStyle/>
          <a:p>
            <a:pPr>
              <a:buFont typeface="Arial" pitchFamily="34" charset="0"/>
              <a:buChar char="•"/>
            </a:pPr>
            <a:r>
              <a:rPr lang="en-US" sz="2200" b="1" dirty="0" smtClean="0"/>
              <a:t>There </a:t>
            </a:r>
            <a:r>
              <a:rPr lang="en-US" sz="2200" b="1" dirty="0"/>
              <a:t>is not title page so it allows for a debate who wrote it.</a:t>
            </a:r>
          </a:p>
          <a:p>
            <a:r>
              <a:rPr lang="en-US" sz="2200" b="1" dirty="0"/>
              <a:t>Torah is written in third person so it is difficult to know who wrote. As opposed to the prophets that it says I said.</a:t>
            </a:r>
          </a:p>
          <a:p>
            <a:pPr>
              <a:buFont typeface="Arial" pitchFamily="34" charset="0"/>
              <a:buChar char="•"/>
            </a:pPr>
            <a:r>
              <a:rPr lang="en-US" sz="2200" b="1" dirty="0" smtClean="0"/>
              <a:t> Talks </a:t>
            </a:r>
            <a:r>
              <a:rPr lang="en-US" sz="2200" b="1" dirty="0"/>
              <a:t>about birth and death of Moses.</a:t>
            </a:r>
          </a:p>
          <a:p>
            <a:pPr>
              <a:buFont typeface="Arial" pitchFamily="34" charset="0"/>
              <a:buChar char="•"/>
            </a:pPr>
            <a:r>
              <a:rPr lang="en-US" sz="2200" b="1" dirty="0" smtClean="0"/>
              <a:t> Moses </a:t>
            </a:r>
            <a:r>
              <a:rPr lang="en-US" sz="2200" b="1" dirty="0"/>
              <a:t>was the most humble person on the </a:t>
            </a:r>
            <a:r>
              <a:rPr lang="en-US" sz="2200" b="1" dirty="0" smtClean="0"/>
              <a:t>earth.</a:t>
            </a:r>
            <a:endParaRPr lang="en-US" sz="2200" dirty="0"/>
          </a:p>
          <a:p>
            <a:pPr>
              <a:buFont typeface="Arial" pitchFamily="34" charset="0"/>
              <a:buChar char="•"/>
            </a:pPr>
            <a:r>
              <a:rPr lang="en-US" sz="2200" b="1" dirty="0" smtClean="0"/>
              <a:t> Repeating sections &amp; </a:t>
            </a:r>
            <a:r>
              <a:rPr lang="en-US" sz="2200" b="1" dirty="0"/>
              <a:t>similar </a:t>
            </a:r>
            <a:r>
              <a:rPr lang="en-US" sz="2200" b="1" dirty="0" smtClean="0"/>
              <a:t>sections (Ex. Creation, 10 commandments)</a:t>
            </a:r>
            <a:endParaRPr lang="en-US" sz="2200" dirty="0"/>
          </a:p>
          <a:p>
            <a:endParaRPr lang="en-US" sz="2200" dirty="0"/>
          </a:p>
        </p:txBody>
      </p:sp>
      <p:pic>
        <p:nvPicPr>
          <p:cNvPr id="30722" name="Picture 2" descr="http://truthpraiseandhelp.files.wordpress.com/2009/09/sofer1.jpg?w=450"/>
          <p:cNvPicPr>
            <a:picLocks noChangeAspect="1" noChangeArrowheads="1"/>
          </p:cNvPicPr>
          <p:nvPr/>
        </p:nvPicPr>
        <p:blipFill>
          <a:blip r:embed="rId3" cstate="print"/>
          <a:srcRect/>
          <a:stretch>
            <a:fillRect/>
          </a:stretch>
        </p:blipFill>
        <p:spPr bwMode="auto">
          <a:xfrm>
            <a:off x="6096000" y="2057400"/>
            <a:ext cx="2838450" cy="3352800"/>
          </a:xfrm>
          <a:prstGeom prst="rect">
            <a:avLst/>
          </a:prstGeom>
          <a:noFill/>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1266" name="Picture 2" descr="Antique Scroll"/>
          <p:cNvPicPr>
            <a:picLocks noChangeAspect="1" noChangeArrowheads="1"/>
          </p:cNvPicPr>
          <p:nvPr/>
        </p:nvPicPr>
        <p:blipFill>
          <a:blip r:embed="rId2" cstate="print"/>
          <a:srcRect/>
          <a:stretch>
            <a:fillRect/>
          </a:stretch>
        </p:blipFill>
        <p:spPr bwMode="auto">
          <a:xfrm>
            <a:off x="0" y="0"/>
            <a:ext cx="9283700" cy="6962776"/>
          </a:xfrm>
          <a:prstGeom prst="rect">
            <a:avLst/>
          </a:prstGeom>
          <a:noFill/>
        </p:spPr>
      </p:pic>
      <p:sp>
        <p:nvSpPr>
          <p:cNvPr id="5" name="TextBox 4"/>
          <p:cNvSpPr txBox="1"/>
          <p:nvPr/>
        </p:nvSpPr>
        <p:spPr>
          <a:xfrm>
            <a:off x="1371600" y="914400"/>
            <a:ext cx="6248400" cy="769441"/>
          </a:xfrm>
          <a:prstGeom prst="rect">
            <a:avLst/>
          </a:prstGeom>
          <a:noFill/>
        </p:spPr>
        <p:txBody>
          <a:bodyPr wrap="square" rtlCol="0">
            <a:spAutoFit/>
          </a:bodyPr>
          <a:lstStyle/>
          <a:p>
            <a:pPr algn="ctr"/>
            <a:r>
              <a:rPr lang="en-US" sz="4400" b="1" dirty="0" smtClean="0"/>
              <a:t>Who wrote the Torah?</a:t>
            </a:r>
            <a:endParaRPr lang="en-US" sz="4400" b="1" dirty="0"/>
          </a:p>
        </p:txBody>
      </p:sp>
      <p:sp>
        <p:nvSpPr>
          <p:cNvPr id="6" name="TextBox 5"/>
          <p:cNvSpPr txBox="1"/>
          <p:nvPr/>
        </p:nvSpPr>
        <p:spPr>
          <a:xfrm>
            <a:off x="1219200" y="1905000"/>
            <a:ext cx="4953000" cy="3477875"/>
          </a:xfrm>
          <a:prstGeom prst="rect">
            <a:avLst/>
          </a:prstGeom>
          <a:noFill/>
        </p:spPr>
        <p:txBody>
          <a:bodyPr wrap="square" rtlCol="0">
            <a:spAutoFit/>
          </a:bodyPr>
          <a:lstStyle/>
          <a:p>
            <a:r>
              <a:rPr lang="en-US" sz="2200" b="1" dirty="0" smtClean="0"/>
              <a:t>“And Moses wrote all the words of G-d.”</a:t>
            </a:r>
          </a:p>
          <a:p>
            <a:r>
              <a:rPr lang="en-US" sz="2200" b="1" dirty="0" smtClean="0"/>
              <a:t>Ex. 24:4.</a:t>
            </a:r>
          </a:p>
          <a:p>
            <a:endParaRPr lang="en-US" sz="2200" b="1" dirty="0" smtClean="0"/>
          </a:p>
          <a:p>
            <a:r>
              <a:rPr lang="en-US" sz="2200" b="1" u="sng" dirty="0" err="1" smtClean="0"/>
              <a:t>Rashi</a:t>
            </a:r>
            <a:r>
              <a:rPr lang="en-US" sz="2200" b="1" dirty="0" smtClean="0"/>
              <a:t>: Moses wrote from </a:t>
            </a:r>
            <a:r>
              <a:rPr lang="en-US" sz="2200" b="1" dirty="0" err="1" smtClean="0"/>
              <a:t>Bereishit</a:t>
            </a:r>
            <a:r>
              <a:rPr lang="en-US" sz="2200" b="1" dirty="0" smtClean="0"/>
              <a:t> until </a:t>
            </a:r>
            <a:r>
              <a:rPr lang="en-US" sz="2200" b="1" dirty="0" err="1" smtClean="0"/>
              <a:t>Matan</a:t>
            </a:r>
            <a:r>
              <a:rPr lang="en-US" sz="2200" b="1" dirty="0" smtClean="0"/>
              <a:t> Torah and some laws that were given in Mara. Rest was written by Moses in sections. Or taught orally, and then after 4 years written down.</a:t>
            </a:r>
          </a:p>
          <a:p>
            <a:endParaRPr lang="en-US" sz="2200" b="1" dirty="0" smtClean="0"/>
          </a:p>
          <a:p>
            <a:r>
              <a:rPr lang="en-US" sz="2200" b="1" dirty="0" smtClean="0"/>
              <a:t> </a:t>
            </a:r>
            <a:endParaRPr lang="en-US" sz="2200" b="1" dirty="0"/>
          </a:p>
        </p:txBody>
      </p:sp>
      <p:pic>
        <p:nvPicPr>
          <p:cNvPr id="37890" name="Picture 2" descr="http://www.eilatgordinlevitan.com/kovno/kovno_pix/stories_zipora_files/050307_11_b.gif"/>
          <p:cNvPicPr>
            <a:picLocks noChangeAspect="1" noChangeArrowheads="1"/>
          </p:cNvPicPr>
          <p:nvPr/>
        </p:nvPicPr>
        <p:blipFill>
          <a:blip r:embed="rId3" cstate="print"/>
          <a:srcRect/>
          <a:stretch>
            <a:fillRect/>
          </a:stretch>
        </p:blipFill>
        <p:spPr bwMode="auto">
          <a:xfrm>
            <a:off x="6019800" y="1828800"/>
            <a:ext cx="2828925" cy="4109225"/>
          </a:xfrm>
          <a:prstGeom prst="rect">
            <a:avLst/>
          </a:prstGeom>
          <a:noFill/>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1266" name="Picture 2" descr="Antique Scroll"/>
          <p:cNvPicPr>
            <a:picLocks noChangeAspect="1" noChangeArrowheads="1"/>
          </p:cNvPicPr>
          <p:nvPr/>
        </p:nvPicPr>
        <p:blipFill>
          <a:blip r:embed="rId2" cstate="print"/>
          <a:srcRect/>
          <a:stretch>
            <a:fillRect/>
          </a:stretch>
        </p:blipFill>
        <p:spPr bwMode="auto">
          <a:xfrm>
            <a:off x="0" y="0"/>
            <a:ext cx="9283700" cy="6962776"/>
          </a:xfrm>
          <a:prstGeom prst="rect">
            <a:avLst/>
          </a:prstGeom>
          <a:noFill/>
        </p:spPr>
      </p:pic>
      <p:sp>
        <p:nvSpPr>
          <p:cNvPr id="5" name="TextBox 4"/>
          <p:cNvSpPr txBox="1"/>
          <p:nvPr/>
        </p:nvSpPr>
        <p:spPr>
          <a:xfrm>
            <a:off x="1371600" y="914400"/>
            <a:ext cx="6248400" cy="769441"/>
          </a:xfrm>
          <a:prstGeom prst="rect">
            <a:avLst/>
          </a:prstGeom>
          <a:noFill/>
        </p:spPr>
        <p:txBody>
          <a:bodyPr wrap="square" rtlCol="0">
            <a:spAutoFit/>
          </a:bodyPr>
          <a:lstStyle/>
          <a:p>
            <a:pPr algn="ctr"/>
            <a:r>
              <a:rPr lang="en-US" sz="4400" b="1" dirty="0" smtClean="0"/>
              <a:t>Who wrote the Torah?</a:t>
            </a:r>
            <a:endParaRPr lang="en-US" sz="4400" b="1" dirty="0"/>
          </a:p>
        </p:txBody>
      </p:sp>
      <p:sp>
        <p:nvSpPr>
          <p:cNvPr id="6" name="TextBox 5"/>
          <p:cNvSpPr txBox="1"/>
          <p:nvPr/>
        </p:nvSpPr>
        <p:spPr>
          <a:xfrm>
            <a:off x="1219200" y="1905000"/>
            <a:ext cx="4953000" cy="4832092"/>
          </a:xfrm>
          <a:prstGeom prst="rect">
            <a:avLst/>
          </a:prstGeom>
          <a:noFill/>
        </p:spPr>
        <p:txBody>
          <a:bodyPr wrap="square" rtlCol="0">
            <a:spAutoFit/>
          </a:bodyPr>
          <a:lstStyle/>
          <a:p>
            <a:r>
              <a:rPr lang="en-US" sz="2200" b="1" u="sng" dirty="0" smtClean="0"/>
              <a:t>Moses &amp; his Death </a:t>
            </a:r>
            <a:r>
              <a:rPr lang="en-US" sz="2200" b="1" dirty="0" smtClean="0"/>
              <a:t>A) Wrote it with tears – “wrote it until the end.” </a:t>
            </a:r>
          </a:p>
          <a:p>
            <a:pPr lvl="0"/>
            <a:r>
              <a:rPr lang="en-US" sz="2200" b="1" dirty="0" smtClean="0"/>
              <a:t>B) </a:t>
            </a:r>
            <a:r>
              <a:rPr lang="en-US" sz="2200" b="1" dirty="0" err="1" smtClean="0"/>
              <a:t>Yehoshua</a:t>
            </a:r>
            <a:r>
              <a:rPr lang="en-US" sz="2200" b="1" dirty="0" smtClean="0"/>
              <a:t> wrote it.</a:t>
            </a:r>
          </a:p>
          <a:p>
            <a:pPr lvl="0"/>
            <a:endParaRPr lang="en-US" sz="2200" b="1" dirty="0"/>
          </a:p>
          <a:p>
            <a:pPr lvl="0"/>
            <a:r>
              <a:rPr lang="en-US" sz="2200" b="1" u="sng" dirty="0" smtClean="0"/>
              <a:t>Same but different sections</a:t>
            </a:r>
          </a:p>
          <a:p>
            <a:pPr lvl="0"/>
            <a:r>
              <a:rPr lang="en-US" sz="2200" b="1" dirty="0" smtClean="0"/>
              <a:t>Ex. 10 Commandments </a:t>
            </a:r>
          </a:p>
          <a:p>
            <a:pPr lvl="0"/>
            <a:endParaRPr lang="en-US" sz="2200" b="1" dirty="0" smtClean="0"/>
          </a:p>
          <a:p>
            <a:r>
              <a:rPr lang="en-US" sz="2200" b="1" dirty="0" err="1"/>
              <a:t>Iben</a:t>
            </a:r>
            <a:r>
              <a:rPr lang="en-US" sz="2200" b="1" dirty="0"/>
              <a:t> </a:t>
            </a:r>
            <a:r>
              <a:rPr lang="en-US" sz="2200" b="1" dirty="0" err="1"/>
              <a:t>ezra</a:t>
            </a:r>
            <a:r>
              <a:rPr lang="en-US" sz="2200" b="1" dirty="0"/>
              <a:t> </a:t>
            </a:r>
            <a:r>
              <a:rPr lang="en-US" sz="2200" b="1" dirty="0" smtClean="0"/>
              <a:t>-Difference </a:t>
            </a:r>
            <a:r>
              <a:rPr lang="en-US" sz="2200" b="1" dirty="0"/>
              <a:t>b/w first and second time was that </a:t>
            </a:r>
            <a:r>
              <a:rPr lang="en-US" sz="2200" b="1" dirty="0" smtClean="0"/>
              <a:t>in </a:t>
            </a:r>
            <a:r>
              <a:rPr lang="en-US" sz="2200" b="1" dirty="0" err="1" smtClean="0"/>
              <a:t>Shemot</a:t>
            </a:r>
            <a:r>
              <a:rPr lang="en-US" sz="2200" b="1" dirty="0" smtClean="0"/>
              <a:t> he </a:t>
            </a:r>
            <a:r>
              <a:rPr lang="en-US" sz="2200" b="1" dirty="0"/>
              <a:t>gave it </a:t>
            </a:r>
            <a:r>
              <a:rPr lang="en-US" sz="2200" b="1" dirty="0" smtClean="0"/>
              <a:t>over, </a:t>
            </a:r>
            <a:r>
              <a:rPr lang="en-US" sz="2200" b="1" dirty="0"/>
              <a:t>but in </a:t>
            </a:r>
            <a:r>
              <a:rPr lang="en-US" sz="2200" b="1" dirty="0" err="1"/>
              <a:t>Devarim</a:t>
            </a:r>
            <a:r>
              <a:rPr lang="en-US" sz="2200" b="1" dirty="0"/>
              <a:t> he worded in different way so that we would say </a:t>
            </a:r>
            <a:r>
              <a:rPr lang="en-US" sz="2200" b="1" dirty="0" smtClean="0"/>
              <a:t>it to                     </a:t>
            </a:r>
          </a:p>
          <a:p>
            <a:r>
              <a:rPr lang="en-US" sz="2200" b="1" dirty="0" smtClean="0"/>
              <a:t>                         them.</a:t>
            </a:r>
            <a:endParaRPr lang="en-US" sz="2200" b="1" dirty="0"/>
          </a:p>
          <a:p>
            <a:pPr lvl="0"/>
            <a:endParaRPr lang="en-US" sz="2200" b="1" dirty="0" smtClean="0"/>
          </a:p>
          <a:p>
            <a:pPr lvl="0"/>
            <a:endParaRPr lang="en-US" sz="2200" b="1" dirty="0" smtClean="0"/>
          </a:p>
        </p:txBody>
      </p:sp>
      <p:pic>
        <p:nvPicPr>
          <p:cNvPr id="30722" name="Picture 2" descr="http://truthpraiseandhelp.files.wordpress.com/2009/09/sofer1.jpg?w=450"/>
          <p:cNvPicPr>
            <a:picLocks noChangeAspect="1" noChangeArrowheads="1"/>
          </p:cNvPicPr>
          <p:nvPr/>
        </p:nvPicPr>
        <p:blipFill>
          <a:blip r:embed="rId3" cstate="print"/>
          <a:srcRect/>
          <a:stretch>
            <a:fillRect/>
          </a:stretch>
        </p:blipFill>
        <p:spPr bwMode="auto">
          <a:xfrm>
            <a:off x="6096000" y="2057400"/>
            <a:ext cx="2838450" cy="3352800"/>
          </a:xfrm>
          <a:prstGeom prst="rect">
            <a:avLst/>
          </a:prstGeom>
          <a:noFill/>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1266" name="Picture 2" descr="Antique Scroll"/>
          <p:cNvPicPr>
            <a:picLocks noChangeAspect="1" noChangeArrowheads="1"/>
          </p:cNvPicPr>
          <p:nvPr/>
        </p:nvPicPr>
        <p:blipFill>
          <a:blip r:embed="rId2" cstate="print"/>
          <a:srcRect/>
          <a:stretch>
            <a:fillRect/>
          </a:stretch>
        </p:blipFill>
        <p:spPr bwMode="auto">
          <a:xfrm>
            <a:off x="0" y="0"/>
            <a:ext cx="9283700" cy="6962776"/>
          </a:xfrm>
          <a:prstGeom prst="rect">
            <a:avLst/>
          </a:prstGeom>
          <a:noFill/>
        </p:spPr>
      </p:pic>
      <p:sp>
        <p:nvSpPr>
          <p:cNvPr id="5" name="TextBox 4"/>
          <p:cNvSpPr txBox="1"/>
          <p:nvPr/>
        </p:nvSpPr>
        <p:spPr>
          <a:xfrm>
            <a:off x="1371600" y="914400"/>
            <a:ext cx="6248400" cy="769441"/>
          </a:xfrm>
          <a:prstGeom prst="rect">
            <a:avLst/>
          </a:prstGeom>
          <a:noFill/>
        </p:spPr>
        <p:txBody>
          <a:bodyPr wrap="square" rtlCol="0">
            <a:spAutoFit/>
          </a:bodyPr>
          <a:lstStyle/>
          <a:p>
            <a:pPr algn="ctr"/>
            <a:r>
              <a:rPr lang="en-US" sz="4400" b="1" dirty="0" smtClean="0"/>
              <a:t>True Torah</a:t>
            </a:r>
            <a:endParaRPr lang="en-US" sz="4400" b="1" dirty="0"/>
          </a:p>
        </p:txBody>
      </p:sp>
      <p:sp>
        <p:nvSpPr>
          <p:cNvPr id="6" name="TextBox 5"/>
          <p:cNvSpPr txBox="1"/>
          <p:nvPr/>
        </p:nvSpPr>
        <p:spPr>
          <a:xfrm>
            <a:off x="1295400" y="1676400"/>
            <a:ext cx="6629400" cy="3693319"/>
          </a:xfrm>
          <a:prstGeom prst="rect">
            <a:avLst/>
          </a:prstGeom>
          <a:noFill/>
        </p:spPr>
        <p:txBody>
          <a:bodyPr wrap="square" rtlCol="0">
            <a:spAutoFit/>
          </a:bodyPr>
          <a:lstStyle/>
          <a:p>
            <a:r>
              <a:rPr lang="en-US" sz="2700" b="1" dirty="0"/>
              <a:t> </a:t>
            </a:r>
          </a:p>
          <a:p>
            <a:r>
              <a:rPr lang="en-US" sz="2700" b="1" dirty="0"/>
              <a:t>Whenever you do something that requires effort or expense you do not evaluate if there will be results, but look at what others have done. </a:t>
            </a:r>
            <a:endParaRPr lang="en-US" sz="2700" b="1" dirty="0" smtClean="0"/>
          </a:p>
          <a:p>
            <a:endParaRPr lang="en-US" sz="2700" b="1" dirty="0"/>
          </a:p>
          <a:p>
            <a:r>
              <a:rPr lang="en-US" sz="2700" b="1" dirty="0" smtClean="0"/>
              <a:t>For example: </a:t>
            </a:r>
            <a:endParaRPr lang="en-US" sz="2700" b="1" dirty="0"/>
          </a:p>
          <a:p>
            <a:r>
              <a:rPr lang="en-US" sz="2700" b="1" dirty="0" smtClean="0"/>
              <a:t>Flying to New York.</a:t>
            </a:r>
            <a:endParaRPr lang="en-US" sz="2700" b="1" dirty="0"/>
          </a:p>
          <a:p>
            <a:r>
              <a:rPr lang="en-US" dirty="0"/>
              <a:t> </a:t>
            </a:r>
          </a:p>
        </p:txBody>
      </p:sp>
      <p:pic>
        <p:nvPicPr>
          <p:cNvPr id="29698" name="Picture 2" descr="http://bp.uuuploads.com/flying-people-new-york-chronicle/flying-people-new-york-chronicle-1.jpg"/>
          <p:cNvPicPr>
            <a:picLocks noChangeAspect="1" noChangeArrowheads="1"/>
          </p:cNvPicPr>
          <p:nvPr/>
        </p:nvPicPr>
        <p:blipFill>
          <a:blip r:embed="rId3" cstate="print"/>
          <a:srcRect r="38347"/>
          <a:stretch>
            <a:fillRect/>
          </a:stretch>
        </p:blipFill>
        <p:spPr bwMode="auto">
          <a:xfrm>
            <a:off x="4267200" y="3352800"/>
            <a:ext cx="4267200" cy="3219451"/>
          </a:xfrm>
          <a:prstGeom prst="rect">
            <a:avLst/>
          </a:prstGeom>
          <a:ln>
            <a:noFill/>
          </a:ln>
          <a:effectLst>
            <a:softEdge rad="112500"/>
          </a:effec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1266" name="Picture 2" descr="Antique Scroll"/>
          <p:cNvPicPr>
            <a:picLocks noChangeAspect="1" noChangeArrowheads="1"/>
          </p:cNvPicPr>
          <p:nvPr/>
        </p:nvPicPr>
        <p:blipFill>
          <a:blip r:embed="rId2" cstate="print"/>
          <a:srcRect/>
          <a:stretch>
            <a:fillRect/>
          </a:stretch>
        </p:blipFill>
        <p:spPr bwMode="auto">
          <a:xfrm>
            <a:off x="0" y="0"/>
            <a:ext cx="9283700" cy="6962776"/>
          </a:xfrm>
          <a:prstGeom prst="rect">
            <a:avLst/>
          </a:prstGeom>
          <a:noFill/>
        </p:spPr>
      </p:pic>
      <p:sp>
        <p:nvSpPr>
          <p:cNvPr id="5" name="TextBox 4"/>
          <p:cNvSpPr txBox="1"/>
          <p:nvPr/>
        </p:nvSpPr>
        <p:spPr>
          <a:xfrm>
            <a:off x="1371600" y="914400"/>
            <a:ext cx="6248400" cy="769441"/>
          </a:xfrm>
          <a:prstGeom prst="rect">
            <a:avLst/>
          </a:prstGeom>
          <a:noFill/>
        </p:spPr>
        <p:txBody>
          <a:bodyPr wrap="square" rtlCol="0">
            <a:spAutoFit/>
          </a:bodyPr>
          <a:lstStyle/>
          <a:p>
            <a:pPr algn="ctr"/>
            <a:r>
              <a:rPr lang="en-US" sz="4400" b="1" dirty="0" smtClean="0"/>
              <a:t>True Torah</a:t>
            </a:r>
            <a:endParaRPr lang="en-US" sz="4400" b="1" dirty="0"/>
          </a:p>
        </p:txBody>
      </p:sp>
      <p:sp>
        <p:nvSpPr>
          <p:cNvPr id="6" name="TextBox 5"/>
          <p:cNvSpPr txBox="1"/>
          <p:nvPr/>
        </p:nvSpPr>
        <p:spPr>
          <a:xfrm>
            <a:off x="1295400" y="1828800"/>
            <a:ext cx="6629400" cy="3277820"/>
          </a:xfrm>
          <a:prstGeom prst="rect">
            <a:avLst/>
          </a:prstGeom>
          <a:noFill/>
        </p:spPr>
        <p:txBody>
          <a:bodyPr wrap="square" rtlCol="0">
            <a:spAutoFit/>
          </a:bodyPr>
          <a:lstStyle/>
          <a:p>
            <a:pPr algn="ctr"/>
            <a:r>
              <a:rPr lang="en-US" sz="2700" b="1" dirty="0" smtClean="0"/>
              <a:t>History-</a:t>
            </a:r>
          </a:p>
          <a:p>
            <a:r>
              <a:rPr lang="en-US" sz="2700" b="1" dirty="0" smtClean="0"/>
              <a:t>I need to </a:t>
            </a:r>
            <a:r>
              <a:rPr lang="en-US" sz="2700" b="1" dirty="0"/>
              <a:t>rely on the reports of others, as long as they are trustworthy.  Even if it is a matter of life and death like a surgery. You want to know about the surgeon, where he learned who did by him. You need to hear more witnesses.</a:t>
            </a:r>
          </a:p>
          <a:p>
            <a:r>
              <a:rPr lang="en-US" dirty="0"/>
              <a:t> </a:t>
            </a:r>
          </a:p>
        </p:txBody>
      </p:sp>
      <p:pic>
        <p:nvPicPr>
          <p:cNvPr id="24578" name="Picture 2" descr="http://ahearingloss.files.wordpress.com/2010/12/earhorns1.jpg"/>
          <p:cNvPicPr>
            <a:picLocks noChangeAspect="1" noChangeArrowheads="1"/>
          </p:cNvPicPr>
          <p:nvPr/>
        </p:nvPicPr>
        <p:blipFill>
          <a:blip r:embed="rId3" cstate="print"/>
          <a:srcRect/>
          <a:stretch>
            <a:fillRect/>
          </a:stretch>
        </p:blipFill>
        <p:spPr bwMode="auto">
          <a:xfrm>
            <a:off x="3810000" y="4267200"/>
            <a:ext cx="3124200" cy="1882331"/>
          </a:xfrm>
          <a:prstGeom prst="rect">
            <a:avLst/>
          </a:prstGeom>
          <a:ln>
            <a:noFill/>
          </a:ln>
          <a:effectLst>
            <a:softEdge rad="112500"/>
          </a:effectLst>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1266" name="Picture 2" descr="Antique Scroll"/>
          <p:cNvPicPr>
            <a:picLocks noChangeAspect="1" noChangeArrowheads="1"/>
          </p:cNvPicPr>
          <p:nvPr/>
        </p:nvPicPr>
        <p:blipFill>
          <a:blip r:embed="rId2" cstate="print"/>
          <a:srcRect/>
          <a:stretch>
            <a:fillRect/>
          </a:stretch>
        </p:blipFill>
        <p:spPr bwMode="auto">
          <a:xfrm>
            <a:off x="0" y="0"/>
            <a:ext cx="9283700" cy="6962776"/>
          </a:xfrm>
          <a:prstGeom prst="rect">
            <a:avLst/>
          </a:prstGeom>
          <a:noFill/>
        </p:spPr>
      </p:pic>
      <p:sp>
        <p:nvSpPr>
          <p:cNvPr id="5" name="TextBox 4"/>
          <p:cNvSpPr txBox="1"/>
          <p:nvPr/>
        </p:nvSpPr>
        <p:spPr>
          <a:xfrm>
            <a:off x="1371600" y="914400"/>
            <a:ext cx="6248400" cy="769441"/>
          </a:xfrm>
          <a:prstGeom prst="rect">
            <a:avLst/>
          </a:prstGeom>
          <a:noFill/>
        </p:spPr>
        <p:txBody>
          <a:bodyPr wrap="square" rtlCol="0">
            <a:spAutoFit/>
          </a:bodyPr>
          <a:lstStyle/>
          <a:p>
            <a:pPr algn="ctr"/>
            <a:r>
              <a:rPr lang="en-US" sz="4400" b="1" dirty="0" smtClean="0"/>
              <a:t>True Torah</a:t>
            </a:r>
            <a:endParaRPr lang="en-US" sz="4400" b="1" dirty="0"/>
          </a:p>
        </p:txBody>
      </p:sp>
      <p:sp>
        <p:nvSpPr>
          <p:cNvPr id="6" name="TextBox 5"/>
          <p:cNvSpPr txBox="1"/>
          <p:nvPr/>
        </p:nvSpPr>
        <p:spPr>
          <a:xfrm>
            <a:off x="4267200" y="1752600"/>
            <a:ext cx="3962400" cy="3816429"/>
          </a:xfrm>
          <a:prstGeom prst="rect">
            <a:avLst/>
          </a:prstGeom>
          <a:noFill/>
        </p:spPr>
        <p:txBody>
          <a:bodyPr wrap="square" rtlCol="0">
            <a:spAutoFit/>
          </a:bodyPr>
          <a:lstStyle/>
          <a:p>
            <a:r>
              <a:rPr lang="en-US" sz="2200" b="1" dirty="0" smtClean="0"/>
              <a:t>In History - Who </a:t>
            </a:r>
            <a:r>
              <a:rPr lang="en-US" sz="2200" b="1" dirty="0"/>
              <a:t>do you trust</a:t>
            </a:r>
            <a:r>
              <a:rPr lang="en-US" sz="2200" b="1" dirty="0" smtClean="0"/>
              <a:t>?</a:t>
            </a:r>
          </a:p>
          <a:p>
            <a:r>
              <a:rPr lang="en-US" sz="2200" b="1" dirty="0" smtClean="0"/>
              <a:t>Most popular opinion.</a:t>
            </a:r>
            <a:endParaRPr lang="en-US" sz="2200" b="1" dirty="0"/>
          </a:p>
          <a:p>
            <a:r>
              <a:rPr lang="en-US" sz="2200" b="1" dirty="0"/>
              <a:t> </a:t>
            </a:r>
          </a:p>
          <a:p>
            <a:r>
              <a:rPr lang="en-US" sz="2200" b="1" dirty="0" err="1"/>
              <a:t>Matan</a:t>
            </a:r>
            <a:r>
              <a:rPr lang="en-US" sz="2200" b="1" dirty="0"/>
              <a:t> Torah is a story we have heard </a:t>
            </a:r>
            <a:r>
              <a:rPr lang="en-US" sz="2200" b="1" dirty="0" smtClean="0"/>
              <a:t>for years </a:t>
            </a:r>
            <a:r>
              <a:rPr lang="en-US" sz="2200" b="1" dirty="0"/>
              <a:t>and all the details have been </a:t>
            </a:r>
            <a:r>
              <a:rPr lang="en-US" sz="2200" b="1" u="sng" dirty="0"/>
              <a:t>agreed by all</a:t>
            </a:r>
            <a:r>
              <a:rPr lang="en-US" sz="2200" b="1" dirty="0"/>
              <a:t> historians including the non-Jewish </a:t>
            </a:r>
            <a:r>
              <a:rPr lang="en-US" sz="2200" b="1" dirty="0" smtClean="0"/>
              <a:t>ones. </a:t>
            </a:r>
            <a:r>
              <a:rPr lang="en-US" sz="2200" b="1" dirty="0"/>
              <a:t>Even if someone came up with a new version a generation </a:t>
            </a:r>
            <a:r>
              <a:rPr lang="en-US" sz="2200" b="1" dirty="0" smtClean="0"/>
              <a:t>later </a:t>
            </a:r>
            <a:r>
              <a:rPr lang="en-US" sz="2200" b="1" dirty="0"/>
              <a:t>nobody would </a:t>
            </a:r>
            <a:r>
              <a:rPr lang="en-US" sz="2200" b="1" dirty="0" smtClean="0"/>
              <a:t>believe </a:t>
            </a:r>
            <a:r>
              <a:rPr lang="en-US" sz="2200" b="1" dirty="0"/>
              <a:t>it</a:t>
            </a:r>
            <a:r>
              <a:rPr lang="en-US" sz="2200" dirty="0" smtClean="0"/>
              <a:t>.</a:t>
            </a:r>
            <a:endParaRPr lang="en-US" sz="2200" dirty="0"/>
          </a:p>
        </p:txBody>
      </p:sp>
      <p:pic>
        <p:nvPicPr>
          <p:cNvPr id="23554" name="Picture 2" descr="http://www.businessnewstreasure.com/wp-content/uploads/2011/07/ADVANCED-PRICING-AGREEMENT-trade-selling-business-news-updates-condtions-forex-terms-contracts.jpg"/>
          <p:cNvPicPr>
            <a:picLocks noChangeAspect="1" noChangeArrowheads="1"/>
          </p:cNvPicPr>
          <p:nvPr/>
        </p:nvPicPr>
        <p:blipFill>
          <a:blip r:embed="rId3" cstate="print"/>
          <a:srcRect/>
          <a:stretch>
            <a:fillRect/>
          </a:stretch>
        </p:blipFill>
        <p:spPr bwMode="auto">
          <a:xfrm>
            <a:off x="1295400" y="2057400"/>
            <a:ext cx="2933700" cy="3238501"/>
          </a:xfrm>
          <a:prstGeom prst="rect">
            <a:avLst/>
          </a:prstGeom>
          <a:noFill/>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1266" name="Picture 2" descr="Antique Scroll"/>
          <p:cNvPicPr>
            <a:picLocks noChangeAspect="1" noChangeArrowheads="1"/>
          </p:cNvPicPr>
          <p:nvPr/>
        </p:nvPicPr>
        <p:blipFill>
          <a:blip r:embed="rId2" cstate="print"/>
          <a:srcRect/>
          <a:stretch>
            <a:fillRect/>
          </a:stretch>
        </p:blipFill>
        <p:spPr bwMode="auto">
          <a:xfrm>
            <a:off x="0" y="0"/>
            <a:ext cx="9283700" cy="6962776"/>
          </a:xfrm>
          <a:prstGeom prst="rect">
            <a:avLst/>
          </a:prstGeom>
          <a:noFill/>
        </p:spPr>
      </p:pic>
      <p:sp>
        <p:nvSpPr>
          <p:cNvPr id="5" name="TextBox 4"/>
          <p:cNvSpPr txBox="1"/>
          <p:nvPr/>
        </p:nvSpPr>
        <p:spPr>
          <a:xfrm>
            <a:off x="1371600" y="914400"/>
            <a:ext cx="6248400" cy="769441"/>
          </a:xfrm>
          <a:prstGeom prst="rect">
            <a:avLst/>
          </a:prstGeom>
          <a:noFill/>
        </p:spPr>
        <p:txBody>
          <a:bodyPr wrap="square" rtlCol="0">
            <a:spAutoFit/>
          </a:bodyPr>
          <a:lstStyle/>
          <a:p>
            <a:pPr algn="ctr"/>
            <a:r>
              <a:rPr lang="en-US" sz="4400" b="1" dirty="0" smtClean="0"/>
              <a:t>True Torah- Let’s Keep it!</a:t>
            </a:r>
            <a:endParaRPr lang="en-US" sz="4400" b="1" dirty="0"/>
          </a:p>
        </p:txBody>
      </p:sp>
      <p:sp>
        <p:nvSpPr>
          <p:cNvPr id="6" name="TextBox 5"/>
          <p:cNvSpPr txBox="1"/>
          <p:nvPr/>
        </p:nvSpPr>
        <p:spPr>
          <a:xfrm>
            <a:off x="1295400" y="1981200"/>
            <a:ext cx="7010400" cy="1046440"/>
          </a:xfrm>
          <a:prstGeom prst="rect">
            <a:avLst/>
          </a:prstGeom>
          <a:noFill/>
        </p:spPr>
        <p:txBody>
          <a:bodyPr wrap="square" rtlCol="0">
            <a:spAutoFit/>
          </a:bodyPr>
          <a:lstStyle/>
          <a:p>
            <a:r>
              <a:rPr lang="en-US" sz="2200" b="1" dirty="0"/>
              <a:t>If Torah is so real, why doesn’t everyone keep it, but science proof which are ever changing people </a:t>
            </a:r>
            <a:r>
              <a:rPr lang="en-US" sz="2200" b="1" dirty="0" smtClean="0"/>
              <a:t>belief?</a:t>
            </a:r>
          </a:p>
          <a:p>
            <a:r>
              <a:rPr lang="en-US" dirty="0"/>
              <a:t> </a:t>
            </a:r>
          </a:p>
        </p:txBody>
      </p:sp>
      <p:pic>
        <p:nvPicPr>
          <p:cNvPr id="22530" name="Picture 2" descr="http://chasewilsoneducation.files.wordpress.com/2011/02/peer-pressure.jpg"/>
          <p:cNvPicPr>
            <a:picLocks noChangeAspect="1" noChangeArrowheads="1"/>
          </p:cNvPicPr>
          <p:nvPr/>
        </p:nvPicPr>
        <p:blipFill>
          <a:blip r:embed="rId3" cstate="print"/>
          <a:srcRect/>
          <a:stretch>
            <a:fillRect/>
          </a:stretch>
        </p:blipFill>
        <p:spPr bwMode="auto">
          <a:xfrm>
            <a:off x="5181600" y="2667000"/>
            <a:ext cx="3171825" cy="210502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8" name="TextBox 7"/>
          <p:cNvSpPr txBox="1"/>
          <p:nvPr/>
        </p:nvSpPr>
        <p:spPr>
          <a:xfrm>
            <a:off x="1143000" y="2590800"/>
            <a:ext cx="7010400" cy="4801314"/>
          </a:xfrm>
          <a:prstGeom prst="rect">
            <a:avLst/>
          </a:prstGeom>
          <a:noFill/>
        </p:spPr>
        <p:txBody>
          <a:bodyPr wrap="square" rtlCol="0">
            <a:spAutoFit/>
          </a:bodyPr>
          <a:lstStyle/>
          <a:p>
            <a:endParaRPr lang="en-US" sz="2200" b="1" dirty="0" smtClean="0"/>
          </a:p>
          <a:p>
            <a:r>
              <a:rPr lang="en-US" sz="2200" b="1" dirty="0" smtClean="0"/>
              <a:t>Free Choice – </a:t>
            </a:r>
            <a:r>
              <a:rPr lang="en-US" sz="2200" b="1" dirty="0" smtClean="0">
                <a:solidFill>
                  <a:schemeClr val="tx1">
                    <a:lumMod val="65000"/>
                    <a:lumOff val="35000"/>
                  </a:schemeClr>
                </a:solidFill>
              </a:rPr>
              <a:t>Part of the person’s</a:t>
            </a:r>
          </a:p>
          <a:p>
            <a:r>
              <a:rPr lang="en-US" sz="2200" b="1" dirty="0" smtClean="0">
                <a:solidFill>
                  <a:schemeClr val="tx1">
                    <a:lumMod val="65000"/>
                    <a:lumOff val="35000"/>
                  </a:schemeClr>
                </a:solidFill>
              </a:rPr>
              <a:t>power to choose</a:t>
            </a:r>
          </a:p>
          <a:p>
            <a:r>
              <a:rPr lang="en-US" sz="2200" b="1" dirty="0" smtClean="0"/>
              <a:t>Now world – </a:t>
            </a:r>
            <a:r>
              <a:rPr lang="en-US" sz="2200" b="1" dirty="0" smtClean="0">
                <a:solidFill>
                  <a:schemeClr val="tx1">
                    <a:lumMod val="65000"/>
                    <a:lumOff val="35000"/>
                  </a:schemeClr>
                </a:solidFill>
              </a:rPr>
              <a:t>We want to win now</a:t>
            </a:r>
          </a:p>
          <a:p>
            <a:r>
              <a:rPr lang="en-US" sz="2200" b="1" dirty="0" smtClean="0">
                <a:solidFill>
                  <a:schemeClr val="tx1">
                    <a:lumMod val="65000"/>
                    <a:lumOff val="35000"/>
                  </a:schemeClr>
                </a:solidFill>
              </a:rPr>
              <a:t>, and not later</a:t>
            </a:r>
          </a:p>
          <a:p>
            <a:r>
              <a:rPr lang="en-US" sz="2200" b="1" dirty="0" smtClean="0"/>
              <a:t>Reward in future – </a:t>
            </a:r>
            <a:r>
              <a:rPr lang="en-US" sz="2200" b="1" dirty="0" smtClean="0">
                <a:solidFill>
                  <a:schemeClr val="tx1">
                    <a:lumMod val="65000"/>
                    <a:lumOff val="35000"/>
                  </a:schemeClr>
                </a:solidFill>
              </a:rPr>
              <a:t>The Torah </a:t>
            </a:r>
          </a:p>
          <a:p>
            <a:r>
              <a:rPr lang="en-US" sz="2200" b="1" dirty="0" smtClean="0">
                <a:solidFill>
                  <a:schemeClr val="tx1">
                    <a:lumMod val="65000"/>
                    <a:lumOff val="35000"/>
                  </a:schemeClr>
                </a:solidFill>
              </a:rPr>
              <a:t>speaks about reward in another world</a:t>
            </a:r>
          </a:p>
          <a:p>
            <a:r>
              <a:rPr lang="en-US" sz="2200" b="1" dirty="0" smtClean="0"/>
              <a:t>Pressures of the world – </a:t>
            </a:r>
            <a:r>
              <a:rPr lang="en-US" sz="2200" b="1" dirty="0" smtClean="0">
                <a:solidFill>
                  <a:schemeClr val="tx1">
                    <a:lumMod val="65000"/>
                    <a:lumOff val="35000"/>
                  </a:schemeClr>
                </a:solidFill>
              </a:rPr>
              <a:t>We are 250 amongst 2 million</a:t>
            </a:r>
          </a:p>
          <a:p>
            <a:r>
              <a:rPr lang="en-US" sz="2200" b="1" dirty="0" smtClean="0"/>
              <a:t>Minority against the world- </a:t>
            </a:r>
            <a:r>
              <a:rPr lang="en-US" sz="2200" b="1" dirty="0" smtClean="0">
                <a:solidFill>
                  <a:schemeClr val="tx1">
                    <a:lumMod val="65000"/>
                    <a:lumOff val="35000"/>
                  </a:schemeClr>
                </a:solidFill>
              </a:rPr>
              <a:t>Our population is .1 percent</a:t>
            </a:r>
            <a:endParaRPr lang="en-US" sz="2200" dirty="0" smtClean="0">
              <a:solidFill>
                <a:schemeClr val="tx1">
                  <a:lumMod val="65000"/>
                  <a:lumOff val="35000"/>
                </a:schemeClr>
              </a:solidFill>
            </a:endParaRPr>
          </a:p>
          <a:p>
            <a:endParaRPr lang="en-US" b="1" dirty="0" smtClean="0"/>
          </a:p>
          <a:p>
            <a:endParaRPr lang="en-US" b="1" dirty="0" smtClean="0"/>
          </a:p>
          <a:p>
            <a:endParaRPr lang="en-US" b="1" dirty="0" smtClean="0">
              <a:solidFill>
                <a:schemeClr val="tx1">
                  <a:lumMod val="65000"/>
                  <a:lumOff val="35000"/>
                </a:schemeClr>
              </a:solidFill>
            </a:endParaRPr>
          </a:p>
          <a:p>
            <a:r>
              <a:rPr lang="en-US" b="1" dirty="0" smtClean="0">
                <a:solidFill>
                  <a:schemeClr val="tx1">
                    <a:lumMod val="65000"/>
                    <a:lumOff val="35000"/>
                  </a:schemeClr>
                </a:solidFill>
              </a:rPr>
              <a:t>						</a:t>
            </a:r>
            <a:r>
              <a:rPr lang="en-US" b="1" dirty="0" smtClean="0"/>
              <a:t>LS 11:257</a:t>
            </a:r>
            <a:endParaRPr lang="en-US" dirty="0" smtClean="0"/>
          </a:p>
          <a:p>
            <a:r>
              <a:rPr lang="en-US" b="1" dirty="0" smtClean="0"/>
              <a:t> </a:t>
            </a:r>
            <a:endParaRPr lang="en-US" dirty="0" smtClean="0"/>
          </a:p>
          <a:p>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1266" name="Picture 2" descr="Antique Scroll"/>
          <p:cNvPicPr>
            <a:picLocks noChangeAspect="1" noChangeArrowheads="1"/>
          </p:cNvPicPr>
          <p:nvPr/>
        </p:nvPicPr>
        <p:blipFill>
          <a:blip r:embed="rId2" cstate="print"/>
          <a:srcRect/>
          <a:stretch>
            <a:fillRect/>
          </a:stretch>
        </p:blipFill>
        <p:spPr bwMode="auto">
          <a:xfrm>
            <a:off x="0" y="0"/>
            <a:ext cx="9283700" cy="6962776"/>
          </a:xfrm>
          <a:prstGeom prst="rect">
            <a:avLst/>
          </a:prstGeom>
          <a:noFill/>
        </p:spPr>
      </p:pic>
      <p:sp>
        <p:nvSpPr>
          <p:cNvPr id="5" name="TextBox 4"/>
          <p:cNvSpPr txBox="1"/>
          <p:nvPr/>
        </p:nvSpPr>
        <p:spPr>
          <a:xfrm>
            <a:off x="1371600" y="914400"/>
            <a:ext cx="6248400" cy="769441"/>
          </a:xfrm>
          <a:prstGeom prst="rect">
            <a:avLst/>
          </a:prstGeom>
          <a:noFill/>
        </p:spPr>
        <p:txBody>
          <a:bodyPr wrap="square" rtlCol="0">
            <a:spAutoFit/>
          </a:bodyPr>
          <a:lstStyle/>
          <a:p>
            <a:pPr algn="ctr"/>
            <a:r>
              <a:rPr lang="en-US" sz="4400" b="1" dirty="0" smtClean="0"/>
              <a:t>Why be embarrassed to…</a:t>
            </a:r>
            <a:endParaRPr lang="en-US" sz="4400" b="1" dirty="0"/>
          </a:p>
        </p:txBody>
      </p:sp>
      <p:pic>
        <p:nvPicPr>
          <p:cNvPr id="28674" name="Picture 2" descr="http://2.bp.blogspot.com/_d4zmqSfE-J8/SJdRSbTL5vI/AAAAAAAABRk/m76cBWLdZC0/s400/Barack+Omama+at+Kotel.jpg"/>
          <p:cNvPicPr>
            <a:picLocks noChangeAspect="1" noChangeArrowheads="1"/>
          </p:cNvPicPr>
          <p:nvPr/>
        </p:nvPicPr>
        <p:blipFill>
          <a:blip r:embed="rId3" cstate="print"/>
          <a:srcRect r="24000"/>
          <a:stretch>
            <a:fillRect/>
          </a:stretch>
        </p:blipFill>
        <p:spPr bwMode="auto">
          <a:xfrm>
            <a:off x="1066800" y="2286000"/>
            <a:ext cx="3512351" cy="3200400"/>
          </a:xfrm>
          <a:prstGeom prst="rect">
            <a:avLst/>
          </a:prstGeom>
          <a:noFill/>
        </p:spPr>
      </p:pic>
      <p:pic>
        <p:nvPicPr>
          <p:cNvPr id="28676" name="Picture 4" descr="http://images.pictureshunt.com/pics/b/brad_pitt_beard-3953.jpg"/>
          <p:cNvPicPr>
            <a:picLocks noChangeAspect="1" noChangeArrowheads="1"/>
          </p:cNvPicPr>
          <p:nvPr/>
        </p:nvPicPr>
        <p:blipFill>
          <a:blip r:embed="rId4" cstate="print"/>
          <a:srcRect l="3200" t="-2133" r="13600"/>
          <a:stretch>
            <a:fillRect/>
          </a:stretch>
        </p:blipFill>
        <p:spPr bwMode="auto">
          <a:xfrm>
            <a:off x="4724400" y="2209800"/>
            <a:ext cx="3581400" cy="3297298"/>
          </a:xfrm>
          <a:prstGeom prst="rect">
            <a:avLst/>
          </a:prstGeom>
          <a:noFill/>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1266" name="Picture 2" descr="Antique Scroll"/>
          <p:cNvPicPr>
            <a:picLocks noChangeAspect="1" noChangeArrowheads="1"/>
          </p:cNvPicPr>
          <p:nvPr/>
        </p:nvPicPr>
        <p:blipFill>
          <a:blip r:embed="rId2" cstate="print"/>
          <a:srcRect/>
          <a:stretch>
            <a:fillRect/>
          </a:stretch>
        </p:blipFill>
        <p:spPr bwMode="auto">
          <a:xfrm>
            <a:off x="0" y="0"/>
            <a:ext cx="9283700" cy="6962776"/>
          </a:xfrm>
          <a:prstGeom prst="rect">
            <a:avLst/>
          </a:prstGeom>
          <a:noFill/>
        </p:spPr>
      </p:pic>
      <p:sp>
        <p:nvSpPr>
          <p:cNvPr id="5" name="TextBox 4"/>
          <p:cNvSpPr txBox="1"/>
          <p:nvPr/>
        </p:nvSpPr>
        <p:spPr>
          <a:xfrm>
            <a:off x="1371600" y="914400"/>
            <a:ext cx="6248400" cy="851297"/>
          </a:xfrm>
          <a:prstGeom prst="flowChartAlternateProcess">
            <a:avLst/>
          </a:prstGeom>
          <a:solidFill>
            <a:schemeClr val="bg1">
              <a:lumMod val="95000"/>
            </a:schemeClr>
          </a:solidFill>
        </p:spPr>
        <p:txBody>
          <a:bodyPr wrap="square" rtlCol="0">
            <a:spAutoFit/>
          </a:bodyPr>
          <a:lstStyle/>
          <a:p>
            <a:pPr algn="ctr"/>
            <a:r>
              <a:rPr lang="en-US" sz="4400" b="1" dirty="0" smtClean="0"/>
              <a:t>Two Torahs</a:t>
            </a:r>
            <a:endParaRPr lang="en-US" sz="4400" b="1" dirty="0"/>
          </a:p>
        </p:txBody>
      </p:sp>
      <p:sp>
        <p:nvSpPr>
          <p:cNvPr id="10" name="TextBox 9"/>
          <p:cNvSpPr txBox="1"/>
          <p:nvPr/>
        </p:nvSpPr>
        <p:spPr>
          <a:xfrm>
            <a:off x="5638800" y="2209800"/>
            <a:ext cx="2103120" cy="2651760"/>
          </a:xfrm>
          <a:prstGeom prst="flowChartAlternateProcess">
            <a:avLst/>
          </a:prstGeom>
          <a:solidFill>
            <a:schemeClr val="bg1">
              <a:lumMod val="95000"/>
            </a:schemeClr>
          </a:solidFill>
        </p:spPr>
        <p:txBody>
          <a:bodyPr wrap="square" rtlCol="0">
            <a:spAutoFit/>
          </a:bodyPr>
          <a:lstStyle/>
          <a:p>
            <a:pPr algn="ctr"/>
            <a:r>
              <a:rPr lang="en-US" sz="3200" b="1" dirty="0" smtClean="0"/>
              <a:t>Written Torah</a:t>
            </a:r>
          </a:p>
          <a:p>
            <a:pPr algn="ctr"/>
            <a:endParaRPr lang="en-US" sz="3200" b="1" dirty="0"/>
          </a:p>
          <a:p>
            <a:pPr algn="ctr"/>
            <a:endParaRPr lang="en-US" sz="3200" b="1" dirty="0" smtClean="0"/>
          </a:p>
          <a:p>
            <a:pPr algn="ctr"/>
            <a:endParaRPr lang="en-US" sz="3200" dirty="0"/>
          </a:p>
          <a:p>
            <a:r>
              <a:rPr lang="en-US" sz="2200" b="1" dirty="0"/>
              <a:t> </a:t>
            </a:r>
            <a:endParaRPr lang="en-US" sz="2200" dirty="0"/>
          </a:p>
          <a:p>
            <a:pPr algn="ctr"/>
            <a:endParaRPr lang="en-US" sz="2200" b="1" dirty="0"/>
          </a:p>
        </p:txBody>
      </p:sp>
      <p:sp>
        <p:nvSpPr>
          <p:cNvPr id="11" name="TextBox 10"/>
          <p:cNvSpPr txBox="1"/>
          <p:nvPr/>
        </p:nvSpPr>
        <p:spPr>
          <a:xfrm>
            <a:off x="1676400" y="2133599"/>
            <a:ext cx="2103120" cy="2834640"/>
          </a:xfrm>
          <a:prstGeom prst="flowChartAlternateProcess">
            <a:avLst/>
          </a:prstGeom>
          <a:solidFill>
            <a:schemeClr val="bg1">
              <a:lumMod val="95000"/>
            </a:schemeClr>
          </a:solidFill>
        </p:spPr>
        <p:txBody>
          <a:bodyPr wrap="square" rtlCol="0">
            <a:spAutoFit/>
          </a:bodyPr>
          <a:lstStyle/>
          <a:p>
            <a:pPr algn="ctr"/>
            <a:r>
              <a:rPr lang="en-US" sz="3200" b="1" dirty="0" smtClean="0"/>
              <a:t>Oral</a:t>
            </a:r>
          </a:p>
          <a:p>
            <a:pPr algn="ctr"/>
            <a:r>
              <a:rPr lang="en-US" sz="3200" b="1" dirty="0" smtClean="0"/>
              <a:t> Torah</a:t>
            </a:r>
            <a:endParaRPr lang="en-US" sz="3200" dirty="0"/>
          </a:p>
          <a:p>
            <a:r>
              <a:rPr lang="en-US" sz="2200" b="1" dirty="0"/>
              <a:t> </a:t>
            </a:r>
            <a:endParaRPr lang="en-US" sz="2200" dirty="0"/>
          </a:p>
          <a:p>
            <a:pPr algn="ctr"/>
            <a:endParaRPr lang="en-US" sz="2200" b="1" dirty="0"/>
          </a:p>
        </p:txBody>
      </p:sp>
      <p:sp>
        <p:nvSpPr>
          <p:cNvPr id="12" name="TextBox 11"/>
          <p:cNvSpPr txBox="1"/>
          <p:nvPr/>
        </p:nvSpPr>
        <p:spPr>
          <a:xfrm>
            <a:off x="1600200" y="5029200"/>
            <a:ext cx="5715000" cy="822960"/>
          </a:xfrm>
          <a:prstGeom prst="flowChartAlternateProcess">
            <a:avLst/>
          </a:prstGeom>
          <a:solidFill>
            <a:schemeClr val="bg1">
              <a:lumMod val="95000"/>
            </a:schemeClr>
          </a:solidFill>
        </p:spPr>
        <p:txBody>
          <a:bodyPr wrap="square" rtlCol="0">
            <a:spAutoFit/>
          </a:bodyPr>
          <a:lstStyle/>
          <a:p>
            <a:pPr algn="ctr"/>
            <a:r>
              <a:rPr lang="en-US" sz="3500" b="1" dirty="0" smtClean="0"/>
              <a:t>Which one came first?</a:t>
            </a:r>
            <a:endParaRPr lang="en-US" sz="3500" dirty="0"/>
          </a:p>
          <a:p>
            <a:r>
              <a:rPr lang="en-US" sz="2200" b="1" dirty="0"/>
              <a:t> </a:t>
            </a:r>
            <a:endParaRPr lang="en-US" sz="2200" dirty="0"/>
          </a:p>
          <a:p>
            <a:pPr algn="ctr"/>
            <a:endParaRPr lang="en-US" sz="2200" b="1" dirty="0"/>
          </a:p>
        </p:txBody>
      </p:sp>
      <p:pic>
        <p:nvPicPr>
          <p:cNvPr id="32770" name="Picture 2" descr="http://jdstone.org/cr/images/talmud_set_640x480.jpg"/>
          <p:cNvPicPr>
            <a:picLocks noChangeAspect="1" noChangeArrowheads="1"/>
          </p:cNvPicPr>
          <p:nvPr/>
        </p:nvPicPr>
        <p:blipFill>
          <a:blip r:embed="rId3" cstate="print"/>
          <a:srcRect/>
          <a:stretch>
            <a:fillRect/>
          </a:stretch>
        </p:blipFill>
        <p:spPr bwMode="auto">
          <a:xfrm>
            <a:off x="1752600" y="3505200"/>
            <a:ext cx="1905000" cy="1333500"/>
          </a:xfrm>
          <a:prstGeom prst="rect">
            <a:avLst/>
          </a:prstGeom>
          <a:noFill/>
        </p:spPr>
      </p:pic>
      <p:pic>
        <p:nvPicPr>
          <p:cNvPr id="32772" name="Picture 4" descr="http://www.jewoftheweek.net/wp-content/uploads/2012/01/AncientTorah.jpg"/>
          <p:cNvPicPr>
            <a:picLocks noChangeAspect="1" noChangeArrowheads="1"/>
          </p:cNvPicPr>
          <p:nvPr/>
        </p:nvPicPr>
        <p:blipFill>
          <a:blip r:embed="rId4" cstate="print"/>
          <a:srcRect/>
          <a:stretch>
            <a:fillRect/>
          </a:stretch>
        </p:blipFill>
        <p:spPr bwMode="auto">
          <a:xfrm>
            <a:off x="5715000" y="3352800"/>
            <a:ext cx="1879063" cy="1371600"/>
          </a:xfrm>
          <a:prstGeom prst="rect">
            <a:avLst/>
          </a:prstGeom>
          <a:noFill/>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35842" name="Picture 2" descr="C:\Users\Beit Chabad Manaus\AppData\Local\Microsoft\Windows\Temporary Internet Files\Content.IE5\AXLSR3QQ\alephbet.jpg"/>
          <p:cNvPicPr>
            <a:picLocks noChangeAspect="1" noChangeArrowheads="1"/>
          </p:cNvPicPr>
          <p:nvPr/>
        </p:nvPicPr>
        <p:blipFill>
          <a:blip r:embed="rId2" cstate="print"/>
          <a:srcRect/>
          <a:stretch>
            <a:fillRect/>
          </a:stretch>
        </p:blipFill>
        <p:spPr bwMode="auto">
          <a:xfrm>
            <a:off x="1828800" y="152400"/>
            <a:ext cx="5019325" cy="7823567"/>
          </a:xfrm>
          <a:prstGeom prst="rect">
            <a:avLst/>
          </a:prstGeom>
          <a:noFill/>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1266" name="Picture 2" descr="Antique Scroll"/>
          <p:cNvPicPr>
            <a:picLocks noChangeAspect="1" noChangeArrowheads="1"/>
          </p:cNvPicPr>
          <p:nvPr/>
        </p:nvPicPr>
        <p:blipFill>
          <a:blip r:embed="rId2" cstate="print"/>
          <a:srcRect/>
          <a:stretch>
            <a:fillRect/>
          </a:stretch>
        </p:blipFill>
        <p:spPr bwMode="auto">
          <a:xfrm>
            <a:off x="0" y="0"/>
            <a:ext cx="9283700" cy="6962776"/>
          </a:xfrm>
          <a:prstGeom prst="rect">
            <a:avLst/>
          </a:prstGeom>
          <a:noFill/>
        </p:spPr>
      </p:pic>
      <p:sp>
        <p:nvSpPr>
          <p:cNvPr id="5" name="TextBox 4"/>
          <p:cNvSpPr txBox="1"/>
          <p:nvPr/>
        </p:nvSpPr>
        <p:spPr>
          <a:xfrm>
            <a:off x="1371600" y="914400"/>
            <a:ext cx="6248400" cy="851297"/>
          </a:xfrm>
          <a:prstGeom prst="flowChartAlternateProcess">
            <a:avLst/>
          </a:prstGeom>
          <a:solidFill>
            <a:schemeClr val="bg1">
              <a:lumMod val="95000"/>
            </a:schemeClr>
          </a:solidFill>
        </p:spPr>
        <p:txBody>
          <a:bodyPr wrap="square" rtlCol="0">
            <a:spAutoFit/>
          </a:bodyPr>
          <a:lstStyle/>
          <a:p>
            <a:pPr algn="ctr"/>
            <a:r>
              <a:rPr lang="en-US" sz="4400" b="1" dirty="0" smtClean="0"/>
              <a:t>Oral Torah</a:t>
            </a:r>
            <a:endParaRPr lang="en-US" sz="4400" b="1" dirty="0"/>
          </a:p>
        </p:txBody>
      </p:sp>
      <p:sp>
        <p:nvSpPr>
          <p:cNvPr id="12" name="TextBox 11"/>
          <p:cNvSpPr txBox="1"/>
          <p:nvPr/>
        </p:nvSpPr>
        <p:spPr>
          <a:xfrm>
            <a:off x="1295400" y="1905000"/>
            <a:ext cx="6477000" cy="4188381"/>
          </a:xfrm>
          <a:prstGeom prst="flowChartAlternateProcess">
            <a:avLst/>
          </a:prstGeom>
          <a:solidFill>
            <a:schemeClr val="bg1">
              <a:lumMod val="95000"/>
            </a:schemeClr>
          </a:solidFill>
        </p:spPr>
        <p:txBody>
          <a:bodyPr wrap="square" rtlCol="0">
            <a:spAutoFit/>
          </a:bodyPr>
          <a:lstStyle/>
          <a:p>
            <a:pPr algn="ctr"/>
            <a:r>
              <a:rPr lang="en-US" sz="2400" b="1" dirty="0"/>
              <a:t>If no oral tradition then how do we read the Torah, </a:t>
            </a:r>
            <a:r>
              <a:rPr lang="en-US" sz="2400" b="1" dirty="0" smtClean="0"/>
              <a:t>and how do we know our </a:t>
            </a:r>
            <a:r>
              <a:rPr lang="en-US" sz="2400" b="1" dirty="0" err="1" smtClean="0"/>
              <a:t>mitzvot</a:t>
            </a:r>
            <a:r>
              <a:rPr lang="en-US" sz="2400" b="1" dirty="0" smtClean="0"/>
              <a:t>?</a:t>
            </a:r>
          </a:p>
          <a:p>
            <a:pPr algn="ctr"/>
            <a:endParaRPr lang="en-US" sz="2400" b="1" dirty="0" smtClean="0"/>
          </a:p>
          <a:p>
            <a:pPr algn="ctr"/>
            <a:endParaRPr lang="en-US" sz="2400" dirty="0"/>
          </a:p>
          <a:p>
            <a:pPr algn="ctr"/>
            <a:r>
              <a:rPr lang="en-US" sz="2400" b="1" dirty="0"/>
              <a:t> </a:t>
            </a:r>
            <a:endParaRPr lang="en-US" sz="2400" dirty="0" smtClean="0"/>
          </a:p>
          <a:p>
            <a:pPr algn="ctr"/>
            <a:endParaRPr lang="en-US" sz="2400" b="1" dirty="0" smtClean="0"/>
          </a:p>
          <a:p>
            <a:pPr algn="ctr"/>
            <a:endParaRPr lang="en-US" sz="2400" b="1" dirty="0" smtClean="0"/>
          </a:p>
          <a:p>
            <a:pPr algn="ctr"/>
            <a:endParaRPr lang="en-US" sz="2400" b="1" dirty="0"/>
          </a:p>
          <a:p>
            <a:pPr algn="ctr"/>
            <a:endParaRPr lang="en-US" sz="2400" b="1" dirty="0" smtClean="0"/>
          </a:p>
          <a:p>
            <a:pPr algn="ctr"/>
            <a:endParaRPr lang="en-US" sz="2400" b="1" dirty="0"/>
          </a:p>
        </p:txBody>
      </p:sp>
      <p:pic>
        <p:nvPicPr>
          <p:cNvPr id="35843" name="Picture 3" descr="http://www.beverlyhillschabad.com/torah-reading/TEXT/2SHEMOS-TEXT/92Tetzaveh-TerumahB.jpg"/>
          <p:cNvPicPr>
            <a:picLocks noChangeAspect="1" noChangeArrowheads="1"/>
          </p:cNvPicPr>
          <p:nvPr/>
        </p:nvPicPr>
        <p:blipFill>
          <a:blip r:embed="rId3" cstate="print"/>
          <a:srcRect t="3333" r="-4180" b="75225"/>
          <a:stretch>
            <a:fillRect/>
          </a:stretch>
        </p:blipFill>
        <p:spPr bwMode="auto">
          <a:xfrm>
            <a:off x="152400" y="2971800"/>
            <a:ext cx="4760259" cy="2743200"/>
          </a:xfrm>
          <a:prstGeom prst="rect">
            <a:avLst/>
          </a:prstGeom>
          <a:noFill/>
        </p:spPr>
      </p:pic>
      <p:pic>
        <p:nvPicPr>
          <p:cNvPr id="35844" name="Picture 4" descr="http://www.beverlyhillschabad.com/torah-reading/TEXT/2SHEMOS-TEXT/92Tetzaveh-TerumahA.jpg"/>
          <p:cNvPicPr>
            <a:picLocks noChangeAspect="1" noChangeArrowheads="1"/>
          </p:cNvPicPr>
          <p:nvPr/>
        </p:nvPicPr>
        <p:blipFill>
          <a:blip r:embed="rId4" cstate="print"/>
          <a:srcRect t="3621" r="3594" b="74946"/>
          <a:stretch>
            <a:fillRect/>
          </a:stretch>
        </p:blipFill>
        <p:spPr bwMode="auto">
          <a:xfrm>
            <a:off x="4648200" y="2971800"/>
            <a:ext cx="4495800" cy="2756354"/>
          </a:xfrm>
          <a:prstGeom prst="rect">
            <a:avLst/>
          </a:prstGeom>
          <a:noFill/>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1266" name="Picture 2" descr="Antique Scroll"/>
          <p:cNvPicPr>
            <a:picLocks noChangeAspect="1" noChangeArrowheads="1"/>
          </p:cNvPicPr>
          <p:nvPr/>
        </p:nvPicPr>
        <p:blipFill>
          <a:blip r:embed="rId2" cstate="print"/>
          <a:srcRect/>
          <a:stretch>
            <a:fillRect/>
          </a:stretch>
        </p:blipFill>
        <p:spPr bwMode="auto">
          <a:xfrm>
            <a:off x="0" y="0"/>
            <a:ext cx="9283700" cy="6962776"/>
          </a:xfrm>
          <a:prstGeom prst="rect">
            <a:avLst/>
          </a:prstGeom>
          <a:noFill/>
        </p:spPr>
      </p:pic>
      <p:sp>
        <p:nvSpPr>
          <p:cNvPr id="5" name="TextBox 4"/>
          <p:cNvSpPr txBox="1"/>
          <p:nvPr/>
        </p:nvSpPr>
        <p:spPr>
          <a:xfrm>
            <a:off x="1371600" y="914400"/>
            <a:ext cx="6248400" cy="851297"/>
          </a:xfrm>
          <a:prstGeom prst="flowChartAlternateProcess">
            <a:avLst/>
          </a:prstGeom>
          <a:solidFill>
            <a:schemeClr val="bg1">
              <a:lumMod val="95000"/>
            </a:schemeClr>
          </a:solidFill>
        </p:spPr>
        <p:txBody>
          <a:bodyPr wrap="square" rtlCol="0">
            <a:spAutoFit/>
          </a:bodyPr>
          <a:lstStyle/>
          <a:p>
            <a:pPr algn="ctr"/>
            <a:r>
              <a:rPr lang="en-US" sz="4400" b="1" dirty="0" smtClean="0"/>
              <a:t>Oral Torah</a:t>
            </a:r>
            <a:endParaRPr lang="en-US" sz="4400" b="1" dirty="0"/>
          </a:p>
        </p:txBody>
      </p:sp>
      <p:sp>
        <p:nvSpPr>
          <p:cNvPr id="12" name="TextBox 11"/>
          <p:cNvSpPr txBox="1"/>
          <p:nvPr/>
        </p:nvSpPr>
        <p:spPr>
          <a:xfrm>
            <a:off x="990600" y="2133600"/>
            <a:ext cx="7391400" cy="4528899"/>
          </a:xfrm>
          <a:prstGeom prst="flowChartAlternateProcess">
            <a:avLst/>
          </a:prstGeom>
          <a:solidFill>
            <a:schemeClr val="bg1">
              <a:lumMod val="95000"/>
            </a:schemeClr>
          </a:solidFill>
        </p:spPr>
        <p:txBody>
          <a:bodyPr wrap="square" rtlCol="0">
            <a:spAutoFit/>
          </a:bodyPr>
          <a:lstStyle/>
          <a:p>
            <a:r>
              <a:rPr lang="en-US" sz="2000" b="1" dirty="0" smtClean="0"/>
              <a:t>Shabbat -</a:t>
            </a:r>
            <a:r>
              <a:rPr lang="pt-BR" sz="2000" dirty="0" smtClean="0"/>
              <a:t>"zachor ve’shamor" – "lembra e guarda" o Shabat</a:t>
            </a:r>
          </a:p>
          <a:p>
            <a:r>
              <a:rPr lang="pt-BR" sz="2000" dirty="0" smtClean="0"/>
              <a:t>“Por </a:t>
            </a:r>
            <a:r>
              <a:rPr lang="pt-BR" sz="2000" b="1" i="1" dirty="0" smtClean="0"/>
              <a:t>seis dias</a:t>
            </a:r>
            <a:r>
              <a:rPr lang="pt-BR" sz="2000" dirty="0" smtClean="0"/>
              <a:t> deverás </a:t>
            </a:r>
            <a:r>
              <a:rPr lang="pt-BR" sz="2000" b="1" i="1" dirty="0" smtClean="0"/>
              <a:t>trabalhar e</a:t>
            </a:r>
            <a:r>
              <a:rPr lang="pt-BR" sz="2000" dirty="0" smtClean="0"/>
              <a:t> cumprir todas tuas tarefas, mas o sétimo dia </a:t>
            </a:r>
            <a:r>
              <a:rPr lang="pt-BR" sz="2000" b="1" i="1" dirty="0" smtClean="0"/>
              <a:t>é</a:t>
            </a:r>
            <a:r>
              <a:rPr lang="pt-BR" sz="2000" dirty="0" smtClean="0"/>
              <a:t> Shabat de teu D-us” </a:t>
            </a:r>
          </a:p>
          <a:p>
            <a:endParaRPr lang="en-US" sz="2000" dirty="0"/>
          </a:p>
          <a:p>
            <a:r>
              <a:rPr lang="en-US" sz="2000" b="1" dirty="0"/>
              <a:t>Brit </a:t>
            </a:r>
            <a:r>
              <a:rPr lang="en-US" sz="2000" b="1" dirty="0" err="1"/>
              <a:t>Milah</a:t>
            </a:r>
            <a:r>
              <a:rPr lang="en-US" sz="2000" b="1" dirty="0"/>
              <a:t>- </a:t>
            </a:r>
            <a:r>
              <a:rPr lang="en-US" sz="2000" b="1" dirty="0" err="1"/>
              <a:t>Orlah</a:t>
            </a:r>
            <a:r>
              <a:rPr lang="en-US" sz="2000" b="1" dirty="0"/>
              <a:t>- </a:t>
            </a:r>
            <a:endParaRPr lang="en-US" sz="2000" b="1" dirty="0" smtClean="0"/>
          </a:p>
          <a:p>
            <a:r>
              <a:rPr lang="en-US" sz="2000" b="1" dirty="0" smtClean="0"/>
              <a:t>1) </a:t>
            </a:r>
            <a:r>
              <a:rPr lang="en-US" sz="2000" b="1" dirty="0" err="1" smtClean="0"/>
              <a:t>orlah</a:t>
            </a:r>
            <a:r>
              <a:rPr lang="en-US" sz="2000" dirty="0" smtClean="0"/>
              <a:t> </a:t>
            </a:r>
            <a:r>
              <a:rPr lang="en-US" sz="2000" dirty="0"/>
              <a:t>of the heart (Deut. 10:16</a:t>
            </a:r>
            <a:r>
              <a:rPr lang="en-US" sz="2000" dirty="0" smtClean="0"/>
              <a:t>)</a:t>
            </a:r>
          </a:p>
          <a:p>
            <a:r>
              <a:rPr lang="en-US" sz="2000" b="1" dirty="0" smtClean="0"/>
              <a:t>2) </a:t>
            </a:r>
            <a:r>
              <a:rPr lang="en-US" sz="2000" b="1" dirty="0" err="1" smtClean="0"/>
              <a:t>orlah</a:t>
            </a:r>
            <a:r>
              <a:rPr lang="en-US" sz="2000" dirty="0" smtClean="0"/>
              <a:t> </a:t>
            </a:r>
            <a:r>
              <a:rPr lang="en-US" sz="2000" dirty="0"/>
              <a:t>of the ears (Jer. 6:10)</a:t>
            </a:r>
            <a:r>
              <a:rPr lang="en-US" sz="2000" b="1" dirty="0"/>
              <a:t> </a:t>
            </a:r>
            <a:endParaRPr lang="en-US" sz="2000" b="1" dirty="0" smtClean="0"/>
          </a:p>
          <a:p>
            <a:r>
              <a:rPr lang="en-US" sz="2000" dirty="0" smtClean="0"/>
              <a:t>3) fruit </a:t>
            </a:r>
            <a:r>
              <a:rPr lang="en-US" sz="2000" dirty="0"/>
              <a:t>of a tree's first three years </a:t>
            </a:r>
            <a:r>
              <a:rPr lang="en-US" sz="2000" i="1" dirty="0" err="1"/>
              <a:t>orlah</a:t>
            </a:r>
            <a:r>
              <a:rPr lang="en-US" sz="2000" dirty="0"/>
              <a:t> (Lev. 19:23). </a:t>
            </a:r>
            <a:endParaRPr lang="en-US" sz="2000" dirty="0" smtClean="0"/>
          </a:p>
          <a:p>
            <a:r>
              <a:rPr lang="en-US" sz="2000" dirty="0" smtClean="0"/>
              <a:t>4) </a:t>
            </a:r>
            <a:r>
              <a:rPr lang="en-US" sz="2000" dirty="0" err="1" smtClean="0"/>
              <a:t>v'ani</a:t>
            </a:r>
            <a:r>
              <a:rPr lang="en-US" sz="2000" dirty="0" smtClean="0"/>
              <a:t> </a:t>
            </a:r>
            <a:r>
              <a:rPr lang="en-US" sz="2000" b="1" dirty="0"/>
              <a:t>oral </a:t>
            </a:r>
            <a:r>
              <a:rPr lang="en-US" sz="2000" b="1" dirty="0" err="1"/>
              <a:t>sfataim</a:t>
            </a:r>
            <a:r>
              <a:rPr lang="en-US" sz="2000" dirty="0"/>
              <a:t> -- "I whose lips are uncircumcised." </a:t>
            </a:r>
            <a:endParaRPr lang="en-US" sz="2000" dirty="0" smtClean="0"/>
          </a:p>
          <a:p>
            <a:r>
              <a:rPr lang="en-US" sz="2000" dirty="0" smtClean="0"/>
              <a:t>(Ex. 6:12). </a:t>
            </a:r>
            <a:endParaRPr lang="en-US" sz="2000" dirty="0"/>
          </a:p>
          <a:p>
            <a:r>
              <a:rPr lang="en-US" sz="2000" dirty="0" smtClean="0"/>
              <a:t>5) You </a:t>
            </a:r>
            <a:r>
              <a:rPr lang="en-US" sz="2000" dirty="0"/>
              <a:t>shall circumcise the flesh of </a:t>
            </a:r>
            <a:r>
              <a:rPr lang="en-US" sz="2000" dirty="0" smtClean="0"/>
              <a:t>your </a:t>
            </a:r>
            <a:r>
              <a:rPr lang="en-US" sz="2000" b="1" dirty="0" err="1" smtClean="0"/>
              <a:t>Orlah</a:t>
            </a:r>
            <a:r>
              <a:rPr lang="en-US" sz="2000" dirty="0" smtClean="0"/>
              <a:t>, </a:t>
            </a:r>
            <a:r>
              <a:rPr lang="en-US" sz="2000" dirty="0"/>
              <a:t>(</a:t>
            </a:r>
            <a:r>
              <a:rPr lang="en-US" sz="2000" dirty="0" err="1" smtClean="0"/>
              <a:t>Bereishit</a:t>
            </a:r>
            <a:endParaRPr lang="en-US" sz="2000" dirty="0" smtClean="0"/>
          </a:p>
          <a:p>
            <a:r>
              <a:rPr lang="en-US" sz="2000" dirty="0" smtClean="0"/>
              <a:t> 17:11)</a:t>
            </a:r>
            <a:endParaRPr lang="en-US" sz="2000" b="1" dirty="0" smtClean="0"/>
          </a:p>
          <a:p>
            <a:endParaRPr lang="en-US" sz="2000" dirty="0"/>
          </a:p>
        </p:txBody>
      </p:sp>
      <p:pic>
        <p:nvPicPr>
          <p:cNvPr id="33794" name="Picture 2" descr="http://geniussquared.com/wp-content/uploads/2010/02/confused-man.jpg"/>
          <p:cNvPicPr>
            <a:picLocks noChangeAspect="1" noChangeArrowheads="1"/>
          </p:cNvPicPr>
          <p:nvPr/>
        </p:nvPicPr>
        <p:blipFill>
          <a:blip r:embed="rId3" cstate="print"/>
          <a:srcRect/>
          <a:stretch>
            <a:fillRect/>
          </a:stretch>
        </p:blipFill>
        <p:spPr bwMode="auto">
          <a:xfrm>
            <a:off x="7186257" y="2971800"/>
            <a:ext cx="1957743" cy="3581401"/>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1266" name="Picture 2" descr="Antique Scroll"/>
          <p:cNvPicPr>
            <a:picLocks noChangeAspect="1" noChangeArrowheads="1"/>
          </p:cNvPicPr>
          <p:nvPr/>
        </p:nvPicPr>
        <p:blipFill>
          <a:blip r:embed="rId3" cstate="print"/>
          <a:srcRect/>
          <a:stretch>
            <a:fillRect/>
          </a:stretch>
        </p:blipFill>
        <p:spPr bwMode="auto">
          <a:xfrm>
            <a:off x="0" y="0"/>
            <a:ext cx="9283700" cy="6962776"/>
          </a:xfrm>
          <a:prstGeom prst="rect">
            <a:avLst/>
          </a:prstGeom>
          <a:noFill/>
        </p:spPr>
      </p:pic>
      <p:sp>
        <p:nvSpPr>
          <p:cNvPr id="5" name="TextBox 4"/>
          <p:cNvSpPr txBox="1"/>
          <p:nvPr/>
        </p:nvSpPr>
        <p:spPr>
          <a:xfrm>
            <a:off x="1371600" y="914400"/>
            <a:ext cx="6248400" cy="851297"/>
          </a:xfrm>
          <a:prstGeom prst="flowChartAlternateProcess">
            <a:avLst/>
          </a:prstGeom>
          <a:solidFill>
            <a:schemeClr val="bg1">
              <a:lumMod val="95000"/>
            </a:schemeClr>
          </a:solidFill>
        </p:spPr>
        <p:txBody>
          <a:bodyPr wrap="square" rtlCol="0">
            <a:spAutoFit/>
          </a:bodyPr>
          <a:lstStyle/>
          <a:p>
            <a:pPr algn="ctr"/>
            <a:r>
              <a:rPr lang="en-US" sz="4400" b="1" dirty="0" smtClean="0"/>
              <a:t>Oral Torah</a:t>
            </a:r>
            <a:endParaRPr lang="en-US" sz="4400" b="1" dirty="0"/>
          </a:p>
        </p:txBody>
      </p:sp>
      <p:sp>
        <p:nvSpPr>
          <p:cNvPr id="12" name="TextBox 11"/>
          <p:cNvSpPr txBox="1"/>
          <p:nvPr/>
        </p:nvSpPr>
        <p:spPr>
          <a:xfrm>
            <a:off x="990600" y="2133600"/>
            <a:ext cx="7391400" cy="4188381"/>
          </a:xfrm>
          <a:prstGeom prst="flowChartAlternateProcess">
            <a:avLst/>
          </a:prstGeom>
          <a:solidFill>
            <a:schemeClr val="bg1">
              <a:lumMod val="95000"/>
            </a:schemeClr>
          </a:solidFill>
        </p:spPr>
        <p:txBody>
          <a:bodyPr wrap="square" rtlCol="0">
            <a:spAutoFit/>
          </a:bodyPr>
          <a:lstStyle/>
          <a:p>
            <a:r>
              <a:rPr lang="pt-BR" sz="2000" b="1" dirty="0"/>
              <a:t>Tefillin –  "Será um sinal em tua mão e uma lembrança entre teus olhos para que toda a Torá esteja em tua boca..." </a:t>
            </a:r>
            <a:endParaRPr lang="en-US" sz="2000" dirty="0"/>
          </a:p>
          <a:p>
            <a:r>
              <a:rPr lang="pt-BR" sz="2000" b="1" dirty="0"/>
              <a:t>  </a:t>
            </a:r>
            <a:endParaRPr lang="pt-BR" sz="2000" b="1" dirty="0" smtClean="0"/>
          </a:p>
          <a:p>
            <a:endParaRPr lang="pt-BR" sz="2000" b="1" dirty="0"/>
          </a:p>
          <a:p>
            <a:endParaRPr lang="pt-BR" sz="2000" b="1" dirty="0" smtClean="0"/>
          </a:p>
          <a:p>
            <a:endParaRPr lang="pt-BR" sz="2000" b="1" dirty="0"/>
          </a:p>
          <a:p>
            <a:endParaRPr lang="en-US" sz="2000" dirty="0" smtClean="0"/>
          </a:p>
          <a:p>
            <a:endParaRPr lang="en-US" sz="2000" dirty="0"/>
          </a:p>
          <a:p>
            <a:endParaRPr lang="en-US" sz="2000" dirty="0" smtClean="0"/>
          </a:p>
          <a:p>
            <a:endParaRPr lang="en-US" sz="2000" dirty="0"/>
          </a:p>
          <a:p>
            <a:r>
              <a:rPr lang="en-US" sz="2000" b="1" dirty="0" err="1" smtClean="0"/>
              <a:t>Shechita</a:t>
            </a:r>
            <a:r>
              <a:rPr lang="en-US" sz="2000" b="1" dirty="0" smtClean="0"/>
              <a:t> - </a:t>
            </a:r>
            <a:r>
              <a:rPr lang="pt-PT" sz="2000" b="1" dirty="0"/>
              <a:t>"Abaterás (degolarás) teu gado e rebanho... </a:t>
            </a:r>
            <a:r>
              <a:rPr lang="pt-PT" sz="2000" b="1" dirty="0">
                <a:solidFill>
                  <a:srgbClr val="C00000"/>
                </a:solidFill>
              </a:rPr>
              <a:t>como Eu te ordenei"</a:t>
            </a:r>
            <a:r>
              <a:rPr lang="pt-PT" sz="2000" b="1" dirty="0"/>
              <a:t> (Devarim 12:21</a:t>
            </a:r>
            <a:r>
              <a:rPr lang="pt-PT" sz="2000" b="1" dirty="0" smtClean="0"/>
              <a:t>).</a:t>
            </a:r>
            <a:endParaRPr lang="en-US" sz="2000" dirty="0"/>
          </a:p>
        </p:txBody>
      </p:sp>
      <p:pic>
        <p:nvPicPr>
          <p:cNvPr id="36866" name="Picture 2" descr="http://oybay.files.wordpress.com/2007/08/tefillin.jpg"/>
          <p:cNvPicPr>
            <a:picLocks noChangeAspect="1" noChangeArrowheads="1"/>
          </p:cNvPicPr>
          <p:nvPr/>
        </p:nvPicPr>
        <p:blipFill>
          <a:blip r:embed="rId4" cstate="print"/>
          <a:srcRect/>
          <a:stretch>
            <a:fillRect/>
          </a:stretch>
        </p:blipFill>
        <p:spPr bwMode="auto">
          <a:xfrm>
            <a:off x="2971800" y="2971800"/>
            <a:ext cx="3279913" cy="2514600"/>
          </a:xfrm>
          <a:prstGeom prst="rect">
            <a:avLst/>
          </a:prstGeom>
          <a:noFill/>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1266" name="Picture 2" descr="Antique Scroll"/>
          <p:cNvPicPr>
            <a:picLocks noChangeAspect="1" noChangeArrowheads="1"/>
          </p:cNvPicPr>
          <p:nvPr/>
        </p:nvPicPr>
        <p:blipFill>
          <a:blip r:embed="rId2" cstate="print"/>
          <a:srcRect/>
          <a:stretch>
            <a:fillRect/>
          </a:stretch>
        </p:blipFill>
        <p:spPr bwMode="auto">
          <a:xfrm>
            <a:off x="0" y="0"/>
            <a:ext cx="9283700" cy="6962776"/>
          </a:xfrm>
          <a:prstGeom prst="rect">
            <a:avLst/>
          </a:prstGeom>
          <a:noFill/>
        </p:spPr>
      </p:pic>
      <p:sp>
        <p:nvSpPr>
          <p:cNvPr id="5" name="TextBox 4"/>
          <p:cNvSpPr txBox="1"/>
          <p:nvPr/>
        </p:nvSpPr>
        <p:spPr>
          <a:xfrm>
            <a:off x="1371600" y="914400"/>
            <a:ext cx="6248400" cy="851297"/>
          </a:xfrm>
          <a:prstGeom prst="flowChartAlternateProcess">
            <a:avLst/>
          </a:prstGeom>
          <a:solidFill>
            <a:schemeClr val="bg1">
              <a:lumMod val="95000"/>
            </a:schemeClr>
          </a:solidFill>
        </p:spPr>
        <p:txBody>
          <a:bodyPr wrap="square" rtlCol="0">
            <a:spAutoFit/>
          </a:bodyPr>
          <a:lstStyle/>
          <a:p>
            <a:pPr algn="ctr"/>
            <a:r>
              <a:rPr lang="en-US" sz="4400" b="1" dirty="0" smtClean="0"/>
              <a:t>Torah Two: </a:t>
            </a:r>
            <a:r>
              <a:rPr lang="en-US" sz="4400" b="1" dirty="0" err="1" smtClean="0"/>
              <a:t>Mishna</a:t>
            </a:r>
            <a:endParaRPr lang="en-US" sz="4400" b="1" dirty="0"/>
          </a:p>
        </p:txBody>
      </p:sp>
      <p:sp>
        <p:nvSpPr>
          <p:cNvPr id="12" name="TextBox 11"/>
          <p:cNvSpPr txBox="1"/>
          <p:nvPr/>
        </p:nvSpPr>
        <p:spPr>
          <a:xfrm>
            <a:off x="609600" y="2133601"/>
            <a:ext cx="8229600" cy="4188381"/>
          </a:xfrm>
          <a:prstGeom prst="flowChartAlternateProcess">
            <a:avLst/>
          </a:prstGeom>
          <a:solidFill>
            <a:schemeClr val="bg1">
              <a:lumMod val="95000"/>
            </a:schemeClr>
          </a:solidFill>
        </p:spPr>
        <p:txBody>
          <a:bodyPr wrap="square" rtlCol="0">
            <a:spAutoFit/>
          </a:bodyPr>
          <a:lstStyle/>
          <a:p>
            <a:pPr>
              <a:buFont typeface="Arial" pitchFamily="34" charset="0"/>
              <a:buChar char="•"/>
            </a:pPr>
            <a:r>
              <a:rPr lang="en-US" sz="2400" dirty="0" smtClean="0"/>
              <a:t> </a:t>
            </a:r>
            <a:r>
              <a:rPr lang="en-US" sz="2400" b="1" dirty="0" smtClean="0"/>
              <a:t>Rabbi </a:t>
            </a:r>
            <a:r>
              <a:rPr lang="en-US" sz="2400" b="1" dirty="0" err="1" smtClean="0"/>
              <a:t>Yehudah</a:t>
            </a:r>
            <a:r>
              <a:rPr lang="en-US" sz="2400" b="1" dirty="0" smtClean="0"/>
              <a:t> </a:t>
            </a:r>
            <a:r>
              <a:rPr lang="en-US" sz="2400" b="1" dirty="0" err="1" smtClean="0"/>
              <a:t>Hanasi</a:t>
            </a:r>
            <a:r>
              <a:rPr lang="en-US" sz="2400" b="1" dirty="0" smtClean="0"/>
              <a:t> </a:t>
            </a:r>
            <a:r>
              <a:rPr lang="en-US" sz="2400" dirty="0" smtClean="0"/>
              <a:t>compiled the </a:t>
            </a:r>
            <a:r>
              <a:rPr lang="en-US" sz="2400" dirty="0" err="1" smtClean="0">
                <a:hlinkClick r:id="rId3"/>
              </a:rPr>
              <a:t>Mishna</a:t>
            </a:r>
            <a:r>
              <a:rPr lang="en-US" sz="2400" dirty="0" smtClean="0"/>
              <a:t>, 1700+ years ago (3948).</a:t>
            </a:r>
          </a:p>
          <a:p>
            <a:pPr>
              <a:buFont typeface="Arial" pitchFamily="34" charset="0"/>
              <a:buChar char="•"/>
            </a:pPr>
            <a:r>
              <a:rPr lang="pt-BR" sz="2400" b="1" dirty="0" smtClean="0"/>
              <a:t>Rav</a:t>
            </a:r>
            <a:r>
              <a:rPr lang="pt-BR" sz="2400" dirty="0" smtClean="0"/>
              <a:t> redigiu a Sifra e o Sifri, que são comentários sobre três dos livros da Torá Escrita: Levítico, Números e Deuteronômio. </a:t>
            </a:r>
          </a:p>
          <a:p>
            <a:pPr>
              <a:buFont typeface="Arial" pitchFamily="34" charset="0"/>
              <a:buChar char="•"/>
            </a:pPr>
            <a:r>
              <a:rPr lang="pt-BR" sz="2400" dirty="0" smtClean="0"/>
              <a:t>O </a:t>
            </a:r>
            <a:r>
              <a:rPr lang="pt-BR" sz="2400" b="1" dirty="0" smtClean="0"/>
              <a:t>Rabi Chiya </a:t>
            </a:r>
            <a:r>
              <a:rPr lang="pt-BR" sz="2400" dirty="0" smtClean="0"/>
              <a:t>escreveu a obra Tosefta que elucida alguns dos conceitos da Mishná. </a:t>
            </a:r>
          </a:p>
          <a:p>
            <a:pPr>
              <a:buFont typeface="Arial" pitchFamily="34" charset="0"/>
              <a:buChar char="•"/>
            </a:pPr>
            <a:r>
              <a:rPr lang="pt-BR" sz="2400" dirty="0" smtClean="0"/>
              <a:t>O </a:t>
            </a:r>
            <a:r>
              <a:rPr lang="pt-BR" sz="2400" b="1" dirty="0" smtClean="0"/>
              <a:t>Rabi Hoshia e Bar Kapara </a:t>
            </a:r>
            <a:r>
              <a:rPr lang="pt-BR" sz="2400" dirty="0" smtClean="0"/>
              <a:t>escreveram Beraitot para explicar as palavras da Mishná. </a:t>
            </a:r>
          </a:p>
          <a:p>
            <a:pPr>
              <a:buFont typeface="Arial" pitchFamily="34" charset="0"/>
              <a:buChar char="•"/>
            </a:pPr>
            <a:r>
              <a:rPr lang="pt-BR" sz="2400" b="1" dirty="0" smtClean="0"/>
              <a:t>Rabi Yochanan </a:t>
            </a:r>
            <a:r>
              <a:rPr lang="pt-BR" sz="2400" dirty="0" smtClean="0"/>
              <a:t>redigiu o Talmud de Jerusalém, ou Talmud Yerushalmi.</a:t>
            </a:r>
            <a:endParaRPr lang="en-US" sz="2400" dirty="0" smtClean="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1266" name="Picture 2" descr="Antique Scroll"/>
          <p:cNvPicPr>
            <a:picLocks noChangeAspect="1" noChangeArrowheads="1"/>
          </p:cNvPicPr>
          <p:nvPr/>
        </p:nvPicPr>
        <p:blipFill>
          <a:blip r:embed="rId2" cstate="print"/>
          <a:srcRect/>
          <a:stretch>
            <a:fillRect/>
          </a:stretch>
        </p:blipFill>
        <p:spPr bwMode="auto">
          <a:xfrm>
            <a:off x="0" y="0"/>
            <a:ext cx="9283700" cy="6962776"/>
          </a:xfrm>
          <a:prstGeom prst="rect">
            <a:avLst/>
          </a:prstGeom>
          <a:noFill/>
        </p:spPr>
      </p:pic>
      <p:sp>
        <p:nvSpPr>
          <p:cNvPr id="5" name="TextBox 4"/>
          <p:cNvSpPr txBox="1"/>
          <p:nvPr/>
        </p:nvSpPr>
        <p:spPr>
          <a:xfrm>
            <a:off x="1371600" y="914400"/>
            <a:ext cx="6248400" cy="851297"/>
          </a:xfrm>
          <a:prstGeom prst="flowChartAlternateProcess">
            <a:avLst/>
          </a:prstGeom>
          <a:solidFill>
            <a:schemeClr val="bg1">
              <a:lumMod val="95000"/>
            </a:schemeClr>
          </a:solidFill>
        </p:spPr>
        <p:txBody>
          <a:bodyPr wrap="square" rtlCol="0">
            <a:spAutoFit/>
          </a:bodyPr>
          <a:lstStyle/>
          <a:p>
            <a:pPr algn="ctr"/>
            <a:r>
              <a:rPr lang="en-US" sz="4400" b="1" dirty="0" smtClean="0"/>
              <a:t>Oral Torah: Talmud</a:t>
            </a:r>
            <a:endParaRPr lang="en-US" sz="4400" b="1" dirty="0"/>
          </a:p>
        </p:txBody>
      </p:sp>
      <p:sp>
        <p:nvSpPr>
          <p:cNvPr id="12" name="TextBox 11"/>
          <p:cNvSpPr txBox="1"/>
          <p:nvPr/>
        </p:nvSpPr>
        <p:spPr>
          <a:xfrm>
            <a:off x="5562600" y="1905000"/>
            <a:ext cx="3581400" cy="4476452"/>
          </a:xfrm>
          <a:prstGeom prst="flowChartAlternateProcess">
            <a:avLst/>
          </a:prstGeom>
          <a:solidFill>
            <a:schemeClr val="bg1">
              <a:lumMod val="95000"/>
            </a:schemeClr>
          </a:solidFill>
        </p:spPr>
        <p:txBody>
          <a:bodyPr wrap="square" rtlCol="0">
            <a:spAutoFit/>
          </a:bodyPr>
          <a:lstStyle/>
          <a:p>
            <a:r>
              <a:rPr lang="pt-BR" sz="2200" b="1" dirty="0" smtClean="0"/>
              <a:t>A Guemará foi transmitida oralmente e preservada durante cerca de 300 anos após ter sido escrita a Mishná. Quando surgiu claramente o perigo de que a Guemará fosse esquecida, os dois maiores eruditos da época sobre Torá – Ravina e Rav Ashi – redigiram a Guemará por escrito.</a:t>
            </a:r>
          </a:p>
        </p:txBody>
      </p:sp>
      <p:sp>
        <p:nvSpPr>
          <p:cNvPr id="9" name="TextBox 8"/>
          <p:cNvSpPr txBox="1"/>
          <p:nvPr/>
        </p:nvSpPr>
        <p:spPr>
          <a:xfrm>
            <a:off x="381000" y="2133600"/>
            <a:ext cx="2819400" cy="3071634"/>
          </a:xfrm>
          <a:prstGeom prst="flowChartAlternateProcess">
            <a:avLst/>
          </a:prstGeom>
          <a:solidFill>
            <a:schemeClr val="bg1">
              <a:lumMod val="95000"/>
            </a:schemeClr>
          </a:solidFill>
        </p:spPr>
        <p:txBody>
          <a:bodyPr wrap="square" rtlCol="0">
            <a:spAutoFit/>
          </a:bodyPr>
          <a:lstStyle/>
          <a:p>
            <a:pPr>
              <a:buFont typeface="Wingdings" pitchFamily="2" charset="2"/>
              <a:buChar char="§"/>
            </a:pPr>
            <a:r>
              <a:rPr lang="pt-BR" sz="2200" b="1" dirty="0" smtClean="0"/>
              <a:t> Later generations the spiritual level of the people fell, and they needed to understand the Mishna in depth.  These are their discussions.</a:t>
            </a:r>
          </a:p>
        </p:txBody>
      </p:sp>
      <p:pic>
        <p:nvPicPr>
          <p:cNvPr id="7170" name="Picture 2" descr="http://agendaglobal21.files.wordpress.com/2011/06/bush_with_talmud.jpg"/>
          <p:cNvPicPr>
            <a:picLocks noChangeAspect="1" noChangeArrowheads="1"/>
          </p:cNvPicPr>
          <p:nvPr/>
        </p:nvPicPr>
        <p:blipFill>
          <a:blip r:embed="rId3" cstate="print"/>
          <a:srcRect/>
          <a:stretch>
            <a:fillRect/>
          </a:stretch>
        </p:blipFill>
        <p:spPr bwMode="auto">
          <a:xfrm>
            <a:off x="3048000" y="2133600"/>
            <a:ext cx="2676144" cy="3023191"/>
          </a:xfrm>
          <a:prstGeom prst="rect">
            <a:avLst/>
          </a:prstGeom>
          <a:noFill/>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1266" name="Picture 2" descr="Antique Scroll"/>
          <p:cNvPicPr>
            <a:picLocks noChangeAspect="1" noChangeArrowheads="1"/>
          </p:cNvPicPr>
          <p:nvPr/>
        </p:nvPicPr>
        <p:blipFill>
          <a:blip r:embed="rId2" cstate="print"/>
          <a:srcRect/>
          <a:stretch>
            <a:fillRect/>
          </a:stretch>
        </p:blipFill>
        <p:spPr bwMode="auto">
          <a:xfrm>
            <a:off x="0" y="0"/>
            <a:ext cx="9283700" cy="6962776"/>
          </a:xfrm>
          <a:prstGeom prst="rect">
            <a:avLst/>
          </a:prstGeom>
          <a:noFill/>
        </p:spPr>
      </p:pic>
      <p:sp>
        <p:nvSpPr>
          <p:cNvPr id="5" name="TextBox 4"/>
          <p:cNvSpPr txBox="1"/>
          <p:nvPr/>
        </p:nvSpPr>
        <p:spPr>
          <a:xfrm>
            <a:off x="1371600" y="914400"/>
            <a:ext cx="6248400" cy="851297"/>
          </a:xfrm>
          <a:prstGeom prst="flowChartAlternateProcess">
            <a:avLst/>
          </a:prstGeom>
          <a:solidFill>
            <a:schemeClr val="bg1">
              <a:lumMod val="95000"/>
            </a:schemeClr>
          </a:solidFill>
        </p:spPr>
        <p:txBody>
          <a:bodyPr wrap="square" rtlCol="0">
            <a:spAutoFit/>
          </a:bodyPr>
          <a:lstStyle/>
          <a:p>
            <a:pPr algn="ctr"/>
            <a:r>
              <a:rPr lang="en-US" sz="4400" b="1" dirty="0" smtClean="0"/>
              <a:t>Oral Torah: Talmud</a:t>
            </a:r>
            <a:endParaRPr lang="en-US" sz="4400" b="1" dirty="0"/>
          </a:p>
        </p:txBody>
      </p:sp>
      <p:sp>
        <p:nvSpPr>
          <p:cNvPr id="12" name="TextBox 11"/>
          <p:cNvSpPr txBox="1"/>
          <p:nvPr/>
        </p:nvSpPr>
        <p:spPr>
          <a:xfrm>
            <a:off x="533400" y="1905000"/>
            <a:ext cx="8610600" cy="4597003"/>
          </a:xfrm>
          <a:prstGeom prst="flowChartAlternateProcess">
            <a:avLst/>
          </a:prstGeom>
          <a:solidFill>
            <a:schemeClr val="bg1">
              <a:lumMod val="95000"/>
            </a:schemeClr>
          </a:solidFill>
        </p:spPr>
        <p:txBody>
          <a:bodyPr wrap="square" rtlCol="0">
            <a:spAutoFit/>
          </a:bodyPr>
          <a:lstStyle/>
          <a:p>
            <a:r>
              <a:rPr lang="pt-BR" sz="2200" b="1" dirty="0" smtClean="0"/>
              <a:t>A Torá Oral tinha por objetivo cobrir a infinidade de casos que haveriam de surgir com o decorrer do tempo. É impossível que qualquer código de lei cubra,</a:t>
            </a:r>
          </a:p>
          <a:p>
            <a:r>
              <a:rPr lang="pt-BR" sz="2200" b="1" dirty="0" smtClean="0"/>
              <a:t>explicitamente, qualquer caso </a:t>
            </a:r>
          </a:p>
          <a:p>
            <a:r>
              <a:rPr lang="pt-BR" sz="2200" b="1" dirty="0" smtClean="0"/>
              <a:t>ou situação que surja durante os </a:t>
            </a:r>
          </a:p>
          <a:p>
            <a:r>
              <a:rPr lang="pt-BR" sz="2200" b="1" dirty="0" smtClean="0"/>
              <a:t>milênios.</a:t>
            </a:r>
            <a:endParaRPr lang="pt-BR" sz="2200" b="1" dirty="0"/>
          </a:p>
          <a:p>
            <a:endParaRPr lang="pt-BR" sz="2200" b="1" dirty="0" smtClean="0"/>
          </a:p>
          <a:p>
            <a:r>
              <a:rPr lang="pt-BR" sz="2200" b="1" dirty="0" smtClean="0"/>
              <a:t>"Segundo mandado da lei que te</a:t>
            </a:r>
          </a:p>
          <a:p>
            <a:r>
              <a:rPr lang="pt-BR" sz="2200" b="1" dirty="0" smtClean="0"/>
              <a:t>ensinarem e de acordo com o </a:t>
            </a:r>
          </a:p>
          <a:p>
            <a:r>
              <a:rPr lang="pt-BR" sz="2200" b="1" dirty="0" smtClean="0"/>
              <a:t>juízo que te disserem, farás; da </a:t>
            </a:r>
          </a:p>
          <a:p>
            <a:r>
              <a:rPr lang="pt-BR" sz="2200" b="1" dirty="0" smtClean="0"/>
              <a:t>sentença que te anunciarem não</a:t>
            </a:r>
          </a:p>
          <a:p>
            <a:r>
              <a:rPr lang="pt-BR" sz="2200" b="1" dirty="0" smtClean="0"/>
              <a:t>te desviarás nem para a direita nem para a esquerda" (Deut.17:11).</a:t>
            </a:r>
          </a:p>
        </p:txBody>
      </p:sp>
      <p:pic>
        <p:nvPicPr>
          <p:cNvPr id="1026" name="Picture 2" descr="http://www.shaalvim.org/yeshiva/images/various/Ryammer-chavruta.jpg"/>
          <p:cNvPicPr>
            <a:picLocks noChangeAspect="1" noChangeArrowheads="1"/>
          </p:cNvPicPr>
          <p:nvPr/>
        </p:nvPicPr>
        <p:blipFill>
          <a:blip r:embed="rId3" cstate="print"/>
          <a:srcRect/>
          <a:stretch>
            <a:fillRect/>
          </a:stretch>
        </p:blipFill>
        <p:spPr bwMode="auto">
          <a:xfrm>
            <a:off x="5029200" y="2895600"/>
            <a:ext cx="4114800" cy="2895600"/>
          </a:xfrm>
          <a:prstGeom prst="rect">
            <a:avLst/>
          </a:prstGeom>
          <a:noFill/>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1266" name="Picture 2" descr="Antique Scroll"/>
          <p:cNvPicPr>
            <a:picLocks noChangeAspect="1" noChangeArrowheads="1"/>
          </p:cNvPicPr>
          <p:nvPr/>
        </p:nvPicPr>
        <p:blipFill>
          <a:blip r:embed="rId2" cstate="print"/>
          <a:srcRect/>
          <a:stretch>
            <a:fillRect/>
          </a:stretch>
        </p:blipFill>
        <p:spPr bwMode="auto">
          <a:xfrm>
            <a:off x="0" y="0"/>
            <a:ext cx="9283700" cy="6962776"/>
          </a:xfrm>
          <a:prstGeom prst="rect">
            <a:avLst/>
          </a:prstGeom>
          <a:noFill/>
        </p:spPr>
      </p:pic>
      <p:sp>
        <p:nvSpPr>
          <p:cNvPr id="5" name="TextBox 4"/>
          <p:cNvSpPr txBox="1"/>
          <p:nvPr/>
        </p:nvSpPr>
        <p:spPr>
          <a:xfrm>
            <a:off x="1371600" y="914400"/>
            <a:ext cx="6248400" cy="851297"/>
          </a:xfrm>
          <a:prstGeom prst="flowChartAlternateProcess">
            <a:avLst/>
          </a:prstGeom>
          <a:solidFill>
            <a:schemeClr val="bg1">
              <a:lumMod val="95000"/>
            </a:schemeClr>
          </a:solidFill>
        </p:spPr>
        <p:txBody>
          <a:bodyPr wrap="square" rtlCol="0">
            <a:spAutoFit/>
          </a:bodyPr>
          <a:lstStyle/>
          <a:p>
            <a:pPr algn="ctr"/>
            <a:r>
              <a:rPr lang="en-US" sz="4400" b="1" dirty="0" smtClean="0"/>
              <a:t>Oral Torah: </a:t>
            </a:r>
            <a:r>
              <a:rPr lang="en-US" sz="4400" b="1" dirty="0" err="1" smtClean="0"/>
              <a:t>Halacha</a:t>
            </a:r>
            <a:endParaRPr lang="en-US" sz="4400" b="1" dirty="0"/>
          </a:p>
        </p:txBody>
      </p:sp>
      <p:sp>
        <p:nvSpPr>
          <p:cNvPr id="12" name="TextBox 11"/>
          <p:cNvSpPr txBox="1"/>
          <p:nvPr/>
        </p:nvSpPr>
        <p:spPr>
          <a:xfrm>
            <a:off x="990600" y="2133600"/>
            <a:ext cx="7391400" cy="3507343"/>
          </a:xfrm>
          <a:prstGeom prst="flowChartAlternateProcess">
            <a:avLst/>
          </a:prstGeom>
          <a:solidFill>
            <a:schemeClr val="bg1">
              <a:lumMod val="95000"/>
            </a:schemeClr>
          </a:solidFill>
        </p:spPr>
        <p:txBody>
          <a:bodyPr wrap="square" rtlCol="0">
            <a:spAutoFit/>
          </a:bodyPr>
          <a:lstStyle/>
          <a:p>
            <a:r>
              <a:rPr lang="pt-BR" sz="2000" b="1" dirty="0" smtClean="0"/>
              <a:t>A proxima aula</a:t>
            </a:r>
          </a:p>
          <a:p>
            <a:endParaRPr lang="pt-BR" sz="2000" b="1" dirty="0" smtClean="0"/>
          </a:p>
          <a:p>
            <a:r>
              <a:rPr lang="pt-BR" sz="2000" b="1" dirty="0" smtClean="0"/>
              <a:t>Bible Codes</a:t>
            </a:r>
          </a:p>
          <a:p>
            <a:endParaRPr lang="pt-BR" sz="2000" b="1" dirty="0" smtClean="0"/>
          </a:p>
          <a:p>
            <a:r>
              <a:rPr lang="pt-BR" sz="2000" b="1" dirty="0" smtClean="0"/>
              <a:t>Halacha – Created by Man?</a:t>
            </a:r>
            <a:r>
              <a:rPr lang="pt-BR" sz="2000" b="1" dirty="0"/>
              <a:t>  </a:t>
            </a:r>
            <a:endParaRPr lang="pt-BR" sz="2000" b="1" dirty="0" smtClean="0"/>
          </a:p>
          <a:p>
            <a:endParaRPr lang="pt-BR" sz="2000" b="1" dirty="0"/>
          </a:p>
          <a:p>
            <a:endParaRPr lang="pt-BR" sz="2000" b="1" dirty="0" smtClean="0"/>
          </a:p>
          <a:p>
            <a:endParaRPr lang="pt-BR" sz="2000" b="1" dirty="0"/>
          </a:p>
          <a:p>
            <a:endParaRPr lang="en-US" sz="2000" dirty="0" smtClean="0"/>
          </a:p>
          <a:p>
            <a:endParaRPr lang="en-US" sz="2000"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1266" name="Picture 2" descr="Antique Scroll"/>
          <p:cNvPicPr>
            <a:picLocks noChangeAspect="1" noChangeArrowheads="1"/>
          </p:cNvPicPr>
          <p:nvPr/>
        </p:nvPicPr>
        <p:blipFill>
          <a:blip r:embed="rId2" cstate="print"/>
          <a:srcRect/>
          <a:stretch>
            <a:fillRect/>
          </a:stretch>
        </p:blipFill>
        <p:spPr bwMode="auto">
          <a:xfrm>
            <a:off x="0" y="0"/>
            <a:ext cx="9283700" cy="6962776"/>
          </a:xfrm>
          <a:prstGeom prst="rect">
            <a:avLst/>
          </a:prstGeom>
          <a:noFill/>
        </p:spPr>
      </p:pic>
      <p:sp>
        <p:nvSpPr>
          <p:cNvPr id="5" name="TextBox 4"/>
          <p:cNvSpPr txBox="1"/>
          <p:nvPr/>
        </p:nvSpPr>
        <p:spPr>
          <a:xfrm>
            <a:off x="1371600" y="914400"/>
            <a:ext cx="6248400" cy="851297"/>
          </a:xfrm>
          <a:prstGeom prst="flowChartAlternateProcess">
            <a:avLst/>
          </a:prstGeom>
          <a:solidFill>
            <a:schemeClr val="bg1">
              <a:lumMod val="95000"/>
            </a:schemeClr>
          </a:solidFill>
        </p:spPr>
        <p:txBody>
          <a:bodyPr wrap="square" rtlCol="0">
            <a:spAutoFit/>
          </a:bodyPr>
          <a:lstStyle/>
          <a:p>
            <a:pPr algn="ctr"/>
            <a:r>
              <a:rPr lang="en-US" sz="4400" b="1" dirty="0" smtClean="0"/>
              <a:t>Oral Torah: </a:t>
            </a:r>
            <a:r>
              <a:rPr lang="en-US" sz="4400" b="1" dirty="0" err="1" smtClean="0"/>
              <a:t>Halacha</a:t>
            </a:r>
            <a:endParaRPr lang="en-US" sz="4400" b="1" dirty="0"/>
          </a:p>
        </p:txBody>
      </p:sp>
      <p:sp>
        <p:nvSpPr>
          <p:cNvPr id="12" name="TextBox 11"/>
          <p:cNvSpPr txBox="1"/>
          <p:nvPr/>
        </p:nvSpPr>
        <p:spPr>
          <a:xfrm>
            <a:off x="4572000" y="2133600"/>
            <a:ext cx="3886200" cy="3779758"/>
          </a:xfrm>
          <a:prstGeom prst="flowChartAlternateProcess">
            <a:avLst/>
          </a:prstGeom>
          <a:solidFill>
            <a:schemeClr val="bg1">
              <a:lumMod val="95000"/>
            </a:schemeClr>
          </a:solidFill>
        </p:spPr>
        <p:txBody>
          <a:bodyPr wrap="square" rtlCol="0">
            <a:spAutoFit/>
          </a:bodyPr>
          <a:lstStyle/>
          <a:p>
            <a:pPr algn="ctr"/>
            <a:r>
              <a:rPr lang="en-US" sz="2000" b="1" dirty="0" err="1" smtClean="0"/>
              <a:t>Hayom</a:t>
            </a:r>
            <a:r>
              <a:rPr lang="en-US" sz="2000" b="1" dirty="0" smtClean="0"/>
              <a:t> Yom  - 6 Shevat</a:t>
            </a:r>
          </a:p>
          <a:p>
            <a:pPr algn="ctr"/>
            <a:endParaRPr lang="en-US" sz="2000" b="1" dirty="0" smtClean="0"/>
          </a:p>
          <a:p>
            <a:pPr algn="ctr"/>
            <a:r>
              <a:rPr lang="en-US" sz="2200" dirty="0" smtClean="0"/>
              <a:t>My father wrote that he heard in the name of the Alter </a:t>
            </a:r>
            <a:r>
              <a:rPr lang="en-US" sz="2200" dirty="0" err="1" smtClean="0"/>
              <a:t>Rebbe</a:t>
            </a:r>
            <a:r>
              <a:rPr lang="en-US" sz="2200" dirty="0" smtClean="0"/>
              <a:t> that all rabbinic authors until and including the </a:t>
            </a:r>
            <a:r>
              <a:rPr lang="en-US" sz="2200" dirty="0" err="1" smtClean="0"/>
              <a:t>Taz</a:t>
            </a:r>
            <a:r>
              <a:rPr lang="en-US" sz="2200" dirty="0" smtClean="0"/>
              <a:t>  and </a:t>
            </a:r>
            <a:r>
              <a:rPr lang="en-US" sz="2200" dirty="0" err="1" smtClean="0"/>
              <a:t>Shach</a:t>
            </a:r>
            <a:r>
              <a:rPr lang="en-US" sz="2200" dirty="0" smtClean="0"/>
              <a:t>, composed their works with </a:t>
            </a:r>
            <a:r>
              <a:rPr lang="en-US" sz="2200" dirty="0" err="1" smtClean="0"/>
              <a:t>Ruach</a:t>
            </a:r>
            <a:r>
              <a:rPr lang="en-US" sz="2200" dirty="0" smtClean="0"/>
              <a:t> </a:t>
            </a:r>
            <a:r>
              <a:rPr lang="en-US" sz="2200" dirty="0" err="1" smtClean="0"/>
              <a:t>Hakodesh</a:t>
            </a:r>
            <a:r>
              <a:rPr lang="en-US" sz="2200" dirty="0" smtClean="0"/>
              <a:t>, the Divine Spirit.</a:t>
            </a:r>
            <a:r>
              <a:rPr lang="pt-BR" sz="2000" b="1" dirty="0"/>
              <a:t> </a:t>
            </a:r>
            <a:endParaRPr lang="pt-BR" sz="2000" b="1" dirty="0" smtClean="0"/>
          </a:p>
        </p:txBody>
      </p:sp>
      <p:pic>
        <p:nvPicPr>
          <p:cNvPr id="6146" name="Picture 2" descr="http://dafyomireview.com/advisor-images/torah_ruach_hakodesh.jpg"/>
          <p:cNvPicPr>
            <a:picLocks noChangeAspect="1" noChangeArrowheads="1"/>
          </p:cNvPicPr>
          <p:nvPr/>
        </p:nvPicPr>
        <p:blipFill>
          <a:blip r:embed="rId3" cstate="print"/>
          <a:srcRect/>
          <a:stretch>
            <a:fillRect/>
          </a:stretch>
        </p:blipFill>
        <p:spPr bwMode="auto">
          <a:xfrm>
            <a:off x="685800" y="2209800"/>
            <a:ext cx="3771900" cy="3810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1266" name="Picture 2" descr="Antique Scroll"/>
          <p:cNvPicPr>
            <a:picLocks noChangeAspect="1" noChangeArrowheads="1"/>
          </p:cNvPicPr>
          <p:nvPr/>
        </p:nvPicPr>
        <p:blipFill>
          <a:blip r:embed="rId2" cstate="print"/>
          <a:srcRect/>
          <a:stretch>
            <a:fillRect/>
          </a:stretch>
        </p:blipFill>
        <p:spPr bwMode="auto">
          <a:xfrm>
            <a:off x="0" y="0"/>
            <a:ext cx="9283700" cy="6962776"/>
          </a:xfrm>
          <a:prstGeom prst="rect">
            <a:avLst/>
          </a:prstGeom>
          <a:noFill/>
        </p:spPr>
      </p:pic>
      <p:sp>
        <p:nvSpPr>
          <p:cNvPr id="5" name="TextBox 4"/>
          <p:cNvSpPr txBox="1"/>
          <p:nvPr/>
        </p:nvSpPr>
        <p:spPr>
          <a:xfrm>
            <a:off x="1371600" y="914400"/>
            <a:ext cx="6248400" cy="851297"/>
          </a:xfrm>
          <a:prstGeom prst="flowChartAlternateProcess">
            <a:avLst/>
          </a:prstGeom>
          <a:solidFill>
            <a:schemeClr val="bg1">
              <a:lumMod val="95000"/>
            </a:schemeClr>
          </a:solidFill>
        </p:spPr>
        <p:txBody>
          <a:bodyPr wrap="square" rtlCol="0">
            <a:spAutoFit/>
          </a:bodyPr>
          <a:lstStyle/>
          <a:p>
            <a:pPr algn="ctr"/>
            <a:r>
              <a:rPr lang="en-US" sz="4400" b="1" dirty="0" smtClean="0"/>
              <a:t>Oral Torah: </a:t>
            </a:r>
            <a:r>
              <a:rPr lang="en-US" sz="4400" b="1" dirty="0" err="1" smtClean="0"/>
              <a:t>Hoje</a:t>
            </a:r>
            <a:endParaRPr lang="en-US" sz="4400" b="1" dirty="0"/>
          </a:p>
        </p:txBody>
      </p:sp>
      <p:sp>
        <p:nvSpPr>
          <p:cNvPr id="12" name="TextBox 11"/>
          <p:cNvSpPr txBox="1"/>
          <p:nvPr/>
        </p:nvSpPr>
        <p:spPr>
          <a:xfrm>
            <a:off x="990600" y="2133600"/>
            <a:ext cx="7391400" cy="6231493"/>
          </a:xfrm>
          <a:prstGeom prst="flowChartAlternateProcess">
            <a:avLst/>
          </a:prstGeom>
          <a:solidFill>
            <a:schemeClr val="bg1">
              <a:lumMod val="95000"/>
            </a:schemeClr>
          </a:solidFill>
        </p:spPr>
        <p:txBody>
          <a:bodyPr wrap="square" rtlCol="0">
            <a:spAutoFit/>
          </a:bodyPr>
          <a:lstStyle/>
          <a:p>
            <a:pPr>
              <a:buFont typeface="Arial" pitchFamily="34" charset="0"/>
              <a:buChar char="•"/>
            </a:pPr>
            <a:r>
              <a:rPr lang="pt-BR" sz="2000" b="1" dirty="0" smtClean="0"/>
              <a:t>Daily Blessing – G-d has given us his Torah. We can be prophets.</a:t>
            </a:r>
          </a:p>
          <a:p>
            <a:pPr>
              <a:buFont typeface="Arial" pitchFamily="34" charset="0"/>
              <a:buChar char="•"/>
            </a:pPr>
            <a:r>
              <a:rPr lang="pt-BR" sz="2000" b="1" dirty="0"/>
              <a:t>  </a:t>
            </a:r>
            <a:r>
              <a:rPr lang="en-US" sz="2000" dirty="0" smtClean="0"/>
              <a:t>All the prophet does is catch those words of G-d as they are a little less condensed and crystallized, up in a higher world-less static, more signal. And from there those prophets get an idea of what's coming down--before it actually gets here.</a:t>
            </a:r>
          </a:p>
          <a:p>
            <a:pPr>
              <a:buFont typeface="Arial" pitchFamily="34" charset="0"/>
              <a:buChar char="•"/>
            </a:pPr>
            <a:r>
              <a:rPr lang="en-US" sz="2000" dirty="0" smtClean="0"/>
              <a:t>"Every Torah teaching that any </a:t>
            </a:r>
            <a:r>
              <a:rPr lang="en-US" sz="2000" b="1" dirty="0" smtClean="0"/>
              <a:t>conscientious Torah student </a:t>
            </a:r>
            <a:r>
              <a:rPr lang="en-US" sz="2000" dirty="0" smtClean="0"/>
              <a:t>is destined to extrapolate was already taught to Moses at Mount Sinai" (</a:t>
            </a:r>
            <a:r>
              <a:rPr lang="en-US" sz="2000" dirty="0" err="1" smtClean="0"/>
              <a:t>Midrash</a:t>
            </a:r>
            <a:r>
              <a:rPr lang="en-US" sz="2000" dirty="0" smtClean="0"/>
              <a:t> </a:t>
            </a:r>
            <a:r>
              <a:rPr lang="en-US" sz="2000" dirty="0" err="1" smtClean="0"/>
              <a:t>Rabbah</a:t>
            </a:r>
            <a:r>
              <a:rPr lang="en-US" sz="2000" dirty="0" smtClean="0"/>
              <a:t>: Leviticus 22:1; ibid. Eccl. 1:2 and 5:2).</a:t>
            </a:r>
          </a:p>
          <a:p>
            <a:pPr>
              <a:buFont typeface="Arial" pitchFamily="34" charset="0"/>
              <a:buChar char="•"/>
            </a:pPr>
            <a:r>
              <a:rPr lang="en-US" sz="2000" b="1" dirty="0" smtClean="0"/>
              <a:t>Story of “</a:t>
            </a:r>
            <a:r>
              <a:rPr lang="en-US" sz="2000" b="1" dirty="0" err="1" smtClean="0"/>
              <a:t>Tatteh</a:t>
            </a:r>
            <a:r>
              <a:rPr lang="en-US" sz="2000" b="1" dirty="0" smtClean="0"/>
              <a:t> </a:t>
            </a:r>
            <a:r>
              <a:rPr lang="en-US" sz="2000" b="1" dirty="0" err="1" smtClean="0"/>
              <a:t>Shik</a:t>
            </a:r>
            <a:r>
              <a:rPr lang="en-US" sz="2000" b="1" dirty="0" smtClean="0"/>
              <a:t> </a:t>
            </a:r>
            <a:r>
              <a:rPr lang="en-US" sz="2000" b="1" dirty="0" err="1" smtClean="0"/>
              <a:t>Gelt</a:t>
            </a:r>
            <a:r>
              <a:rPr lang="en-US" sz="2000" b="1" dirty="0" smtClean="0"/>
              <a:t>”</a:t>
            </a:r>
          </a:p>
          <a:p>
            <a:pPr>
              <a:buFont typeface="Arial" pitchFamily="34" charset="0"/>
              <a:buChar char="•"/>
            </a:pPr>
            <a:r>
              <a:rPr lang="en-US" sz="2000" b="1" dirty="0" smtClean="0"/>
              <a:t> </a:t>
            </a:r>
            <a:r>
              <a:rPr lang="pt-BR" sz="2000" dirty="0" smtClean="0"/>
              <a:t>Nenhum sábio ou profeta, muito menos um auto-proclamado Messias, pode modificar ou anular nem a Torá Escrita nem a Oral. </a:t>
            </a:r>
            <a:endParaRPr lang="pt-BR" sz="2000" b="1" dirty="0" smtClean="0"/>
          </a:p>
          <a:p>
            <a:endParaRPr lang="pt-BR" sz="2000" b="1" dirty="0"/>
          </a:p>
          <a:p>
            <a:endParaRPr lang="pt-BR" sz="2000" b="1" dirty="0" smtClean="0"/>
          </a:p>
          <a:p>
            <a:endParaRPr lang="pt-BR" sz="2000" b="1" dirty="0"/>
          </a:p>
          <a:p>
            <a:endParaRPr lang="en-US" sz="2000" dirty="0" smtClean="0"/>
          </a:p>
          <a:p>
            <a:endParaRPr lang="en-US" sz="20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450</TotalTime>
  <Words>1010</Words>
  <Application>Microsoft Office PowerPoint</Application>
  <PresentationFormat>On-screen Show (4:3)</PresentationFormat>
  <Paragraphs>151</Paragraphs>
  <Slides>21</Slides>
  <Notes>1</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Beit Chabad Manaus</dc:creator>
  <cp:lastModifiedBy>Beit Chabad Manaus</cp:lastModifiedBy>
  <cp:revision>43</cp:revision>
  <dcterms:created xsi:type="dcterms:W3CDTF">2012-02-28T02:51:05Z</dcterms:created>
  <dcterms:modified xsi:type="dcterms:W3CDTF">2012-02-29T20:11:18Z</dcterms:modified>
</cp:coreProperties>
</file>